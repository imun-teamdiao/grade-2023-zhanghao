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2.svg" ContentType="image/svg+xml"/>
  <Override PartName="/ppt/media/image4.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6"/>
  </p:handoutMasterIdLst>
  <p:sldIdLst>
    <p:sldId id="256" r:id="rId3"/>
    <p:sldId id="259" r:id="rId5"/>
    <p:sldId id="284" r:id="rId6"/>
    <p:sldId id="260" r:id="rId7"/>
    <p:sldId id="274" r:id="rId8"/>
    <p:sldId id="273" r:id="rId9"/>
    <p:sldId id="285" r:id="rId10"/>
    <p:sldId id="291" r:id="rId11"/>
    <p:sldId id="289" r:id="rId12"/>
    <p:sldId id="265" r:id="rId13"/>
    <p:sldId id="304" r:id="rId14"/>
    <p:sldId id="308" r:id="rId15"/>
    <p:sldId id="310" r:id="rId16"/>
    <p:sldId id="311" r:id="rId17"/>
    <p:sldId id="312" r:id="rId18"/>
    <p:sldId id="286" r:id="rId19"/>
    <p:sldId id="269" r:id="rId20"/>
    <p:sldId id="314" r:id="rId21"/>
    <p:sldId id="313" r:id="rId22"/>
    <p:sldId id="315" r:id="rId23"/>
    <p:sldId id="277" r:id="rId24"/>
    <p:sldId id="288" r:id="rId25"/>
  </p:sldIdLst>
  <p:sldSz cx="12192000" cy="6858000"/>
  <p:notesSz cx="6858000" cy="9144000"/>
  <p:embeddedFontLst>
    <p:embeddedFont>
      <p:font typeface="汉仪旗黑-55简" panose="00020600040101010101" charset="-128"/>
      <p:regular r:id="rId30"/>
    </p:embeddedFont>
    <p:embeddedFont>
      <p:font typeface="微软雅黑" panose="020B0503020204020204" charset="-122"/>
      <p:regular r:id="rId31"/>
    </p:embeddedFont>
  </p:embeddedFontLst>
  <p:custDataLst>
    <p:tags r:id="rId32"/>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6" userDrawn="1">
          <p15:clr>
            <a:srgbClr val="A4A3A4"/>
          </p15:clr>
        </p15:guide>
        <p15:guide id="2" orient="horz" pos="2147" userDrawn="1">
          <p15:clr>
            <a:srgbClr val="A4A3A4"/>
          </p15:clr>
        </p15:guide>
        <p15:guide id="3" pos="41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9BB6"/>
    <a:srgbClr val="788BAB"/>
    <a:srgbClr val="ACAECF"/>
    <a:srgbClr val="5E7397"/>
    <a:srgbClr val="92ACC3"/>
    <a:srgbClr val="FCB1A3"/>
    <a:srgbClr val="ED948B"/>
    <a:srgbClr val="5B657A"/>
    <a:srgbClr val="EB978A"/>
    <a:srgbClr val="2F4F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96" autoAdjust="0"/>
  </p:normalViewPr>
  <p:slideViewPr>
    <p:cSldViewPr snapToGrid="0" showGuides="1">
      <p:cViewPr>
        <p:scale>
          <a:sx n="80" d="100"/>
          <a:sy n="80" d="100"/>
        </p:scale>
        <p:origin x="1824" y="1230"/>
      </p:cViewPr>
      <p:guideLst>
        <p:guide orient="horz" pos="2846"/>
        <p:guide orient="horz" pos="2147"/>
        <p:guide pos="4156"/>
      </p:guideLst>
    </p:cSldViewPr>
  </p:slideViewPr>
  <p:notesTextViewPr>
    <p:cViewPr>
      <p:scale>
        <a:sx n="1" d="1"/>
        <a:sy n="1" d="1"/>
      </p:scale>
      <p:origin x="0" y="0"/>
    </p:cViewPr>
  </p:notesTextViewPr>
  <p:notesViewPr>
    <p:cSldViewPr snapToGrid="0">
      <p:cViewPr varScale="1">
        <p:scale>
          <a:sx n="84" d="100"/>
          <a:sy n="84" d="100"/>
        </p:scale>
        <p:origin x="-3888" y="-72"/>
      </p:cViewPr>
      <p:guideLst>
        <p:guide orient="horz" pos="2862"/>
        <p:guide pos="2273"/>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114.xml"/><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旗黑-55简" panose="00020600040101010101" charset="-128"/>
              <a:ea typeface="汉仪旗黑-55简" panose="00020600040101010101" charset="-128"/>
              <a:cs typeface="汉仪旗黑-55简" panose="00020600040101010101" charset="-128"/>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汉仪旗黑-55简" panose="00020600040101010101" charset="-128"/>
              </a:rPr>
            </a:fld>
            <a:endParaRPr lang="zh-CN" altLang="en-US">
              <a:cs typeface="汉仪旗黑-55简" panose="00020600040101010101" charset="-128"/>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旗黑-55简" panose="00020600040101010101" charset="-128"/>
              <a:ea typeface="汉仪旗黑-55简" panose="00020600040101010101" charset="-128"/>
              <a:cs typeface="汉仪旗黑-55简" panose="00020600040101010101" charset="-128"/>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汉仪旗黑-55简" panose="00020600040101010101" charset="-128"/>
              </a:rPr>
            </a:fld>
            <a:endParaRPr lang="zh-CN" altLang="en-US">
              <a:cs typeface="汉仪旗黑-55简" panose="00020600040101010101" charset="-128"/>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55简" panose="00020600040101010101" charset="-128"/>
                <a:ea typeface="汉仪旗黑-55简" panose="00020600040101010101" charset="-128"/>
                <a:cs typeface="汉仪旗黑-55简" panose="00020600040101010101" charset="-128"/>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55简" panose="00020600040101010101" charset="-128"/>
                <a:ea typeface="汉仪旗黑-55简" panose="00020600040101010101" charset="-128"/>
                <a:cs typeface="汉仪旗黑-55简" panose="00020600040101010101" charset="-128"/>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55简" panose="00020600040101010101" charset="-128"/>
                <a:ea typeface="汉仪旗黑-55简" panose="00020600040101010101" charset="-128"/>
                <a:cs typeface="汉仪旗黑-55简" panose="00020600040101010101" charset="-128"/>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55简" panose="00020600040101010101" charset="-128"/>
                <a:ea typeface="汉仪旗黑-55简" panose="00020600040101010101" charset="-128"/>
                <a:cs typeface="汉仪旗黑-55简" panose="00020600040101010101" charset="-128"/>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1pPr>
    <a:lvl2pPr marL="3429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2pPr>
    <a:lvl3pPr marL="6858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3pPr>
    <a:lvl4pPr marL="10287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4pPr>
    <a:lvl5pPr marL="1371600" algn="l" defTabSz="685800" rtl="0" eaLnBrk="1" latinLnBrk="0" hangingPunct="1">
      <a:defRPr sz="900" kern="1200">
        <a:solidFill>
          <a:schemeClr val="tx1"/>
        </a:solidFill>
        <a:latin typeface="汉仪旗黑-55简" panose="00020600040101010101" charset="-128"/>
        <a:ea typeface="汉仪旗黑-55简" panose="00020600040101010101" charset="-128"/>
        <a:cs typeface="汉仪旗黑-55简" panose="00020600040101010101" charset="-128"/>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65"/>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65">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3" y="1778439"/>
            <a:ext cx="4873575"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65"/>
            </a:lvl4pPr>
            <a:lvl5pPr marL="1828800" indent="0">
              <a:buNone/>
              <a:defRPr sz="1865"/>
            </a:lvl5pPr>
            <a:lvl6pPr marL="2286000" indent="0">
              <a:buNone/>
              <a:defRPr sz="1865"/>
            </a:lvl6pPr>
            <a:lvl7pPr marL="2743200" indent="0">
              <a:buNone/>
              <a:defRPr sz="1865"/>
            </a:lvl7pPr>
            <a:lvl8pPr marL="3200400" indent="0">
              <a:buNone/>
              <a:defRPr sz="1865"/>
            </a:lvl8pPr>
            <a:lvl9pPr marL="3657600" indent="0">
              <a:buNone/>
              <a:defRPr sz="1865"/>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3" y="2665379"/>
            <a:ext cx="4873575"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9" y="1778439"/>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65"/>
            </a:lvl4pPr>
            <a:lvl5pPr marL="1828800" indent="0">
              <a:buNone/>
              <a:defRPr sz="1865"/>
            </a:lvl5pPr>
            <a:lvl6pPr marL="2286000" indent="0">
              <a:buNone/>
              <a:defRPr sz="1865"/>
            </a:lvl6pPr>
            <a:lvl7pPr marL="2743200" indent="0">
              <a:buNone/>
              <a:defRPr sz="1865"/>
            </a:lvl7pPr>
            <a:lvl8pPr marL="3200400" indent="0">
              <a:buNone/>
              <a:defRPr sz="1865"/>
            </a:lvl8pPr>
            <a:lvl9pPr marL="3657600" indent="0">
              <a:buNone/>
              <a:defRPr sz="1865"/>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9"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65"/>
            </a:lvl2pPr>
            <a:lvl3pPr marL="914400" indent="0">
              <a:buNone/>
              <a:defRPr sz="1600"/>
            </a:lvl3pPr>
            <a:lvl4pPr marL="1371600" indent="0">
              <a:buNone/>
              <a:defRPr sz="1465"/>
            </a:lvl4pPr>
            <a:lvl5pPr marL="1828800" indent="0">
              <a:buNone/>
              <a:defRPr sz="1465"/>
            </a:lvl5pPr>
            <a:lvl6pPr marL="2286000" indent="0">
              <a:buNone/>
              <a:defRPr sz="1465"/>
            </a:lvl6pPr>
            <a:lvl7pPr marL="2743200" indent="0">
              <a:buNone/>
              <a:defRPr sz="1465"/>
            </a:lvl7pPr>
            <a:lvl8pPr marL="3200400" indent="0">
              <a:buNone/>
              <a:defRPr sz="1465"/>
            </a:lvl8pPr>
            <a:lvl9pPr marL="3657600" indent="0">
              <a:buNone/>
              <a:defRPr sz="146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68580" tIns="34290" rIns="68580" bIns="3429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9"/>
          </a:xfrm>
          <a:prstGeom prst="rect">
            <a:avLst/>
          </a:prstGeom>
        </p:spPr>
        <p:txBody>
          <a:bodyPr vert="horz" lIns="68580" tIns="34290" rIns="68580" bIns="3429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1"/>
            <a:ext cx="2743200" cy="365125"/>
          </a:xfrm>
          <a:prstGeom prst="rect">
            <a:avLst/>
          </a:prstGeom>
        </p:spPr>
        <p:txBody>
          <a:bodyPr vert="horz" lIns="68580" tIns="34290" rIns="68580" bIns="34290" rtlCol="0" anchor="ctr"/>
          <a:lstStyle>
            <a:lvl1pPr algn="l">
              <a:defRPr sz="1200">
                <a:solidFill>
                  <a:schemeClr val="tx1">
                    <a:tint val="75000"/>
                  </a:schemeClr>
                </a:solidFill>
                <a:latin typeface="汉仪旗黑-55简" panose="00020600040101010101" charset="-128"/>
                <a:ea typeface="汉仪旗黑-55简" panose="00020600040101010101" charset="-128"/>
                <a:cs typeface="汉仪旗黑-55简" panose="00020600040101010101" charset="-128"/>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68580" tIns="34290" rIns="68580" bIns="34290" rtlCol="0" anchor="ctr"/>
          <a:lstStyle>
            <a:lvl1pPr algn="ctr">
              <a:defRPr sz="1200">
                <a:solidFill>
                  <a:schemeClr val="tx1">
                    <a:tint val="75000"/>
                  </a:schemeClr>
                </a:solidFill>
                <a:latin typeface="汉仪旗黑-55简" panose="00020600040101010101" charset="-128"/>
                <a:ea typeface="汉仪旗黑-55简" panose="00020600040101010101" charset="-128"/>
                <a:cs typeface="汉仪旗黑-55简" panose="00020600040101010101" charset="-128"/>
              </a:defRPr>
            </a:lvl1pPr>
          </a:lstStyle>
          <a:p>
            <a:endParaRPr lang="zh-CN" altLang="en-US"/>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68580" tIns="34290" rIns="68580" bIns="34290" rtlCol="0" anchor="ctr"/>
          <a:lstStyle>
            <a:lvl1pPr algn="r">
              <a:defRPr sz="1200">
                <a:solidFill>
                  <a:schemeClr val="tx1">
                    <a:tint val="75000"/>
                  </a:schemeClr>
                </a:solidFill>
                <a:latin typeface="汉仪旗黑-55简" panose="00020600040101010101" charset="-128"/>
                <a:ea typeface="汉仪旗黑-55简" panose="00020600040101010101" charset="-128"/>
                <a:cs typeface="汉仪旗黑-55简" panose="00020600040101010101" charset="-128"/>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汉仪旗黑-55简" panose="00020600040101010101" charset="-128"/>
          <a:ea typeface="汉仪旗黑-55简" panose="00020600040101010101" charset="-128"/>
          <a:cs typeface="汉仪旗黑-55简" panose="00020600040101010101" charset="-12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汉仪旗黑-55简" panose="00020600040101010101" charset="-128"/>
          <a:ea typeface="汉仪旗黑-55简" panose="00020600040101010101" charset="-128"/>
          <a:cs typeface="汉仪旗黑-55简" panose="00020600040101010101" charset="-12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汉仪旗黑-55简" panose="00020600040101010101" charset="-128"/>
          <a:ea typeface="汉仪旗黑-55简" panose="00020600040101010101" charset="-128"/>
          <a:cs typeface="汉仪旗黑-55简" panose="00020600040101010101" charset="-128"/>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汉仪旗黑-55简" panose="00020600040101010101" charset="-128"/>
          <a:ea typeface="汉仪旗黑-55简" panose="00020600040101010101" charset="-128"/>
          <a:cs typeface="汉仪旗黑-55简" panose="00020600040101010101" charset="-128"/>
        </a:defRPr>
      </a:lvl3pPr>
      <a:lvl4pPr marL="1600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汉仪旗黑-55简" panose="00020600040101010101" charset="-128"/>
          <a:ea typeface="汉仪旗黑-55简" panose="00020600040101010101" charset="-128"/>
          <a:cs typeface="汉仪旗黑-55简" panose="00020600040101010101" charset="-128"/>
        </a:defRPr>
      </a:lvl4pPr>
      <a:lvl5pPr marL="20574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汉仪旗黑-55简" panose="00020600040101010101" charset="-128"/>
          <a:ea typeface="汉仪旗黑-55简" panose="00020600040101010101" charset="-128"/>
          <a:cs typeface="汉仪旗黑-55简" panose="00020600040101010101" charset="-128"/>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zh-CN"/>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svg"/><Relationship Id="rId7" Type="http://schemas.openxmlformats.org/officeDocument/2006/relationships/image" Target="../media/image3.png"/><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2" Type="http://schemas.openxmlformats.org/officeDocument/2006/relationships/notesSlide" Target="../notesSlides/notesSlide5.xml"/><Relationship Id="rId11" Type="http://schemas.openxmlformats.org/officeDocument/2006/relationships/slideLayout" Target="../slideLayouts/slideLayout2.xml"/><Relationship Id="rId10" Type="http://schemas.openxmlformats.org/officeDocument/2006/relationships/image" Target="../media/image6.svg"/><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9" Type="http://schemas.openxmlformats.org/officeDocument/2006/relationships/notesSlide" Target="../notesSlides/notesSlide6.xml"/><Relationship Id="rId18" Type="http://schemas.openxmlformats.org/officeDocument/2006/relationships/slideLayout" Target="../slideLayouts/slideLayout2.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8" Type="http://schemas.openxmlformats.org/officeDocument/2006/relationships/notesSlide" Target="../notesSlides/notesSlide8.xml"/><Relationship Id="rId17" Type="http://schemas.openxmlformats.org/officeDocument/2006/relationships/slideLayout" Target="../slideLayouts/slideLayout2.xml"/><Relationship Id="rId16" Type="http://schemas.openxmlformats.org/officeDocument/2006/relationships/tags" Target="../tags/tag50.xml"/><Relationship Id="rId15" Type="http://schemas.openxmlformats.org/officeDocument/2006/relationships/tags" Target="../tags/tag49.xml"/><Relationship Id="rId14" Type="http://schemas.openxmlformats.org/officeDocument/2006/relationships/tags" Target="../tags/tag48.xml"/><Relationship Id="rId13" Type="http://schemas.openxmlformats.org/officeDocument/2006/relationships/image" Target="../media/image7.jpeg"/><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6.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s>
</file>

<file path=ppt/slides/_rels/slide10.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tags" Target="../tags/tag58.xml"/><Relationship Id="rId3" Type="http://schemas.openxmlformats.org/officeDocument/2006/relationships/image" Target="../media/image9.svg"/><Relationship Id="rId2" Type="http://schemas.openxmlformats.org/officeDocument/2006/relationships/image" Target="../media/image8.png"/><Relationship Id="rId16" Type="http://schemas.openxmlformats.org/officeDocument/2006/relationships/notesSlide" Target="../notesSlides/notesSlide10.xml"/><Relationship Id="rId15" Type="http://schemas.openxmlformats.org/officeDocument/2006/relationships/slideLayout" Target="../slideLayouts/slideLayout2.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7.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6.png"/><Relationship Id="rId7" Type="http://schemas.openxmlformats.org/officeDocument/2006/relationships/tags" Target="../tags/tag69.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tags" Target="../tags/tag68.xml"/><Relationship Id="rId3" Type="http://schemas.openxmlformats.org/officeDocument/2006/relationships/image" Target="../media/image13.svg"/><Relationship Id="rId2" Type="http://schemas.openxmlformats.org/officeDocument/2006/relationships/image" Target="../media/image12.png"/><Relationship Id="rId10" Type="http://schemas.openxmlformats.org/officeDocument/2006/relationships/notesSlide" Target="../notesSlides/notesSlide11.xml"/><Relationship Id="rId1" Type="http://schemas.openxmlformats.org/officeDocument/2006/relationships/tags" Target="../tags/tag67.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13.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tags" Target="../tags/tag77.xml"/><Relationship Id="rId3" Type="http://schemas.openxmlformats.org/officeDocument/2006/relationships/image" Target="../media/image13.svg"/><Relationship Id="rId2" Type="http://schemas.openxmlformats.org/officeDocument/2006/relationships/image" Target="../media/image12.png"/><Relationship Id="rId15" Type="http://schemas.openxmlformats.org/officeDocument/2006/relationships/notesSlide" Target="../notesSlides/notesSlide13.xml"/><Relationship Id="rId14" Type="http://schemas.openxmlformats.org/officeDocument/2006/relationships/slideLayout" Target="../slideLayouts/slideLayout2.xml"/><Relationship Id="rId13" Type="http://schemas.openxmlformats.org/officeDocument/2006/relationships/tags" Target="../tags/tag84.xml"/><Relationship Id="rId12" Type="http://schemas.openxmlformats.org/officeDocument/2006/relationships/tags" Target="../tags/tag83.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6" Type="http://schemas.openxmlformats.org/officeDocument/2006/relationships/notesSlide" Target="../notesSlides/notesSlide21.xml"/><Relationship Id="rId15" Type="http://schemas.openxmlformats.org/officeDocument/2006/relationships/slideLayout" Target="../slideLayouts/slideLayout2.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tags" Target="../tags/tag10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6" name="组合 35"/>
          <p:cNvGrpSpPr/>
          <p:nvPr/>
        </p:nvGrpSpPr>
        <p:grpSpPr>
          <a:xfrm>
            <a:off x="0" y="4085590"/>
            <a:ext cx="12192000" cy="2772410"/>
            <a:chOff x="0" y="5835"/>
            <a:chExt cx="19200" cy="4965"/>
          </a:xfrm>
        </p:grpSpPr>
        <p:sp>
          <p:nvSpPr>
            <p:cNvPr id="4" name="任意多边形 3"/>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1" name="任意多边形 20"/>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28" name="图片 27"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899795"/>
            <a:ext cx="756920" cy="756920"/>
          </a:xfrm>
          <a:prstGeom prst="rect">
            <a:avLst/>
          </a:prstGeom>
        </p:spPr>
      </p:pic>
      <p:sp>
        <p:nvSpPr>
          <p:cNvPr id="29" name="文本框 28"/>
          <p:cNvSpPr txBox="1"/>
          <p:nvPr/>
        </p:nvSpPr>
        <p:spPr>
          <a:xfrm>
            <a:off x="635" y="2148840"/>
            <a:ext cx="12192000" cy="557530"/>
          </a:xfrm>
          <a:prstGeom prst="rect">
            <a:avLst/>
          </a:prstGeom>
          <a:noFill/>
        </p:spPr>
        <p:txBody>
          <a:bodyPr wrap="square" lIns="121884" tIns="60941" rIns="121884" bIns="60941" rtlCol="0">
            <a:noAutofit/>
          </a:bodyPr>
          <a:lstStyle/>
          <a:p>
            <a:pPr algn="ctr"/>
            <a:r>
              <a:rPr lang="zh-CN" altLang="en-US" sz="3200" b="1" dirty="0" smtClean="0">
                <a:solidFill>
                  <a:srgbClr val="5E7397"/>
                </a:solidFill>
                <a:latin typeface="汉仪旗黑-55简" panose="00020600040101010101" charset="-128"/>
                <a:ea typeface="汉仪旗黑-55简" panose="00020600040101010101" charset="-128"/>
                <a:cs typeface="汉仪旗黑-55简" panose="00020600040101010101" charset="-128"/>
              </a:rPr>
              <a:t>面向社交媒体的多语言文本情感分析研究</a:t>
            </a:r>
            <a:endParaRPr lang="zh-CN" altLang="en-US" sz="3200" b="1" dirty="0" smtClean="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50" name="任意多边形 49"/>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56" name="文本框 55"/>
          <p:cNvSpPr txBox="1"/>
          <p:nvPr/>
        </p:nvSpPr>
        <p:spPr>
          <a:xfrm>
            <a:off x="3018155" y="4434205"/>
            <a:ext cx="6155690" cy="368300"/>
          </a:xfrm>
          <a:prstGeom prst="rect">
            <a:avLst/>
          </a:prstGeom>
          <a:noFill/>
        </p:spPr>
        <p:txBody>
          <a:bodyPr wrap="square" rtlCol="0">
            <a:spAutoFit/>
          </a:bodyPr>
          <a:p>
            <a:pPr algn="ctr"/>
            <a:r>
              <a:rPr 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计算机科学与技术学院</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alt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专业：</a:t>
            </a:r>
            <a:r>
              <a:rPr lang="en-US" altLang="zh-CN" sz="1800" dirty="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2023</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电子信息</a:t>
            </a:r>
            <a:endPar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57" name="组合 56"/>
          <p:cNvGrpSpPr/>
          <p:nvPr/>
        </p:nvGrpSpPr>
        <p:grpSpPr>
          <a:xfrm rot="0">
            <a:off x="3815080" y="3989070"/>
            <a:ext cx="4563110" cy="330835"/>
            <a:chOff x="5500" y="7882"/>
            <a:chExt cx="8221" cy="596"/>
          </a:xfrm>
          <a:solidFill>
            <a:srgbClr val="5E7397"/>
          </a:solidFill>
        </p:grpSpPr>
        <p:sp>
          <p:nvSpPr>
            <p:cNvPr id="58" name="矩形 26"/>
            <p:cNvSpPr/>
            <p:nvPr/>
          </p:nvSpPr>
          <p:spPr>
            <a:xfrm>
              <a:off x="5500" y="7882"/>
              <a:ext cx="3870"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答辩人</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张浩</a:t>
              </a:r>
              <a:endPar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59" name="矩形 27"/>
            <p:cNvSpPr/>
            <p:nvPr/>
          </p:nvSpPr>
          <p:spPr>
            <a:xfrm>
              <a:off x="9843" y="7882"/>
              <a:ext cx="3879"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导师</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rPr>
                <a:t>刁宇峰</a:t>
              </a:r>
              <a:endPar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endParaRPr>
            </a:p>
          </p:txBody>
        </p:sp>
      </p:gr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文本框 19"/>
          <p:cNvSpPr txBox="1"/>
          <p:nvPr/>
        </p:nvSpPr>
        <p:spPr>
          <a:xfrm>
            <a:off x="4864418" y="699135"/>
            <a:ext cx="2463165" cy="1198880"/>
          </a:xfrm>
          <a:prstGeom prst="rect">
            <a:avLst/>
          </a:prstGeom>
          <a:noFill/>
        </p:spPr>
        <p:txBody>
          <a:bodyPr wrap="square" rtlCol="0">
            <a:spAutoFit/>
          </a:bodyPr>
          <a:p>
            <a:pPr algn="ctr"/>
            <a:r>
              <a:rPr lang="zh-CN" altLang="en-US" sz="7200" b="1" spc="-225"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目 录</a:t>
            </a:r>
            <a:endParaRPr lang="zh-CN" altLang="en-US" sz="7200" b="1" spc="-225"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1" name="文本框 20"/>
          <p:cNvSpPr txBox="1"/>
          <p:nvPr/>
        </p:nvSpPr>
        <p:spPr>
          <a:xfrm>
            <a:off x="4629785" y="1694815"/>
            <a:ext cx="2932430" cy="583565"/>
          </a:xfrm>
          <a:prstGeom prst="rect">
            <a:avLst/>
          </a:prstGeom>
          <a:noFill/>
        </p:spPr>
        <p:txBody>
          <a:bodyPr vert="horz" wrap="square" rtlCol="0">
            <a:spAutoFit/>
          </a:bodyPr>
          <a:p>
            <a:pPr algn="ctr"/>
            <a:r>
              <a:rPr lang="en-US" altLang="zh-CN" sz="3200" b="1" dirty="0">
                <a:solidFill>
                  <a:srgbClr val="5E7397"/>
                </a:solidFill>
                <a:latin typeface="汉仪旗黑-55简" panose="00020600040101010101" charset="-128"/>
                <a:ea typeface="汉仪旗黑-55简" panose="00020600040101010101" charset="-128"/>
                <a:cs typeface="汉仪旗黑-55简" panose="00020600040101010101" charset="-128"/>
              </a:rPr>
              <a:t>CONTENTS</a:t>
            </a:r>
            <a:endParaRPr lang="en-US" altLang="zh-CN" sz="3200" b="1"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sp>
        <p:nvSpPr>
          <p:cNvPr id="91" name="圆角矩形 90"/>
          <p:cNvSpPr/>
          <p:nvPr/>
        </p:nvSpPr>
        <p:spPr>
          <a:xfrm>
            <a:off x="1866000" y="2346325"/>
            <a:ext cx="846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6" name="组合 35"/>
          <p:cNvGrpSpPr/>
          <p:nvPr/>
        </p:nvGrpSpPr>
        <p:grpSpPr>
          <a:xfrm>
            <a:off x="0" y="4085590"/>
            <a:ext cx="12192000" cy="2772410"/>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6" name="任意多边形 5"/>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15" name="圆角矩形 14"/>
          <p:cNvSpPr/>
          <p:nvPr>
            <p:custDataLst>
              <p:tags r:id="rId1"/>
            </p:custDataLst>
          </p:nvPr>
        </p:nvSpPr>
        <p:spPr>
          <a:xfrm>
            <a:off x="4051300" y="2714625"/>
            <a:ext cx="586740" cy="586740"/>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文本框 18"/>
          <p:cNvSpPr txBox="1"/>
          <p:nvPr>
            <p:custDataLst>
              <p:tags r:id="rId2"/>
            </p:custDataLst>
          </p:nvPr>
        </p:nvSpPr>
        <p:spPr>
          <a:xfrm>
            <a:off x="4792345" y="2731770"/>
            <a:ext cx="3237230" cy="583565"/>
          </a:xfrm>
          <a:prstGeom prst="rect">
            <a:avLst/>
          </a:prstGeom>
          <a:noFill/>
        </p:spPr>
        <p:txBody>
          <a:bodyPr wrap="square" rtlCol="0" anchor="t" anchorCtr="0">
            <a:spAutoFit/>
          </a:bodyPr>
          <a:p>
            <a:pPr algn="ctr">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选题背景</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意义</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sp>
        <p:nvSpPr>
          <p:cNvPr id="24" name="圆角矩形 23"/>
          <p:cNvSpPr/>
          <p:nvPr>
            <p:custDataLst>
              <p:tags r:id="rId3"/>
            </p:custDataLst>
          </p:nvPr>
        </p:nvSpPr>
        <p:spPr>
          <a:xfrm>
            <a:off x="4051300" y="3771900"/>
            <a:ext cx="586740" cy="586740"/>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文本框 24"/>
          <p:cNvSpPr txBox="1"/>
          <p:nvPr>
            <p:custDataLst>
              <p:tags r:id="rId4"/>
            </p:custDataLst>
          </p:nvPr>
        </p:nvSpPr>
        <p:spPr>
          <a:xfrm>
            <a:off x="4792345" y="3789045"/>
            <a:ext cx="3237230" cy="583565"/>
          </a:xfrm>
          <a:prstGeom prst="rect">
            <a:avLst/>
          </a:prstGeom>
          <a:noFill/>
        </p:spPr>
        <p:txBody>
          <a:bodyPr wrap="square" rtlCol="0" anchor="t" anchorCtr="0">
            <a:spAutoFit/>
          </a:bodyPr>
          <a:p>
            <a:pPr algn="ctr">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研究内容及进展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6" name="圆角矩形 25"/>
          <p:cNvSpPr/>
          <p:nvPr>
            <p:custDataLst>
              <p:tags r:id="rId5"/>
            </p:custDataLst>
          </p:nvPr>
        </p:nvSpPr>
        <p:spPr>
          <a:xfrm>
            <a:off x="4044315" y="4759960"/>
            <a:ext cx="586740" cy="586740"/>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26"/>
          <p:cNvSpPr txBox="1"/>
          <p:nvPr>
            <p:custDataLst>
              <p:tags r:id="rId6"/>
            </p:custDataLst>
          </p:nvPr>
        </p:nvSpPr>
        <p:spPr>
          <a:xfrm>
            <a:off x="4785360" y="4777105"/>
            <a:ext cx="3237230" cy="583565"/>
          </a:xfrm>
          <a:prstGeom prst="rect">
            <a:avLst/>
          </a:prstGeom>
          <a:noFill/>
        </p:spPr>
        <p:txBody>
          <a:bodyPr wrap="square" rtlCol="0" anchor="t" anchorCtr="0">
            <a:spAutoFit/>
          </a:bodyPr>
          <a:p>
            <a:pPr algn="ctr">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下一步研究计划</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31" name="圆角矩形 30"/>
          <p:cNvSpPr/>
          <p:nvPr>
            <p:custDataLst>
              <p:tags r:id="rId7"/>
            </p:custDataLst>
          </p:nvPr>
        </p:nvSpPr>
        <p:spPr>
          <a:xfrm>
            <a:off x="4714875" y="2714625"/>
            <a:ext cx="3458845" cy="586740"/>
          </a:xfrm>
          <a:prstGeom prst="roundRect">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圆角矩形 31"/>
          <p:cNvSpPr/>
          <p:nvPr>
            <p:custDataLst>
              <p:tags r:id="rId8"/>
            </p:custDataLst>
          </p:nvPr>
        </p:nvSpPr>
        <p:spPr>
          <a:xfrm>
            <a:off x="4714875" y="3771900"/>
            <a:ext cx="3458845" cy="586740"/>
          </a:xfrm>
          <a:prstGeom prst="roundRect">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 name="圆角矩形 32"/>
          <p:cNvSpPr/>
          <p:nvPr>
            <p:custDataLst>
              <p:tags r:id="rId9"/>
            </p:custDataLst>
          </p:nvPr>
        </p:nvSpPr>
        <p:spPr>
          <a:xfrm>
            <a:off x="4707890" y="4759960"/>
            <a:ext cx="3458845" cy="586740"/>
          </a:xfrm>
          <a:prstGeom prst="roundRect">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custDataLst>
              <p:tags r:id="rId10"/>
            </p:custDataLst>
          </p:nvPr>
        </p:nvSpPr>
        <p:spPr>
          <a:xfrm>
            <a:off x="3980180" y="2720340"/>
            <a:ext cx="727710" cy="575310"/>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01</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37" name="文本框 36"/>
          <p:cNvSpPr txBox="1"/>
          <p:nvPr>
            <p:custDataLst>
              <p:tags r:id="rId11"/>
            </p:custDataLst>
          </p:nvPr>
        </p:nvSpPr>
        <p:spPr>
          <a:xfrm>
            <a:off x="3980180" y="3777615"/>
            <a:ext cx="727710" cy="575310"/>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02</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39" name="文本框 38"/>
          <p:cNvSpPr txBox="1"/>
          <p:nvPr>
            <p:custDataLst>
              <p:tags r:id="rId12"/>
            </p:custDataLst>
          </p:nvPr>
        </p:nvSpPr>
        <p:spPr>
          <a:xfrm>
            <a:off x="3973195" y="4765675"/>
            <a:ext cx="727710" cy="575310"/>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03</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11"/>
          <p:cNvSpPr txBox="1"/>
          <p:nvPr/>
        </p:nvSpPr>
        <p:spPr>
          <a:xfrm>
            <a:off x="3928269" y="1815928"/>
            <a:ext cx="4335463" cy="1076325"/>
          </a:xfrm>
          <a:prstGeom prst="rect">
            <a:avLst/>
          </a:prstGeom>
          <a:noFill/>
        </p:spPr>
        <p:txBody>
          <a:bodyPr wrap="square" lIns="91440" tIns="45720" rIns="91440" bIns="45720" rtlCol="0">
            <a:spAutoFit/>
          </a:bodyPr>
          <a:lstStyle/>
          <a:p>
            <a:pPr algn="ctr"/>
            <a:r>
              <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PART 01</a:t>
            </a:r>
            <a:endPar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80" name="文本框 79"/>
          <p:cNvSpPr txBox="1"/>
          <p:nvPr/>
        </p:nvSpPr>
        <p:spPr>
          <a:xfrm>
            <a:off x="2437765" y="2739390"/>
            <a:ext cx="7317740" cy="1014730"/>
          </a:xfrm>
          <a:prstGeom prst="rect">
            <a:avLst/>
          </a:prstGeom>
          <a:noFill/>
        </p:spPr>
        <p:txBody>
          <a:bodyPr wrap="square" rtlCol="0">
            <a:spAutoFit/>
          </a:bodyPr>
          <a:p>
            <a:pPr algn="ctr">
              <a:lnSpc>
                <a:spcPct val="100000"/>
              </a:lnSpc>
            </a:pP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rPr>
              <a:t>选题背景</a:t>
            </a: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与</a:t>
            </a: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rPr>
              <a:t>意义</a:t>
            </a:r>
            <a:endPar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36" name="组合 35"/>
          <p:cNvGrpSpPr/>
          <p:nvPr/>
        </p:nvGrpSpPr>
        <p:grpSpPr>
          <a:xfrm>
            <a:off x="0" y="4085590"/>
            <a:ext cx="12192000" cy="2772410"/>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任意多边形 1"/>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9" name="图片 8"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1036955"/>
            <a:ext cx="756920" cy="756920"/>
          </a:xfrm>
          <a:prstGeom prst="rect">
            <a:avLst/>
          </a:prstGeom>
        </p:spPr>
      </p:pic>
      <p:sp>
        <p:nvSpPr>
          <p:cNvPr id="12" name="圆角矩形 11"/>
          <p:cNvSpPr/>
          <p:nvPr/>
        </p:nvSpPr>
        <p:spPr>
          <a:xfrm>
            <a:off x="2406000" y="3763645"/>
            <a:ext cx="738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选题背景</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2" name="组合 1"/>
          <p:cNvGrpSpPr/>
          <p:nvPr/>
        </p:nvGrpSpPr>
        <p:grpSpPr>
          <a:xfrm>
            <a:off x="0" y="5999480"/>
            <a:ext cx="12192000" cy="858520"/>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7" name="任意多边形 6"/>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10" name="组合 9"/>
          <p:cNvGrpSpPr/>
          <p:nvPr/>
        </p:nvGrpSpPr>
        <p:grpSpPr>
          <a:xfrm>
            <a:off x="354965" y="450215"/>
            <a:ext cx="549275" cy="354330"/>
            <a:chOff x="559" y="541"/>
            <a:chExt cx="899" cy="580"/>
          </a:xfrm>
        </p:grpSpPr>
        <p:sp>
          <p:nvSpPr>
            <p:cNvPr id="9" name="椭圆 8"/>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34" name="文本框_1"/>
          <p:cNvSpPr txBox="1"/>
          <p:nvPr/>
        </p:nvSpPr>
        <p:spPr>
          <a:xfrm>
            <a:off x="1632585" y="1289050"/>
            <a:ext cx="10055225" cy="1544955"/>
          </a:xfrm>
          <a:prstGeom prst="rect">
            <a:avLst/>
          </a:prstGeom>
          <a:noFill/>
        </p:spPr>
        <p:txBody>
          <a:bodyPr lIns="91440" tIns="45720" rIns="91440" bIns="45720" anchor="t" anchorCtr="0"/>
          <a:p>
            <a:pPr marL="285750" indent="-285750" algn="just">
              <a:lnSpc>
                <a:spcPct val="150000"/>
              </a:lnSpc>
              <a:spcBef>
                <a:spcPts val="0"/>
              </a:spcBef>
              <a:spcAft>
                <a:spcPts val="0"/>
              </a:spcAft>
              <a:buClr>
                <a:srgbClr val="5E7397"/>
              </a:buClr>
              <a:buFont typeface="Arial" panose="020B0604020202020204" pitchFamily="34" charset="0"/>
              <a:buChar char="•"/>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语言是人类相互理解与情感交流的重要桥梁。蒙古国作为中国拥有最长陆地边界的邻国，其官方语言为新蒙文。同时，在中国境内，蒙古族作为重要的少数民族之一，广泛使用传统蒙文。随着“一带一路”倡议的持续推进，中蒙两国在贸易、投资和人文交流等领域的合作日益深入，对语言交流和情感理解的需求不断提升。在这一背景下，研究中文、传统蒙文及新蒙文的情感表达，能够深化中蒙两国关系，促进双边合作的可持续发展。</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13" name="文本框_1"/>
          <p:cNvSpPr txBox="1"/>
          <p:nvPr/>
        </p:nvSpPr>
        <p:spPr>
          <a:xfrm>
            <a:off x="1631950" y="3510915"/>
            <a:ext cx="9931400" cy="1311275"/>
          </a:xfrm>
          <a:prstGeom prst="rect">
            <a:avLst/>
          </a:prstGeom>
          <a:noFill/>
        </p:spPr>
        <p:txBody>
          <a:bodyPr lIns="91440" tIns="45720" rIns="91440" bIns="45720" anchor="t" anchorCtr="0"/>
          <a:p>
            <a:pPr marL="285750" indent="-285750" algn="just">
              <a:lnSpc>
                <a:spcPct val="150000"/>
              </a:lnSpc>
              <a:spcBef>
                <a:spcPts val="0"/>
              </a:spcBef>
              <a:spcAft>
                <a:spcPts val="0"/>
              </a:spcAft>
              <a:buClr>
                <a:srgbClr val="5E7397"/>
              </a:buClr>
              <a:buSzTx/>
              <a:buFont typeface="Arial" panose="020B0604020202020204" pitchFamily="34" charset="0"/>
              <a:buChar char="•"/>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另一方面，随着互联网的迅猛发展，社交媒体平台如Twitter、Reddit、新浪微博等，已成为用户表达观点、分享情感的重要载体。这些平台承载了海量的多语言文本数据，成为捕捉用户思维、情绪及社交行为属性的关键工具。</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选题背景</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与</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意义</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3" name="组合 2"/>
          <p:cNvGrpSpPr/>
          <p:nvPr/>
        </p:nvGrpSpPr>
        <p:grpSpPr>
          <a:xfrm>
            <a:off x="354965" y="450215"/>
            <a:ext cx="549275" cy="354330"/>
            <a:chOff x="559" y="541"/>
            <a:chExt cx="899" cy="580"/>
          </a:xfrm>
        </p:grpSpPr>
        <p:sp>
          <p:nvSpPr>
            <p:cNvPr id="4" name="椭圆 3"/>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 name="组合 10"/>
          <p:cNvGrpSpPr/>
          <p:nvPr/>
        </p:nvGrpSpPr>
        <p:grpSpPr>
          <a:xfrm>
            <a:off x="0" y="5815965"/>
            <a:ext cx="12192000" cy="1042035"/>
            <a:chOff x="0" y="5835"/>
            <a:chExt cx="19200" cy="4965"/>
          </a:xfrm>
        </p:grpSpPr>
        <p:sp>
          <p:nvSpPr>
            <p:cNvPr id="14" name="任意多边形 13"/>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9" name="任意多边形 18"/>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2" name="圆角矩形 21"/>
          <p:cNvSpPr/>
          <p:nvPr>
            <p:custDataLst>
              <p:tags r:id="rId1"/>
            </p:custDataLst>
          </p:nvPr>
        </p:nvSpPr>
        <p:spPr>
          <a:xfrm>
            <a:off x="1591310" y="1639570"/>
            <a:ext cx="9009380" cy="1828165"/>
          </a:xfrm>
          <a:prstGeom prst="roundRect">
            <a:avLst>
              <a:gd name="adj" fmla="val 12655"/>
            </a:avLst>
          </a:prstGeom>
          <a:noFill/>
          <a:ln>
            <a:solidFill>
              <a:srgbClr val="5E7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圆角矩形 22"/>
          <p:cNvSpPr/>
          <p:nvPr>
            <p:custDataLst>
              <p:tags r:id="rId2"/>
            </p:custDataLst>
          </p:nvPr>
        </p:nvSpPr>
        <p:spPr>
          <a:xfrm>
            <a:off x="1591310" y="1639570"/>
            <a:ext cx="1817370" cy="1828165"/>
          </a:xfrm>
          <a:prstGeom prst="roundRect">
            <a:avLst>
              <a:gd name="adj" fmla="val 12655"/>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圆角矩形 26"/>
          <p:cNvSpPr/>
          <p:nvPr>
            <p:custDataLst>
              <p:tags r:id="rId3"/>
            </p:custDataLst>
          </p:nvPr>
        </p:nvSpPr>
        <p:spPr>
          <a:xfrm>
            <a:off x="1591310" y="3857625"/>
            <a:ext cx="9009380" cy="1828165"/>
          </a:xfrm>
          <a:prstGeom prst="roundRect">
            <a:avLst>
              <a:gd name="adj" fmla="val 12655"/>
            </a:avLst>
          </a:prstGeom>
          <a:noFill/>
          <a:ln>
            <a:solidFill>
              <a:srgbClr val="ACAE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圆角矩形 30"/>
          <p:cNvSpPr/>
          <p:nvPr>
            <p:custDataLst>
              <p:tags r:id="rId4"/>
            </p:custDataLst>
          </p:nvPr>
        </p:nvSpPr>
        <p:spPr>
          <a:xfrm>
            <a:off x="8783320" y="3857625"/>
            <a:ext cx="1817370" cy="1828165"/>
          </a:xfrm>
          <a:prstGeom prst="roundRect">
            <a:avLst>
              <a:gd name="adj" fmla="val 12655"/>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文本框_1"/>
          <p:cNvSpPr txBox="1"/>
          <p:nvPr>
            <p:custDataLst>
              <p:tags r:id="rId5"/>
            </p:custDataLst>
          </p:nvPr>
        </p:nvSpPr>
        <p:spPr>
          <a:xfrm>
            <a:off x="3542665" y="1876425"/>
            <a:ext cx="6696075" cy="1354455"/>
          </a:xfrm>
          <a:prstGeom prst="rect">
            <a:avLst/>
          </a:prstGeom>
          <a:noFill/>
        </p:spPr>
        <p:txBody>
          <a:bodyPr lIns="91440" tIns="45720" rIns="91440" bIns="45720" anchor="t" anchorCtr="0"/>
          <a:p>
            <a:pPr indent="0" algn="just">
              <a:lnSpc>
                <a:spcPct val="150000"/>
              </a:lnSpc>
              <a:spcBef>
                <a:spcPts val="0"/>
              </a:spcBef>
              <a:spcAft>
                <a:spcPts val="0"/>
              </a:spcAft>
              <a:buClr>
                <a:srgbClr val="5E7397"/>
              </a:buClr>
              <a:buFont typeface="Arial" panose="020B0604020202020204" pitchFamily="34" charset="0"/>
              <a:buNone/>
            </a:pP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情感分析作为自然语言处理的核心任务之一，越来越受到学术界和工业界的关注。以社交媒体为载体进行情感分析具有重要意义。它能够辅助政府和机构及时洞察公众对政策或社会事件的态度。然而，目前的大部分研究和应用主要集中于单一语言的语料库，跨语言和多语言情感分析领域仍处于相对初步的发展阶段。</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39" name="文本框_1"/>
          <p:cNvSpPr txBox="1"/>
          <p:nvPr>
            <p:custDataLst>
              <p:tags r:id="rId6"/>
            </p:custDataLst>
          </p:nvPr>
        </p:nvSpPr>
        <p:spPr>
          <a:xfrm>
            <a:off x="1912620" y="3978910"/>
            <a:ext cx="6696075" cy="1354455"/>
          </a:xfrm>
          <a:prstGeom prst="rect">
            <a:avLst/>
          </a:prstGeom>
          <a:noFill/>
        </p:spPr>
        <p:txBody>
          <a:bodyPr lIns="91440" tIns="45720" rIns="91440" bIns="45720" anchor="t" anchorCtr="0"/>
          <a:p>
            <a:pPr algn="just">
              <a:lnSpc>
                <a:spcPct val="150000"/>
              </a:lnSpc>
              <a:spcBef>
                <a:spcPts val="0"/>
              </a:spcBef>
              <a:spcAft>
                <a:spcPts val="0"/>
              </a:spcAft>
              <a:buClr>
                <a:srgbClr val="5E7397"/>
              </a:buClr>
              <a:buSzTx/>
              <a:buFont typeface="Arial" panose="020B0604020202020204" pitchFamily="34" charset="0"/>
              <a:buNone/>
            </a:pP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本课题聚焦于多语言情感分析的关键问题，以社交媒体为主要研究载体，系统分析多语言文本中的情感信息，尤其针对资源匮乏的蒙文进行深入研究。通过挖掘社交媒体中用户对热门事件的情感倾向性与态度，不仅为蒙古族文化的传承与发展提供基础支持，也为中蒙关系的进一步深化及“一带一路”倡议下的多语言合作提供数据支撑和技术保障。</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p:txBody>
      </p:sp>
      <p:pic>
        <p:nvPicPr>
          <p:cNvPr id="54" name="图片 53" descr="templates\docerresourceshop\icons\\32303038313138363b32303039303531393bcbd1cbf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32635" y="2075180"/>
            <a:ext cx="957580" cy="957580"/>
          </a:xfrm>
          <a:prstGeom prst="rect">
            <a:avLst/>
          </a:prstGeom>
        </p:spPr>
      </p:pic>
      <p:pic>
        <p:nvPicPr>
          <p:cNvPr id="55" name="图片 54" descr="templates\docerresourceshop\icons\\32303038313138363b32303039303531383bb1a8d6bd"/>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46870" y="4329430"/>
            <a:ext cx="991870" cy="9918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rPr>
              <a:t>选题意义</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10" name="组合 9"/>
          <p:cNvGrpSpPr/>
          <p:nvPr/>
        </p:nvGrpSpPr>
        <p:grpSpPr>
          <a:xfrm>
            <a:off x="354965" y="450215"/>
            <a:ext cx="549275" cy="354330"/>
            <a:chOff x="559" y="541"/>
            <a:chExt cx="899" cy="580"/>
          </a:xfrm>
        </p:grpSpPr>
        <p:sp>
          <p:nvSpPr>
            <p:cNvPr id="9" name="椭圆 8"/>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 name="组合 1"/>
          <p:cNvGrpSpPr/>
          <p:nvPr/>
        </p:nvGrpSpPr>
        <p:grpSpPr>
          <a:xfrm>
            <a:off x="0" y="5815965"/>
            <a:ext cx="12192000" cy="1042035"/>
            <a:chOff x="0" y="5835"/>
            <a:chExt cx="19200" cy="4965"/>
          </a:xfrm>
        </p:grpSpPr>
        <p:sp>
          <p:nvSpPr>
            <p:cNvPr id="3" name="任意多边形 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7" name="任意多边形 6"/>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3" name="任意多边形 22"/>
          <p:cNvSpPr/>
          <p:nvPr/>
        </p:nvSpPr>
        <p:spPr>
          <a:xfrm rot="10800000">
            <a:off x="4918075" y="1534795"/>
            <a:ext cx="2249805" cy="22479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145" h="3142">
                <a:moveTo>
                  <a:pt x="1667" y="0"/>
                </a:moveTo>
                <a:lnTo>
                  <a:pt x="1693" y="2"/>
                </a:lnTo>
                <a:cubicBezTo>
                  <a:pt x="2505" y="63"/>
                  <a:pt x="3145" y="742"/>
                  <a:pt x="3145" y="1570"/>
                </a:cubicBezTo>
                <a:cubicBezTo>
                  <a:pt x="3145" y="2438"/>
                  <a:pt x="2441" y="3142"/>
                  <a:pt x="1573" y="3142"/>
                </a:cubicBezTo>
                <a:cubicBezTo>
                  <a:pt x="704" y="3142"/>
                  <a:pt x="0" y="2438"/>
                  <a:pt x="0" y="1570"/>
                </a:cubicBezTo>
                <a:cubicBezTo>
                  <a:pt x="0" y="1298"/>
                  <a:pt x="69" y="1043"/>
                  <a:pt x="190" y="820"/>
                </a:cubicBezTo>
                <a:lnTo>
                  <a:pt x="192" y="815"/>
                </a:lnTo>
                <a:lnTo>
                  <a:pt x="206" y="816"/>
                </a:lnTo>
                <a:cubicBezTo>
                  <a:pt x="232" y="817"/>
                  <a:pt x="259" y="818"/>
                  <a:pt x="287" y="818"/>
                </a:cubicBezTo>
                <a:cubicBezTo>
                  <a:pt x="870" y="818"/>
                  <a:pt x="1379" y="500"/>
                  <a:pt x="1651" y="28"/>
                </a:cubicBezTo>
                <a:lnTo>
                  <a:pt x="1667"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7" name="任意多边形 26"/>
          <p:cNvSpPr/>
          <p:nvPr/>
        </p:nvSpPr>
        <p:spPr>
          <a:xfrm rot="10800000">
            <a:off x="6173470" y="3328035"/>
            <a:ext cx="2095500" cy="224917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930" h="3145">
                <a:moveTo>
                  <a:pt x="1573" y="0"/>
                </a:moveTo>
                <a:cubicBezTo>
                  <a:pt x="2129" y="0"/>
                  <a:pt x="2618" y="289"/>
                  <a:pt x="2897" y="725"/>
                </a:cubicBezTo>
                <a:lnTo>
                  <a:pt x="2899" y="728"/>
                </a:lnTo>
                <a:lnTo>
                  <a:pt x="2892" y="740"/>
                </a:lnTo>
                <a:cubicBezTo>
                  <a:pt x="2760" y="970"/>
                  <a:pt x="2684" y="1238"/>
                  <a:pt x="2684" y="1523"/>
                </a:cubicBezTo>
                <a:cubicBezTo>
                  <a:pt x="2684" y="1821"/>
                  <a:pt x="2767" y="2100"/>
                  <a:pt x="2912" y="2338"/>
                </a:cubicBezTo>
                <a:lnTo>
                  <a:pt x="2930" y="2367"/>
                </a:lnTo>
                <a:lnTo>
                  <a:pt x="2917" y="2388"/>
                </a:lnTo>
                <a:cubicBezTo>
                  <a:pt x="2642" y="2842"/>
                  <a:pt x="2142" y="3145"/>
                  <a:pt x="1573" y="3145"/>
                </a:cubicBezTo>
                <a:cubicBezTo>
                  <a:pt x="704" y="3145"/>
                  <a:pt x="0" y="2441"/>
                  <a:pt x="0" y="1573"/>
                </a:cubicBezTo>
                <a:cubicBezTo>
                  <a:pt x="0" y="704"/>
                  <a:pt x="704" y="0"/>
                  <a:pt x="1573" y="0"/>
                </a:cubicBez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9" name="任意多边形 28"/>
          <p:cNvSpPr/>
          <p:nvPr/>
        </p:nvSpPr>
        <p:spPr>
          <a:xfrm rot="10800000">
            <a:off x="3923665" y="3334385"/>
            <a:ext cx="2249805" cy="224853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145" h="3144">
                <a:moveTo>
                  <a:pt x="1573" y="0"/>
                </a:moveTo>
                <a:cubicBezTo>
                  <a:pt x="2441" y="0"/>
                  <a:pt x="3145" y="704"/>
                  <a:pt x="3145" y="1573"/>
                </a:cubicBezTo>
                <a:cubicBezTo>
                  <a:pt x="3145" y="2414"/>
                  <a:pt x="2484" y="3101"/>
                  <a:pt x="1653" y="3143"/>
                </a:cubicBezTo>
                <a:lnTo>
                  <a:pt x="1638" y="3144"/>
                </a:lnTo>
                <a:lnTo>
                  <a:pt x="1637" y="3142"/>
                </a:lnTo>
                <a:cubicBezTo>
                  <a:pt x="1376" y="2633"/>
                  <a:pt x="847" y="2285"/>
                  <a:pt x="237" y="2285"/>
                </a:cubicBezTo>
                <a:cubicBezTo>
                  <a:pt x="223" y="2285"/>
                  <a:pt x="209" y="2285"/>
                  <a:pt x="196" y="2286"/>
                </a:cubicBezTo>
                <a:lnTo>
                  <a:pt x="171" y="2286"/>
                </a:lnTo>
                <a:lnTo>
                  <a:pt x="155" y="2254"/>
                </a:lnTo>
                <a:cubicBezTo>
                  <a:pt x="56" y="2048"/>
                  <a:pt x="0" y="1817"/>
                  <a:pt x="0" y="1573"/>
                </a:cubicBezTo>
                <a:cubicBezTo>
                  <a:pt x="0" y="704"/>
                  <a:pt x="704" y="0"/>
                  <a:pt x="1573" y="0"/>
                </a:cubicBezTo>
                <a:close/>
              </a:path>
            </a:pathLst>
          </a:custGeom>
          <a:solidFill>
            <a:srgbClr val="FCB1A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nvGrpSpPr>
          <p:cNvPr id="44" name="组合 43"/>
          <p:cNvGrpSpPr/>
          <p:nvPr/>
        </p:nvGrpSpPr>
        <p:grpSpPr>
          <a:xfrm>
            <a:off x="5850890" y="2291080"/>
            <a:ext cx="395605" cy="582295"/>
            <a:chOff x="9319" y="3837"/>
            <a:chExt cx="394" cy="643"/>
          </a:xfrm>
        </p:grpSpPr>
        <p:sp>
          <p:nvSpPr>
            <p:cNvPr id="20" name="Freeform 13"/>
            <p:cNvSpPr/>
            <p:nvPr>
              <p:custDataLst>
                <p:tags r:id="rId1"/>
              </p:custDataLst>
            </p:nvPr>
          </p:nvSpPr>
          <p:spPr bwMode="auto">
            <a:xfrm>
              <a:off x="9467" y="4456"/>
              <a:ext cx="102" cy="24"/>
            </a:xfrm>
            <a:custGeom>
              <a:avLst/>
              <a:gdLst>
                <a:gd name="T0" fmla="*/ 33 w 33"/>
                <a:gd name="T1" fmla="*/ 4 h 8"/>
                <a:gd name="T2" fmla="*/ 29 w 33"/>
                <a:gd name="T3" fmla="*/ 8 h 8"/>
                <a:gd name="T4" fmla="*/ 4 w 33"/>
                <a:gd name="T5" fmla="*/ 8 h 8"/>
                <a:gd name="T6" fmla="*/ 0 w 33"/>
                <a:gd name="T7" fmla="*/ 4 h 8"/>
                <a:gd name="T8" fmla="*/ 0 w 33"/>
                <a:gd name="T9" fmla="*/ 4 h 8"/>
                <a:gd name="T10" fmla="*/ 4 w 33"/>
                <a:gd name="T11" fmla="*/ 0 h 8"/>
                <a:gd name="T12" fmla="*/ 29 w 33"/>
                <a:gd name="T13" fmla="*/ 0 h 8"/>
                <a:gd name="T14" fmla="*/ 33 w 33"/>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8">
                  <a:moveTo>
                    <a:pt x="33" y="4"/>
                  </a:moveTo>
                  <a:cubicBezTo>
                    <a:pt x="33" y="6"/>
                    <a:pt x="31" y="8"/>
                    <a:pt x="29" y="8"/>
                  </a:cubicBezTo>
                  <a:cubicBezTo>
                    <a:pt x="4" y="8"/>
                    <a:pt x="4" y="8"/>
                    <a:pt x="4" y="8"/>
                  </a:cubicBezTo>
                  <a:cubicBezTo>
                    <a:pt x="2" y="8"/>
                    <a:pt x="0" y="6"/>
                    <a:pt x="0" y="4"/>
                  </a:cubicBezTo>
                  <a:cubicBezTo>
                    <a:pt x="0" y="4"/>
                    <a:pt x="0" y="4"/>
                    <a:pt x="0" y="4"/>
                  </a:cubicBezTo>
                  <a:cubicBezTo>
                    <a:pt x="0" y="2"/>
                    <a:pt x="2" y="0"/>
                    <a:pt x="4" y="0"/>
                  </a:cubicBezTo>
                  <a:cubicBezTo>
                    <a:pt x="29" y="0"/>
                    <a:pt x="29" y="0"/>
                    <a:pt x="29" y="0"/>
                  </a:cubicBezTo>
                  <a:cubicBezTo>
                    <a:pt x="31" y="0"/>
                    <a:pt x="33" y="2"/>
                    <a:pt x="33" y="4"/>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21" name="Freeform 14"/>
            <p:cNvSpPr/>
            <p:nvPr>
              <p:custDataLst>
                <p:tags r:id="rId2"/>
              </p:custDataLst>
            </p:nvPr>
          </p:nvSpPr>
          <p:spPr bwMode="auto">
            <a:xfrm>
              <a:off x="9443" y="4444"/>
              <a:ext cx="151" cy="24"/>
            </a:xfrm>
            <a:custGeom>
              <a:avLst/>
              <a:gdLst>
                <a:gd name="T0" fmla="*/ 6 w 49"/>
                <a:gd name="T1" fmla="*/ 8 h 8"/>
                <a:gd name="T2" fmla="*/ 43 w 49"/>
                <a:gd name="T3" fmla="*/ 8 h 8"/>
                <a:gd name="T4" fmla="*/ 46 w 49"/>
                <a:gd name="T5" fmla="*/ 5 h 8"/>
                <a:gd name="T6" fmla="*/ 49 w 49"/>
                <a:gd name="T7" fmla="*/ 0 h 8"/>
                <a:gd name="T8" fmla="*/ 0 w 49"/>
                <a:gd name="T9" fmla="*/ 0 h 8"/>
                <a:gd name="T10" fmla="*/ 0 w 49"/>
                <a:gd name="T11" fmla="*/ 1 h 8"/>
                <a:gd name="T12" fmla="*/ 6 w 49"/>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49" h="8">
                  <a:moveTo>
                    <a:pt x="6" y="8"/>
                  </a:moveTo>
                  <a:cubicBezTo>
                    <a:pt x="43" y="8"/>
                    <a:pt x="43" y="8"/>
                    <a:pt x="43" y="8"/>
                  </a:cubicBezTo>
                  <a:cubicBezTo>
                    <a:pt x="43" y="7"/>
                    <a:pt x="44" y="6"/>
                    <a:pt x="46" y="5"/>
                  </a:cubicBezTo>
                  <a:cubicBezTo>
                    <a:pt x="48" y="3"/>
                    <a:pt x="49" y="1"/>
                    <a:pt x="49" y="0"/>
                  </a:cubicBezTo>
                  <a:cubicBezTo>
                    <a:pt x="0" y="0"/>
                    <a:pt x="0" y="0"/>
                    <a:pt x="0" y="0"/>
                  </a:cubicBezTo>
                  <a:cubicBezTo>
                    <a:pt x="0" y="0"/>
                    <a:pt x="0" y="1"/>
                    <a:pt x="0" y="1"/>
                  </a:cubicBezTo>
                  <a:cubicBezTo>
                    <a:pt x="0" y="2"/>
                    <a:pt x="5" y="6"/>
                    <a:pt x="6" y="8"/>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0" name="Freeform 15"/>
            <p:cNvSpPr/>
            <p:nvPr>
              <p:custDataLst>
                <p:tags r:id="rId3"/>
              </p:custDataLst>
            </p:nvPr>
          </p:nvSpPr>
          <p:spPr bwMode="auto">
            <a:xfrm>
              <a:off x="9436" y="4369"/>
              <a:ext cx="164" cy="16"/>
            </a:xfrm>
            <a:custGeom>
              <a:avLst/>
              <a:gdLst>
                <a:gd name="T0" fmla="*/ 53 w 53"/>
                <a:gd name="T1" fmla="*/ 2 h 5"/>
                <a:gd name="T2" fmla="*/ 51 w 53"/>
                <a:gd name="T3" fmla="*/ 5 h 5"/>
                <a:gd name="T4" fmla="*/ 2 w 53"/>
                <a:gd name="T5" fmla="*/ 5 h 5"/>
                <a:gd name="T6" fmla="*/ 0 w 53"/>
                <a:gd name="T7" fmla="*/ 2 h 5"/>
                <a:gd name="T8" fmla="*/ 0 w 53"/>
                <a:gd name="T9" fmla="*/ 2 h 5"/>
                <a:gd name="T10" fmla="*/ 2 w 53"/>
                <a:gd name="T11" fmla="*/ 0 h 5"/>
                <a:gd name="T12" fmla="*/ 51 w 53"/>
                <a:gd name="T13" fmla="*/ 0 h 5"/>
                <a:gd name="T14" fmla="*/ 53 w 5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2"/>
                  </a:moveTo>
                  <a:cubicBezTo>
                    <a:pt x="53" y="4"/>
                    <a:pt x="52" y="5"/>
                    <a:pt x="51" y="5"/>
                  </a:cubicBezTo>
                  <a:cubicBezTo>
                    <a:pt x="2" y="5"/>
                    <a:pt x="2" y="5"/>
                    <a:pt x="2" y="5"/>
                  </a:cubicBezTo>
                  <a:cubicBezTo>
                    <a:pt x="1" y="5"/>
                    <a:pt x="0" y="4"/>
                    <a:pt x="0" y="2"/>
                  </a:cubicBezTo>
                  <a:cubicBezTo>
                    <a:pt x="0" y="2"/>
                    <a:pt x="0" y="2"/>
                    <a:pt x="0" y="2"/>
                  </a:cubicBezTo>
                  <a:cubicBezTo>
                    <a:pt x="0" y="1"/>
                    <a:pt x="1" y="0"/>
                    <a:pt x="2" y="0"/>
                  </a:cubicBezTo>
                  <a:cubicBezTo>
                    <a:pt x="51" y="0"/>
                    <a:pt x="51" y="0"/>
                    <a:pt x="51" y="0"/>
                  </a:cubicBezTo>
                  <a:cubicBezTo>
                    <a:pt x="52" y="0"/>
                    <a:pt x="53" y="1"/>
                    <a:pt x="53" y="2"/>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1" name="Freeform 16"/>
            <p:cNvSpPr/>
            <p:nvPr>
              <p:custDataLst>
                <p:tags r:id="rId4"/>
              </p:custDataLst>
            </p:nvPr>
          </p:nvSpPr>
          <p:spPr bwMode="auto">
            <a:xfrm>
              <a:off x="9436" y="4390"/>
              <a:ext cx="164" cy="16"/>
            </a:xfrm>
            <a:custGeom>
              <a:avLst/>
              <a:gdLst>
                <a:gd name="T0" fmla="*/ 53 w 53"/>
                <a:gd name="T1" fmla="*/ 3 h 5"/>
                <a:gd name="T2" fmla="*/ 51 w 53"/>
                <a:gd name="T3" fmla="*/ 5 h 5"/>
                <a:gd name="T4" fmla="*/ 2 w 53"/>
                <a:gd name="T5" fmla="*/ 5 h 5"/>
                <a:gd name="T6" fmla="*/ 0 w 53"/>
                <a:gd name="T7" fmla="*/ 3 h 5"/>
                <a:gd name="T8" fmla="*/ 0 w 53"/>
                <a:gd name="T9" fmla="*/ 3 h 5"/>
                <a:gd name="T10" fmla="*/ 2 w 53"/>
                <a:gd name="T11" fmla="*/ 0 h 5"/>
                <a:gd name="T12" fmla="*/ 51 w 53"/>
                <a:gd name="T13" fmla="*/ 0 h 5"/>
                <a:gd name="T14" fmla="*/ 53 w 53"/>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3"/>
                  </a:moveTo>
                  <a:cubicBezTo>
                    <a:pt x="53" y="4"/>
                    <a:pt x="52" y="5"/>
                    <a:pt x="51" y="5"/>
                  </a:cubicBezTo>
                  <a:cubicBezTo>
                    <a:pt x="2" y="5"/>
                    <a:pt x="2" y="5"/>
                    <a:pt x="2" y="5"/>
                  </a:cubicBezTo>
                  <a:cubicBezTo>
                    <a:pt x="1" y="5"/>
                    <a:pt x="0" y="4"/>
                    <a:pt x="0" y="3"/>
                  </a:cubicBezTo>
                  <a:cubicBezTo>
                    <a:pt x="0" y="3"/>
                    <a:pt x="0" y="3"/>
                    <a:pt x="0" y="3"/>
                  </a:cubicBezTo>
                  <a:cubicBezTo>
                    <a:pt x="0" y="1"/>
                    <a:pt x="1" y="0"/>
                    <a:pt x="2" y="0"/>
                  </a:cubicBezTo>
                  <a:cubicBezTo>
                    <a:pt x="51" y="0"/>
                    <a:pt x="51" y="0"/>
                    <a:pt x="51" y="0"/>
                  </a:cubicBezTo>
                  <a:cubicBezTo>
                    <a:pt x="52" y="0"/>
                    <a:pt x="53" y="1"/>
                    <a:pt x="53"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4" name="Freeform 17"/>
            <p:cNvSpPr/>
            <p:nvPr>
              <p:custDataLst>
                <p:tags r:id="rId5"/>
              </p:custDataLst>
            </p:nvPr>
          </p:nvSpPr>
          <p:spPr bwMode="auto">
            <a:xfrm>
              <a:off x="9436" y="4417"/>
              <a:ext cx="164" cy="15"/>
            </a:xfrm>
            <a:custGeom>
              <a:avLst/>
              <a:gdLst>
                <a:gd name="T0" fmla="*/ 53 w 53"/>
                <a:gd name="T1" fmla="*/ 2 h 5"/>
                <a:gd name="T2" fmla="*/ 51 w 53"/>
                <a:gd name="T3" fmla="*/ 5 h 5"/>
                <a:gd name="T4" fmla="*/ 2 w 53"/>
                <a:gd name="T5" fmla="*/ 5 h 5"/>
                <a:gd name="T6" fmla="*/ 0 w 53"/>
                <a:gd name="T7" fmla="*/ 2 h 5"/>
                <a:gd name="T8" fmla="*/ 0 w 53"/>
                <a:gd name="T9" fmla="*/ 2 h 5"/>
                <a:gd name="T10" fmla="*/ 2 w 53"/>
                <a:gd name="T11" fmla="*/ 0 h 5"/>
                <a:gd name="T12" fmla="*/ 51 w 53"/>
                <a:gd name="T13" fmla="*/ 0 h 5"/>
                <a:gd name="T14" fmla="*/ 53 w 5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5">
                  <a:moveTo>
                    <a:pt x="53" y="2"/>
                  </a:moveTo>
                  <a:cubicBezTo>
                    <a:pt x="53" y="4"/>
                    <a:pt x="52" y="5"/>
                    <a:pt x="51" y="5"/>
                  </a:cubicBezTo>
                  <a:cubicBezTo>
                    <a:pt x="2" y="5"/>
                    <a:pt x="2" y="5"/>
                    <a:pt x="2" y="5"/>
                  </a:cubicBezTo>
                  <a:cubicBezTo>
                    <a:pt x="1" y="5"/>
                    <a:pt x="0" y="4"/>
                    <a:pt x="0" y="2"/>
                  </a:cubicBezTo>
                  <a:cubicBezTo>
                    <a:pt x="0" y="2"/>
                    <a:pt x="0" y="2"/>
                    <a:pt x="0" y="2"/>
                  </a:cubicBezTo>
                  <a:cubicBezTo>
                    <a:pt x="0" y="1"/>
                    <a:pt x="1" y="0"/>
                    <a:pt x="2" y="0"/>
                  </a:cubicBezTo>
                  <a:cubicBezTo>
                    <a:pt x="51" y="0"/>
                    <a:pt x="51" y="0"/>
                    <a:pt x="51" y="0"/>
                  </a:cubicBezTo>
                  <a:cubicBezTo>
                    <a:pt x="52" y="0"/>
                    <a:pt x="53" y="1"/>
                    <a:pt x="53" y="2"/>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7" name="Freeform 18"/>
            <p:cNvSpPr/>
            <p:nvPr>
              <p:custDataLst>
                <p:tags r:id="rId6"/>
              </p:custDataLst>
            </p:nvPr>
          </p:nvSpPr>
          <p:spPr bwMode="auto">
            <a:xfrm>
              <a:off x="9436" y="4434"/>
              <a:ext cx="164" cy="13"/>
            </a:xfrm>
            <a:custGeom>
              <a:avLst/>
              <a:gdLst>
                <a:gd name="T0" fmla="*/ 53 w 53"/>
                <a:gd name="T1" fmla="*/ 2 h 4"/>
                <a:gd name="T2" fmla="*/ 51 w 53"/>
                <a:gd name="T3" fmla="*/ 4 h 4"/>
                <a:gd name="T4" fmla="*/ 2 w 53"/>
                <a:gd name="T5" fmla="*/ 4 h 4"/>
                <a:gd name="T6" fmla="*/ 0 w 53"/>
                <a:gd name="T7" fmla="*/ 2 h 4"/>
                <a:gd name="T8" fmla="*/ 0 w 53"/>
                <a:gd name="T9" fmla="*/ 2 h 4"/>
                <a:gd name="T10" fmla="*/ 2 w 53"/>
                <a:gd name="T11" fmla="*/ 0 h 4"/>
                <a:gd name="T12" fmla="*/ 51 w 53"/>
                <a:gd name="T13" fmla="*/ 0 h 4"/>
                <a:gd name="T14" fmla="*/ 53 w 53"/>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4">
                  <a:moveTo>
                    <a:pt x="53" y="2"/>
                  </a:moveTo>
                  <a:cubicBezTo>
                    <a:pt x="53" y="3"/>
                    <a:pt x="52" y="4"/>
                    <a:pt x="51" y="4"/>
                  </a:cubicBezTo>
                  <a:cubicBezTo>
                    <a:pt x="2" y="4"/>
                    <a:pt x="2" y="4"/>
                    <a:pt x="2" y="4"/>
                  </a:cubicBezTo>
                  <a:cubicBezTo>
                    <a:pt x="1" y="4"/>
                    <a:pt x="0" y="3"/>
                    <a:pt x="0" y="2"/>
                  </a:cubicBezTo>
                  <a:cubicBezTo>
                    <a:pt x="0" y="2"/>
                    <a:pt x="0" y="2"/>
                    <a:pt x="0" y="2"/>
                  </a:cubicBezTo>
                  <a:cubicBezTo>
                    <a:pt x="0" y="1"/>
                    <a:pt x="1" y="0"/>
                    <a:pt x="2" y="0"/>
                  </a:cubicBezTo>
                  <a:cubicBezTo>
                    <a:pt x="51" y="0"/>
                    <a:pt x="51" y="0"/>
                    <a:pt x="51" y="0"/>
                  </a:cubicBezTo>
                  <a:cubicBezTo>
                    <a:pt x="52" y="0"/>
                    <a:pt x="53" y="1"/>
                    <a:pt x="53" y="2"/>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39" name="Freeform 19"/>
            <p:cNvSpPr/>
            <p:nvPr>
              <p:custDataLst>
                <p:tags r:id="rId7"/>
              </p:custDataLst>
            </p:nvPr>
          </p:nvSpPr>
          <p:spPr bwMode="auto">
            <a:xfrm>
              <a:off x="9434" y="4345"/>
              <a:ext cx="169" cy="15"/>
            </a:xfrm>
            <a:custGeom>
              <a:avLst/>
              <a:gdLst>
                <a:gd name="T0" fmla="*/ 55 w 55"/>
                <a:gd name="T1" fmla="*/ 3 h 5"/>
                <a:gd name="T2" fmla="*/ 52 w 55"/>
                <a:gd name="T3" fmla="*/ 5 h 5"/>
                <a:gd name="T4" fmla="*/ 3 w 55"/>
                <a:gd name="T5" fmla="*/ 5 h 5"/>
                <a:gd name="T6" fmla="*/ 0 w 55"/>
                <a:gd name="T7" fmla="*/ 3 h 5"/>
                <a:gd name="T8" fmla="*/ 0 w 55"/>
                <a:gd name="T9" fmla="*/ 3 h 5"/>
                <a:gd name="T10" fmla="*/ 3 w 55"/>
                <a:gd name="T11" fmla="*/ 0 h 5"/>
                <a:gd name="T12" fmla="*/ 52 w 55"/>
                <a:gd name="T13" fmla="*/ 0 h 5"/>
                <a:gd name="T14" fmla="*/ 55 w 55"/>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
                  <a:moveTo>
                    <a:pt x="55" y="3"/>
                  </a:moveTo>
                  <a:cubicBezTo>
                    <a:pt x="55" y="4"/>
                    <a:pt x="54" y="5"/>
                    <a:pt x="52" y="5"/>
                  </a:cubicBezTo>
                  <a:cubicBezTo>
                    <a:pt x="3" y="5"/>
                    <a:pt x="3" y="5"/>
                    <a:pt x="3" y="5"/>
                  </a:cubicBezTo>
                  <a:cubicBezTo>
                    <a:pt x="1" y="5"/>
                    <a:pt x="0" y="4"/>
                    <a:pt x="0" y="3"/>
                  </a:cubicBezTo>
                  <a:cubicBezTo>
                    <a:pt x="0" y="3"/>
                    <a:pt x="0" y="3"/>
                    <a:pt x="0" y="3"/>
                  </a:cubicBezTo>
                  <a:cubicBezTo>
                    <a:pt x="0" y="1"/>
                    <a:pt x="1" y="0"/>
                    <a:pt x="3" y="0"/>
                  </a:cubicBezTo>
                  <a:cubicBezTo>
                    <a:pt x="52" y="0"/>
                    <a:pt x="52" y="0"/>
                    <a:pt x="52" y="0"/>
                  </a:cubicBezTo>
                  <a:cubicBezTo>
                    <a:pt x="54" y="0"/>
                    <a:pt x="55" y="1"/>
                    <a:pt x="55"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0" name="Freeform 20"/>
            <p:cNvSpPr>
              <a:spLocks noEditPoints="1"/>
            </p:cNvSpPr>
            <p:nvPr>
              <p:custDataLst>
                <p:tags r:id="rId8"/>
              </p:custDataLst>
            </p:nvPr>
          </p:nvSpPr>
          <p:spPr bwMode="auto">
            <a:xfrm>
              <a:off x="9319" y="3837"/>
              <a:ext cx="395" cy="492"/>
            </a:xfrm>
            <a:custGeom>
              <a:avLst/>
              <a:gdLst>
                <a:gd name="T0" fmla="*/ 41 w 128"/>
                <a:gd name="T1" fmla="*/ 159 h 159"/>
                <a:gd name="T2" fmla="*/ 39 w 128"/>
                <a:gd name="T3" fmla="*/ 159 h 159"/>
                <a:gd name="T4" fmla="*/ 37 w 128"/>
                <a:gd name="T5" fmla="*/ 158 h 159"/>
                <a:gd name="T6" fmla="*/ 29 w 128"/>
                <a:gd name="T7" fmla="*/ 145 h 159"/>
                <a:gd name="T8" fmla="*/ 28 w 128"/>
                <a:gd name="T9" fmla="*/ 139 h 159"/>
                <a:gd name="T10" fmla="*/ 27 w 128"/>
                <a:gd name="T11" fmla="*/ 132 h 159"/>
                <a:gd name="T12" fmla="*/ 19 w 128"/>
                <a:gd name="T13" fmla="*/ 116 h 159"/>
                <a:gd name="T14" fmla="*/ 17 w 128"/>
                <a:gd name="T15" fmla="*/ 112 h 159"/>
                <a:gd name="T16" fmla="*/ 16 w 128"/>
                <a:gd name="T17" fmla="*/ 110 h 159"/>
                <a:gd name="T18" fmla="*/ 6 w 128"/>
                <a:gd name="T19" fmla="*/ 92 h 159"/>
                <a:gd name="T20" fmla="*/ 0 w 128"/>
                <a:gd name="T21" fmla="*/ 64 h 159"/>
                <a:gd name="T22" fmla="*/ 0 w 128"/>
                <a:gd name="T23" fmla="*/ 60 h 159"/>
                <a:gd name="T24" fmla="*/ 6 w 128"/>
                <a:gd name="T25" fmla="*/ 35 h 159"/>
                <a:gd name="T26" fmla="*/ 19 w 128"/>
                <a:gd name="T27" fmla="*/ 18 h 159"/>
                <a:gd name="T28" fmla="*/ 60 w 128"/>
                <a:gd name="T29" fmla="*/ 0 h 159"/>
                <a:gd name="T30" fmla="*/ 65 w 128"/>
                <a:gd name="T31" fmla="*/ 0 h 159"/>
                <a:gd name="T32" fmla="*/ 109 w 128"/>
                <a:gd name="T33" fmla="*/ 18 h 159"/>
                <a:gd name="T34" fmla="*/ 128 w 128"/>
                <a:gd name="T35" fmla="*/ 62 h 159"/>
                <a:gd name="T36" fmla="*/ 128 w 128"/>
                <a:gd name="T37" fmla="*/ 64 h 159"/>
                <a:gd name="T38" fmla="*/ 114 w 128"/>
                <a:gd name="T39" fmla="*/ 107 h 159"/>
                <a:gd name="T40" fmla="*/ 111 w 128"/>
                <a:gd name="T41" fmla="*/ 112 h 159"/>
                <a:gd name="T42" fmla="*/ 109 w 128"/>
                <a:gd name="T43" fmla="*/ 116 h 159"/>
                <a:gd name="T44" fmla="*/ 101 w 128"/>
                <a:gd name="T45" fmla="*/ 132 h 159"/>
                <a:gd name="T46" fmla="*/ 100 w 128"/>
                <a:gd name="T47" fmla="*/ 139 h 159"/>
                <a:gd name="T48" fmla="*/ 92 w 128"/>
                <a:gd name="T49" fmla="*/ 158 h 159"/>
                <a:gd name="T50" fmla="*/ 90 w 128"/>
                <a:gd name="T51" fmla="*/ 159 h 159"/>
                <a:gd name="T52" fmla="*/ 86 w 128"/>
                <a:gd name="T53" fmla="*/ 159 h 159"/>
                <a:gd name="T54" fmla="*/ 73 w 128"/>
                <a:gd name="T55" fmla="*/ 159 h 159"/>
                <a:gd name="T56" fmla="*/ 60 w 128"/>
                <a:gd name="T57" fmla="*/ 159 h 159"/>
                <a:gd name="T58" fmla="*/ 41 w 128"/>
                <a:gd name="T59" fmla="*/ 159 h 159"/>
                <a:gd name="T60" fmla="*/ 65 w 128"/>
                <a:gd name="T61" fmla="*/ 11 h 159"/>
                <a:gd name="T62" fmla="*/ 61 w 128"/>
                <a:gd name="T63" fmla="*/ 11 h 159"/>
                <a:gd name="T64" fmla="*/ 27 w 128"/>
                <a:gd name="T65" fmla="*/ 26 h 159"/>
                <a:gd name="T66" fmla="*/ 16 w 128"/>
                <a:gd name="T67" fmla="*/ 40 h 159"/>
                <a:gd name="T68" fmla="*/ 11 w 128"/>
                <a:gd name="T69" fmla="*/ 60 h 159"/>
                <a:gd name="T70" fmla="*/ 11 w 128"/>
                <a:gd name="T71" fmla="*/ 64 h 159"/>
                <a:gd name="T72" fmla="*/ 16 w 128"/>
                <a:gd name="T73" fmla="*/ 87 h 159"/>
                <a:gd name="T74" fmla="*/ 25 w 128"/>
                <a:gd name="T75" fmla="*/ 105 h 159"/>
                <a:gd name="T76" fmla="*/ 27 w 128"/>
                <a:gd name="T77" fmla="*/ 107 h 159"/>
                <a:gd name="T78" fmla="*/ 29 w 128"/>
                <a:gd name="T79" fmla="*/ 111 h 159"/>
                <a:gd name="T80" fmla="*/ 37 w 128"/>
                <a:gd name="T81" fmla="*/ 129 h 159"/>
                <a:gd name="T82" fmla="*/ 39 w 128"/>
                <a:gd name="T83" fmla="*/ 138 h 159"/>
                <a:gd name="T84" fmla="*/ 40 w 128"/>
                <a:gd name="T85" fmla="*/ 143 h 159"/>
                <a:gd name="T86" fmla="*/ 43 w 128"/>
                <a:gd name="T87" fmla="*/ 148 h 159"/>
                <a:gd name="T88" fmla="*/ 60 w 128"/>
                <a:gd name="T89" fmla="*/ 148 h 159"/>
                <a:gd name="T90" fmla="*/ 73 w 128"/>
                <a:gd name="T91" fmla="*/ 148 h 159"/>
                <a:gd name="T92" fmla="*/ 86 w 128"/>
                <a:gd name="T93" fmla="*/ 148 h 159"/>
                <a:gd name="T94" fmla="*/ 89 w 128"/>
                <a:gd name="T95" fmla="*/ 138 h 159"/>
                <a:gd name="T96" fmla="*/ 91 w 128"/>
                <a:gd name="T97" fmla="*/ 128 h 159"/>
                <a:gd name="T98" fmla="*/ 99 w 128"/>
                <a:gd name="T99" fmla="*/ 111 h 159"/>
                <a:gd name="T100" fmla="*/ 101 w 128"/>
                <a:gd name="T101" fmla="*/ 107 h 159"/>
                <a:gd name="T102" fmla="*/ 104 w 128"/>
                <a:gd name="T103" fmla="*/ 101 h 159"/>
                <a:gd name="T104" fmla="*/ 117 w 128"/>
                <a:gd name="T105" fmla="*/ 63 h 159"/>
                <a:gd name="T106" fmla="*/ 117 w 128"/>
                <a:gd name="T107" fmla="*/ 62 h 159"/>
                <a:gd name="T108" fmla="*/ 102 w 128"/>
                <a:gd name="T109" fmla="*/ 26 h 159"/>
                <a:gd name="T110" fmla="*/ 65 w 128"/>
                <a:gd name="T111" fmla="*/ 1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 h="159">
                  <a:moveTo>
                    <a:pt x="41" y="159"/>
                  </a:moveTo>
                  <a:cubicBezTo>
                    <a:pt x="39" y="159"/>
                    <a:pt x="39" y="159"/>
                    <a:pt x="39" y="159"/>
                  </a:cubicBezTo>
                  <a:cubicBezTo>
                    <a:pt x="37" y="158"/>
                    <a:pt x="37" y="158"/>
                    <a:pt x="37" y="158"/>
                  </a:cubicBezTo>
                  <a:cubicBezTo>
                    <a:pt x="33" y="155"/>
                    <a:pt x="29" y="151"/>
                    <a:pt x="29" y="145"/>
                  </a:cubicBezTo>
                  <a:cubicBezTo>
                    <a:pt x="28" y="143"/>
                    <a:pt x="28" y="141"/>
                    <a:pt x="28" y="139"/>
                  </a:cubicBezTo>
                  <a:cubicBezTo>
                    <a:pt x="28" y="137"/>
                    <a:pt x="27" y="134"/>
                    <a:pt x="27" y="132"/>
                  </a:cubicBezTo>
                  <a:cubicBezTo>
                    <a:pt x="25" y="126"/>
                    <a:pt x="22" y="121"/>
                    <a:pt x="19" y="116"/>
                  </a:cubicBezTo>
                  <a:cubicBezTo>
                    <a:pt x="19" y="115"/>
                    <a:pt x="18" y="114"/>
                    <a:pt x="17" y="112"/>
                  </a:cubicBezTo>
                  <a:cubicBezTo>
                    <a:pt x="16" y="110"/>
                    <a:pt x="16" y="110"/>
                    <a:pt x="16" y="110"/>
                  </a:cubicBezTo>
                  <a:cubicBezTo>
                    <a:pt x="12" y="104"/>
                    <a:pt x="9" y="98"/>
                    <a:pt x="6" y="92"/>
                  </a:cubicBezTo>
                  <a:cubicBezTo>
                    <a:pt x="3" y="84"/>
                    <a:pt x="1" y="76"/>
                    <a:pt x="0" y="64"/>
                  </a:cubicBezTo>
                  <a:cubicBezTo>
                    <a:pt x="0" y="60"/>
                    <a:pt x="0" y="60"/>
                    <a:pt x="0" y="60"/>
                  </a:cubicBezTo>
                  <a:cubicBezTo>
                    <a:pt x="0" y="51"/>
                    <a:pt x="2" y="43"/>
                    <a:pt x="6" y="35"/>
                  </a:cubicBezTo>
                  <a:cubicBezTo>
                    <a:pt x="9" y="28"/>
                    <a:pt x="14" y="23"/>
                    <a:pt x="19" y="18"/>
                  </a:cubicBezTo>
                  <a:cubicBezTo>
                    <a:pt x="30" y="6"/>
                    <a:pt x="44" y="0"/>
                    <a:pt x="60" y="0"/>
                  </a:cubicBezTo>
                  <a:cubicBezTo>
                    <a:pt x="65" y="0"/>
                    <a:pt x="65" y="0"/>
                    <a:pt x="65" y="0"/>
                  </a:cubicBezTo>
                  <a:cubicBezTo>
                    <a:pt x="83" y="1"/>
                    <a:pt x="98" y="7"/>
                    <a:pt x="109" y="18"/>
                  </a:cubicBezTo>
                  <a:cubicBezTo>
                    <a:pt x="121" y="30"/>
                    <a:pt x="128" y="44"/>
                    <a:pt x="128" y="62"/>
                  </a:cubicBezTo>
                  <a:cubicBezTo>
                    <a:pt x="128" y="64"/>
                    <a:pt x="128" y="64"/>
                    <a:pt x="128" y="64"/>
                  </a:cubicBezTo>
                  <a:cubicBezTo>
                    <a:pt x="127" y="82"/>
                    <a:pt x="120" y="95"/>
                    <a:pt x="114" y="107"/>
                  </a:cubicBezTo>
                  <a:cubicBezTo>
                    <a:pt x="113" y="108"/>
                    <a:pt x="112" y="110"/>
                    <a:pt x="111" y="112"/>
                  </a:cubicBezTo>
                  <a:cubicBezTo>
                    <a:pt x="110" y="113"/>
                    <a:pt x="110" y="114"/>
                    <a:pt x="109" y="116"/>
                  </a:cubicBezTo>
                  <a:cubicBezTo>
                    <a:pt x="106" y="121"/>
                    <a:pt x="103" y="126"/>
                    <a:pt x="101" y="132"/>
                  </a:cubicBezTo>
                  <a:cubicBezTo>
                    <a:pt x="101" y="134"/>
                    <a:pt x="100" y="137"/>
                    <a:pt x="100" y="139"/>
                  </a:cubicBezTo>
                  <a:cubicBezTo>
                    <a:pt x="99" y="146"/>
                    <a:pt x="98" y="154"/>
                    <a:pt x="92" y="158"/>
                  </a:cubicBezTo>
                  <a:cubicBezTo>
                    <a:pt x="90" y="159"/>
                    <a:pt x="90" y="159"/>
                    <a:pt x="90" y="159"/>
                  </a:cubicBezTo>
                  <a:cubicBezTo>
                    <a:pt x="86" y="159"/>
                    <a:pt x="86" y="159"/>
                    <a:pt x="86" y="159"/>
                  </a:cubicBezTo>
                  <a:cubicBezTo>
                    <a:pt x="82" y="159"/>
                    <a:pt x="77" y="159"/>
                    <a:pt x="73" y="159"/>
                  </a:cubicBezTo>
                  <a:cubicBezTo>
                    <a:pt x="69" y="159"/>
                    <a:pt x="64" y="159"/>
                    <a:pt x="60" y="159"/>
                  </a:cubicBezTo>
                  <a:cubicBezTo>
                    <a:pt x="53" y="159"/>
                    <a:pt x="47" y="159"/>
                    <a:pt x="41" y="159"/>
                  </a:cubicBezTo>
                  <a:close/>
                  <a:moveTo>
                    <a:pt x="65" y="11"/>
                  </a:moveTo>
                  <a:cubicBezTo>
                    <a:pt x="61" y="11"/>
                    <a:pt x="61" y="11"/>
                    <a:pt x="61" y="11"/>
                  </a:cubicBezTo>
                  <a:cubicBezTo>
                    <a:pt x="47" y="11"/>
                    <a:pt x="36" y="16"/>
                    <a:pt x="27" y="26"/>
                  </a:cubicBezTo>
                  <a:cubicBezTo>
                    <a:pt x="23" y="30"/>
                    <a:pt x="19" y="34"/>
                    <a:pt x="16" y="40"/>
                  </a:cubicBezTo>
                  <a:cubicBezTo>
                    <a:pt x="13" y="47"/>
                    <a:pt x="12" y="53"/>
                    <a:pt x="11" y="60"/>
                  </a:cubicBezTo>
                  <a:cubicBezTo>
                    <a:pt x="11" y="64"/>
                    <a:pt x="11" y="64"/>
                    <a:pt x="11" y="64"/>
                  </a:cubicBezTo>
                  <a:cubicBezTo>
                    <a:pt x="12" y="74"/>
                    <a:pt x="13" y="81"/>
                    <a:pt x="16" y="87"/>
                  </a:cubicBezTo>
                  <a:cubicBezTo>
                    <a:pt x="19" y="93"/>
                    <a:pt x="22" y="99"/>
                    <a:pt x="25" y="105"/>
                  </a:cubicBezTo>
                  <a:cubicBezTo>
                    <a:pt x="27" y="107"/>
                    <a:pt x="27" y="107"/>
                    <a:pt x="27" y="107"/>
                  </a:cubicBezTo>
                  <a:cubicBezTo>
                    <a:pt x="27" y="108"/>
                    <a:pt x="28" y="109"/>
                    <a:pt x="29" y="111"/>
                  </a:cubicBezTo>
                  <a:cubicBezTo>
                    <a:pt x="32" y="116"/>
                    <a:pt x="36" y="122"/>
                    <a:pt x="37" y="129"/>
                  </a:cubicBezTo>
                  <a:cubicBezTo>
                    <a:pt x="38" y="132"/>
                    <a:pt x="39" y="135"/>
                    <a:pt x="39" y="138"/>
                  </a:cubicBezTo>
                  <a:cubicBezTo>
                    <a:pt x="39" y="140"/>
                    <a:pt x="39" y="141"/>
                    <a:pt x="40" y="143"/>
                  </a:cubicBezTo>
                  <a:cubicBezTo>
                    <a:pt x="40" y="145"/>
                    <a:pt x="41" y="147"/>
                    <a:pt x="43" y="148"/>
                  </a:cubicBezTo>
                  <a:cubicBezTo>
                    <a:pt x="48" y="148"/>
                    <a:pt x="54" y="148"/>
                    <a:pt x="60" y="148"/>
                  </a:cubicBezTo>
                  <a:cubicBezTo>
                    <a:pt x="64" y="148"/>
                    <a:pt x="69" y="148"/>
                    <a:pt x="73" y="148"/>
                  </a:cubicBezTo>
                  <a:cubicBezTo>
                    <a:pt x="77" y="148"/>
                    <a:pt x="82" y="148"/>
                    <a:pt x="86" y="148"/>
                  </a:cubicBezTo>
                  <a:cubicBezTo>
                    <a:pt x="88" y="146"/>
                    <a:pt x="88" y="142"/>
                    <a:pt x="89" y="138"/>
                  </a:cubicBezTo>
                  <a:cubicBezTo>
                    <a:pt x="89" y="134"/>
                    <a:pt x="90" y="131"/>
                    <a:pt x="91" y="128"/>
                  </a:cubicBezTo>
                  <a:cubicBezTo>
                    <a:pt x="93" y="122"/>
                    <a:pt x="96" y="116"/>
                    <a:pt x="99" y="111"/>
                  </a:cubicBezTo>
                  <a:cubicBezTo>
                    <a:pt x="100" y="109"/>
                    <a:pt x="101" y="108"/>
                    <a:pt x="101" y="107"/>
                  </a:cubicBezTo>
                  <a:cubicBezTo>
                    <a:pt x="102" y="105"/>
                    <a:pt x="103" y="103"/>
                    <a:pt x="104" y="101"/>
                  </a:cubicBezTo>
                  <a:cubicBezTo>
                    <a:pt x="110" y="90"/>
                    <a:pt x="116" y="79"/>
                    <a:pt x="117" y="63"/>
                  </a:cubicBezTo>
                  <a:cubicBezTo>
                    <a:pt x="117" y="62"/>
                    <a:pt x="117" y="62"/>
                    <a:pt x="117" y="62"/>
                  </a:cubicBezTo>
                  <a:cubicBezTo>
                    <a:pt x="117" y="48"/>
                    <a:pt x="111" y="36"/>
                    <a:pt x="102" y="26"/>
                  </a:cubicBezTo>
                  <a:cubicBezTo>
                    <a:pt x="92" y="17"/>
                    <a:pt x="80" y="12"/>
                    <a:pt x="65" y="11"/>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grpSp>
      <p:grpSp>
        <p:nvGrpSpPr>
          <p:cNvPr id="51" name="组合 50"/>
          <p:cNvGrpSpPr/>
          <p:nvPr/>
        </p:nvGrpSpPr>
        <p:grpSpPr>
          <a:xfrm>
            <a:off x="4746625" y="4287520"/>
            <a:ext cx="606425" cy="439420"/>
            <a:chOff x="7512" y="3426"/>
            <a:chExt cx="498" cy="600"/>
          </a:xfrm>
        </p:grpSpPr>
        <p:sp>
          <p:nvSpPr>
            <p:cNvPr id="45" name="Freeform 6"/>
            <p:cNvSpPr/>
            <p:nvPr>
              <p:custDataLst>
                <p:tags r:id="rId9"/>
              </p:custDataLst>
            </p:nvPr>
          </p:nvSpPr>
          <p:spPr bwMode="auto">
            <a:xfrm>
              <a:off x="7704" y="3426"/>
              <a:ext cx="117" cy="134"/>
            </a:xfrm>
            <a:custGeom>
              <a:avLst/>
              <a:gdLst>
                <a:gd name="T0" fmla="*/ 2 w 38"/>
                <a:gd name="T1" fmla="*/ 28 h 43"/>
                <a:gd name="T2" fmla="*/ 3 w 38"/>
                <a:gd name="T3" fmla="*/ 28 h 43"/>
                <a:gd name="T4" fmla="*/ 19 w 38"/>
                <a:gd name="T5" fmla="*/ 43 h 43"/>
                <a:gd name="T6" fmla="*/ 35 w 38"/>
                <a:gd name="T7" fmla="*/ 29 h 43"/>
                <a:gd name="T8" fmla="*/ 35 w 38"/>
                <a:gd name="T9" fmla="*/ 29 h 43"/>
                <a:gd name="T10" fmla="*/ 38 w 38"/>
                <a:gd name="T11" fmla="*/ 25 h 43"/>
                <a:gd name="T12" fmla="*/ 36 w 38"/>
                <a:gd name="T13" fmla="*/ 20 h 43"/>
                <a:gd name="T14" fmla="*/ 19 w 38"/>
                <a:gd name="T15" fmla="*/ 0 h 43"/>
                <a:gd name="T16" fmla="*/ 2 w 38"/>
                <a:gd name="T17" fmla="*/ 19 h 43"/>
                <a:gd name="T18" fmla="*/ 0 w 38"/>
                <a:gd name="T19" fmla="*/ 24 h 43"/>
                <a:gd name="T20" fmla="*/ 2 w 38"/>
                <a:gd name="T21" fmla="*/ 2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43">
                  <a:moveTo>
                    <a:pt x="2" y="28"/>
                  </a:moveTo>
                  <a:cubicBezTo>
                    <a:pt x="3" y="28"/>
                    <a:pt x="3" y="28"/>
                    <a:pt x="3" y="28"/>
                  </a:cubicBezTo>
                  <a:cubicBezTo>
                    <a:pt x="5" y="37"/>
                    <a:pt x="12" y="43"/>
                    <a:pt x="19" y="43"/>
                  </a:cubicBezTo>
                  <a:cubicBezTo>
                    <a:pt x="26" y="43"/>
                    <a:pt x="32" y="37"/>
                    <a:pt x="35" y="29"/>
                  </a:cubicBezTo>
                  <a:cubicBezTo>
                    <a:pt x="35" y="29"/>
                    <a:pt x="35" y="29"/>
                    <a:pt x="35" y="29"/>
                  </a:cubicBezTo>
                  <a:cubicBezTo>
                    <a:pt x="37" y="29"/>
                    <a:pt x="38" y="27"/>
                    <a:pt x="38" y="25"/>
                  </a:cubicBezTo>
                  <a:cubicBezTo>
                    <a:pt x="38" y="22"/>
                    <a:pt x="37" y="20"/>
                    <a:pt x="36" y="20"/>
                  </a:cubicBezTo>
                  <a:cubicBezTo>
                    <a:pt x="35" y="9"/>
                    <a:pt x="28" y="0"/>
                    <a:pt x="19" y="0"/>
                  </a:cubicBezTo>
                  <a:cubicBezTo>
                    <a:pt x="11" y="0"/>
                    <a:pt x="3" y="9"/>
                    <a:pt x="2" y="19"/>
                  </a:cubicBezTo>
                  <a:cubicBezTo>
                    <a:pt x="1" y="19"/>
                    <a:pt x="0" y="21"/>
                    <a:pt x="0" y="24"/>
                  </a:cubicBezTo>
                  <a:cubicBezTo>
                    <a:pt x="0" y="26"/>
                    <a:pt x="1" y="28"/>
                    <a:pt x="2" y="28"/>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6" name="Freeform 7"/>
            <p:cNvSpPr/>
            <p:nvPr>
              <p:custDataLst>
                <p:tags r:id="rId10"/>
              </p:custDataLst>
            </p:nvPr>
          </p:nvSpPr>
          <p:spPr bwMode="auto">
            <a:xfrm>
              <a:off x="7670" y="3556"/>
              <a:ext cx="182" cy="471"/>
            </a:xfrm>
            <a:custGeom>
              <a:avLst/>
              <a:gdLst>
                <a:gd name="T0" fmla="*/ 53 w 59"/>
                <a:gd name="T1" fmla="*/ 3 h 152"/>
                <a:gd name="T2" fmla="*/ 52 w 59"/>
                <a:gd name="T3" fmla="*/ 4 h 152"/>
                <a:gd name="T4" fmla="*/ 43 w 59"/>
                <a:gd name="T5" fmla="*/ 1 h 152"/>
                <a:gd name="T6" fmla="*/ 28 w 59"/>
                <a:gd name="T7" fmla="*/ 27 h 152"/>
                <a:gd name="T8" fmla="*/ 16 w 59"/>
                <a:gd name="T9" fmla="*/ 0 h 152"/>
                <a:gd name="T10" fmla="*/ 6 w 59"/>
                <a:gd name="T11" fmla="*/ 1 h 152"/>
                <a:gd name="T12" fmla="*/ 6 w 59"/>
                <a:gd name="T13" fmla="*/ 1 h 152"/>
                <a:gd name="T14" fmla="*/ 0 w 59"/>
                <a:gd name="T15" fmla="*/ 7 h 152"/>
                <a:gd name="T16" fmla="*/ 1 w 59"/>
                <a:gd name="T17" fmla="*/ 68 h 152"/>
                <a:gd name="T18" fmla="*/ 3 w 59"/>
                <a:gd name="T19" fmla="*/ 73 h 152"/>
                <a:gd name="T20" fmla="*/ 3 w 59"/>
                <a:gd name="T21" fmla="*/ 74 h 152"/>
                <a:gd name="T22" fmla="*/ 9 w 59"/>
                <a:gd name="T23" fmla="*/ 80 h 152"/>
                <a:gd name="T24" fmla="*/ 12 w 59"/>
                <a:gd name="T25" fmla="*/ 79 h 152"/>
                <a:gd name="T26" fmla="*/ 12 w 59"/>
                <a:gd name="T27" fmla="*/ 152 h 152"/>
                <a:gd name="T28" fmla="*/ 27 w 59"/>
                <a:gd name="T29" fmla="*/ 152 h 152"/>
                <a:gd name="T30" fmla="*/ 29 w 59"/>
                <a:gd name="T31" fmla="*/ 82 h 152"/>
                <a:gd name="T32" fmla="*/ 30 w 59"/>
                <a:gd name="T33" fmla="*/ 152 h 152"/>
                <a:gd name="T34" fmla="*/ 47 w 59"/>
                <a:gd name="T35" fmla="*/ 152 h 152"/>
                <a:gd name="T36" fmla="*/ 48 w 59"/>
                <a:gd name="T37" fmla="*/ 81 h 152"/>
                <a:gd name="T38" fmla="*/ 50 w 59"/>
                <a:gd name="T39" fmla="*/ 82 h 152"/>
                <a:gd name="T40" fmla="*/ 56 w 59"/>
                <a:gd name="T41" fmla="*/ 76 h 152"/>
                <a:gd name="T42" fmla="*/ 56 w 59"/>
                <a:gd name="T43" fmla="*/ 75 h 152"/>
                <a:gd name="T44" fmla="*/ 59 w 59"/>
                <a:gd name="T45" fmla="*/ 70 h 152"/>
                <a:gd name="T46" fmla="*/ 59 w 59"/>
                <a:gd name="T47" fmla="*/ 9 h 152"/>
                <a:gd name="T48" fmla="*/ 53 w 59"/>
                <a:gd name="T49" fmla="*/ 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152">
                  <a:moveTo>
                    <a:pt x="53" y="3"/>
                  </a:moveTo>
                  <a:cubicBezTo>
                    <a:pt x="53" y="3"/>
                    <a:pt x="52" y="3"/>
                    <a:pt x="52" y="4"/>
                  </a:cubicBezTo>
                  <a:cubicBezTo>
                    <a:pt x="43" y="1"/>
                    <a:pt x="43" y="1"/>
                    <a:pt x="43" y="1"/>
                  </a:cubicBezTo>
                  <a:cubicBezTo>
                    <a:pt x="28" y="27"/>
                    <a:pt x="28" y="27"/>
                    <a:pt x="28" y="27"/>
                  </a:cubicBezTo>
                  <a:cubicBezTo>
                    <a:pt x="16" y="0"/>
                    <a:pt x="16" y="0"/>
                    <a:pt x="16" y="0"/>
                  </a:cubicBezTo>
                  <a:cubicBezTo>
                    <a:pt x="6" y="1"/>
                    <a:pt x="6" y="1"/>
                    <a:pt x="6" y="1"/>
                  </a:cubicBezTo>
                  <a:cubicBezTo>
                    <a:pt x="6" y="1"/>
                    <a:pt x="6" y="1"/>
                    <a:pt x="6" y="1"/>
                  </a:cubicBezTo>
                  <a:cubicBezTo>
                    <a:pt x="3" y="2"/>
                    <a:pt x="0" y="4"/>
                    <a:pt x="0" y="7"/>
                  </a:cubicBezTo>
                  <a:cubicBezTo>
                    <a:pt x="1" y="68"/>
                    <a:pt x="1" y="68"/>
                    <a:pt x="1" y="68"/>
                  </a:cubicBezTo>
                  <a:cubicBezTo>
                    <a:pt x="1" y="70"/>
                    <a:pt x="2" y="72"/>
                    <a:pt x="3" y="73"/>
                  </a:cubicBezTo>
                  <a:cubicBezTo>
                    <a:pt x="3" y="73"/>
                    <a:pt x="3" y="73"/>
                    <a:pt x="3" y="74"/>
                  </a:cubicBezTo>
                  <a:cubicBezTo>
                    <a:pt x="3" y="77"/>
                    <a:pt x="6" y="80"/>
                    <a:pt x="9" y="80"/>
                  </a:cubicBezTo>
                  <a:cubicBezTo>
                    <a:pt x="10" y="80"/>
                    <a:pt x="11" y="80"/>
                    <a:pt x="12" y="79"/>
                  </a:cubicBezTo>
                  <a:cubicBezTo>
                    <a:pt x="12" y="152"/>
                    <a:pt x="12" y="152"/>
                    <a:pt x="12" y="152"/>
                  </a:cubicBezTo>
                  <a:cubicBezTo>
                    <a:pt x="27" y="152"/>
                    <a:pt x="27" y="152"/>
                    <a:pt x="27" y="152"/>
                  </a:cubicBezTo>
                  <a:cubicBezTo>
                    <a:pt x="29" y="82"/>
                    <a:pt x="29" y="82"/>
                    <a:pt x="29" y="82"/>
                  </a:cubicBezTo>
                  <a:cubicBezTo>
                    <a:pt x="30" y="152"/>
                    <a:pt x="30" y="152"/>
                    <a:pt x="30" y="152"/>
                  </a:cubicBezTo>
                  <a:cubicBezTo>
                    <a:pt x="47" y="152"/>
                    <a:pt x="47" y="152"/>
                    <a:pt x="47" y="152"/>
                  </a:cubicBezTo>
                  <a:cubicBezTo>
                    <a:pt x="48" y="81"/>
                    <a:pt x="48" y="81"/>
                    <a:pt x="48" y="81"/>
                  </a:cubicBezTo>
                  <a:cubicBezTo>
                    <a:pt x="48" y="81"/>
                    <a:pt x="49" y="82"/>
                    <a:pt x="50" y="82"/>
                  </a:cubicBezTo>
                  <a:cubicBezTo>
                    <a:pt x="54" y="82"/>
                    <a:pt x="56" y="79"/>
                    <a:pt x="56" y="76"/>
                  </a:cubicBezTo>
                  <a:cubicBezTo>
                    <a:pt x="56" y="75"/>
                    <a:pt x="56" y="75"/>
                    <a:pt x="56" y="75"/>
                  </a:cubicBezTo>
                  <a:cubicBezTo>
                    <a:pt x="58" y="74"/>
                    <a:pt x="59" y="72"/>
                    <a:pt x="59" y="70"/>
                  </a:cubicBezTo>
                  <a:cubicBezTo>
                    <a:pt x="59" y="9"/>
                    <a:pt x="59" y="9"/>
                    <a:pt x="59" y="9"/>
                  </a:cubicBezTo>
                  <a:cubicBezTo>
                    <a:pt x="59" y="6"/>
                    <a:pt x="56" y="3"/>
                    <a:pt x="53"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7" name="Freeform 8"/>
            <p:cNvSpPr/>
            <p:nvPr>
              <p:custDataLst>
                <p:tags r:id="rId11"/>
              </p:custDataLst>
            </p:nvPr>
          </p:nvSpPr>
          <p:spPr bwMode="auto">
            <a:xfrm>
              <a:off x="7878" y="3473"/>
              <a:ext cx="104" cy="121"/>
            </a:xfrm>
            <a:custGeom>
              <a:avLst/>
              <a:gdLst>
                <a:gd name="T0" fmla="*/ 2 w 34"/>
                <a:gd name="T1" fmla="*/ 26 h 39"/>
                <a:gd name="T2" fmla="*/ 3 w 34"/>
                <a:gd name="T3" fmla="*/ 26 h 39"/>
                <a:gd name="T4" fmla="*/ 17 w 34"/>
                <a:gd name="T5" fmla="*/ 39 h 39"/>
                <a:gd name="T6" fmla="*/ 31 w 34"/>
                <a:gd name="T7" fmla="*/ 26 h 39"/>
                <a:gd name="T8" fmla="*/ 32 w 34"/>
                <a:gd name="T9" fmla="*/ 26 h 39"/>
                <a:gd name="T10" fmla="*/ 34 w 34"/>
                <a:gd name="T11" fmla="*/ 22 h 39"/>
                <a:gd name="T12" fmla="*/ 32 w 34"/>
                <a:gd name="T13" fmla="*/ 18 h 39"/>
                <a:gd name="T14" fmla="*/ 17 w 34"/>
                <a:gd name="T15" fmla="*/ 0 h 39"/>
                <a:gd name="T16" fmla="*/ 2 w 34"/>
                <a:gd name="T17" fmla="*/ 18 h 39"/>
                <a:gd name="T18" fmla="*/ 0 w 34"/>
                <a:gd name="T19" fmla="*/ 22 h 39"/>
                <a:gd name="T20" fmla="*/ 2 w 34"/>
                <a:gd name="T21" fmla="*/ 2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9">
                  <a:moveTo>
                    <a:pt x="2" y="26"/>
                  </a:moveTo>
                  <a:cubicBezTo>
                    <a:pt x="3" y="26"/>
                    <a:pt x="3" y="26"/>
                    <a:pt x="3" y="26"/>
                  </a:cubicBezTo>
                  <a:cubicBezTo>
                    <a:pt x="5" y="33"/>
                    <a:pt x="11" y="39"/>
                    <a:pt x="17" y="39"/>
                  </a:cubicBezTo>
                  <a:cubicBezTo>
                    <a:pt x="24" y="39"/>
                    <a:pt x="29" y="34"/>
                    <a:pt x="31" y="26"/>
                  </a:cubicBezTo>
                  <a:cubicBezTo>
                    <a:pt x="32" y="26"/>
                    <a:pt x="32" y="26"/>
                    <a:pt x="32" y="26"/>
                  </a:cubicBezTo>
                  <a:cubicBezTo>
                    <a:pt x="33" y="26"/>
                    <a:pt x="34" y="25"/>
                    <a:pt x="34" y="22"/>
                  </a:cubicBezTo>
                  <a:cubicBezTo>
                    <a:pt x="34" y="20"/>
                    <a:pt x="33" y="19"/>
                    <a:pt x="32" y="18"/>
                  </a:cubicBezTo>
                  <a:cubicBezTo>
                    <a:pt x="32" y="8"/>
                    <a:pt x="25" y="1"/>
                    <a:pt x="17" y="0"/>
                  </a:cubicBezTo>
                  <a:cubicBezTo>
                    <a:pt x="10" y="0"/>
                    <a:pt x="3" y="8"/>
                    <a:pt x="2" y="18"/>
                  </a:cubicBezTo>
                  <a:cubicBezTo>
                    <a:pt x="1" y="18"/>
                    <a:pt x="0" y="20"/>
                    <a:pt x="0" y="22"/>
                  </a:cubicBezTo>
                  <a:cubicBezTo>
                    <a:pt x="0" y="24"/>
                    <a:pt x="1" y="26"/>
                    <a:pt x="2" y="26"/>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8" name="Freeform 9"/>
            <p:cNvSpPr/>
            <p:nvPr>
              <p:custDataLst>
                <p:tags r:id="rId12"/>
              </p:custDataLst>
            </p:nvPr>
          </p:nvSpPr>
          <p:spPr bwMode="auto">
            <a:xfrm>
              <a:off x="7880" y="3591"/>
              <a:ext cx="130" cy="423"/>
            </a:xfrm>
            <a:custGeom>
              <a:avLst/>
              <a:gdLst>
                <a:gd name="T0" fmla="*/ 37 w 42"/>
                <a:gd name="T1" fmla="*/ 3 h 137"/>
                <a:gd name="T2" fmla="*/ 36 w 42"/>
                <a:gd name="T3" fmla="*/ 3 h 137"/>
                <a:gd name="T4" fmla="*/ 28 w 42"/>
                <a:gd name="T5" fmla="*/ 1 h 137"/>
                <a:gd name="T6" fmla="*/ 15 w 42"/>
                <a:gd name="T7" fmla="*/ 24 h 137"/>
                <a:gd name="T8" fmla="*/ 4 w 42"/>
                <a:gd name="T9" fmla="*/ 0 h 137"/>
                <a:gd name="T10" fmla="*/ 2 w 42"/>
                <a:gd name="T11" fmla="*/ 0 h 137"/>
                <a:gd name="T12" fmla="*/ 2 w 42"/>
                <a:gd name="T13" fmla="*/ 75 h 137"/>
                <a:gd name="T14" fmla="*/ 0 w 42"/>
                <a:gd name="T15" fmla="*/ 81 h 137"/>
                <a:gd name="T16" fmla="*/ 0 w 42"/>
                <a:gd name="T17" fmla="*/ 137 h 137"/>
                <a:gd name="T18" fmla="*/ 14 w 42"/>
                <a:gd name="T19" fmla="*/ 137 h 137"/>
                <a:gd name="T20" fmla="*/ 15 w 42"/>
                <a:gd name="T21" fmla="*/ 74 h 137"/>
                <a:gd name="T22" fmla="*/ 16 w 42"/>
                <a:gd name="T23" fmla="*/ 137 h 137"/>
                <a:gd name="T24" fmla="*/ 32 w 42"/>
                <a:gd name="T25" fmla="*/ 137 h 137"/>
                <a:gd name="T26" fmla="*/ 32 w 42"/>
                <a:gd name="T27" fmla="*/ 73 h 137"/>
                <a:gd name="T28" fmla="*/ 35 w 42"/>
                <a:gd name="T29" fmla="*/ 74 h 137"/>
                <a:gd name="T30" fmla="*/ 40 w 42"/>
                <a:gd name="T31" fmla="*/ 68 h 137"/>
                <a:gd name="T32" fmla="*/ 40 w 42"/>
                <a:gd name="T33" fmla="*/ 67 h 137"/>
                <a:gd name="T34" fmla="*/ 42 w 42"/>
                <a:gd name="T35" fmla="*/ 63 h 137"/>
                <a:gd name="T36" fmla="*/ 42 w 42"/>
                <a:gd name="T37" fmla="*/ 8 h 137"/>
                <a:gd name="T38" fmla="*/ 37 w 42"/>
                <a:gd name="T39" fmla="*/ 3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137">
                  <a:moveTo>
                    <a:pt x="37" y="3"/>
                  </a:moveTo>
                  <a:cubicBezTo>
                    <a:pt x="37" y="3"/>
                    <a:pt x="36" y="3"/>
                    <a:pt x="36" y="3"/>
                  </a:cubicBezTo>
                  <a:cubicBezTo>
                    <a:pt x="28" y="1"/>
                    <a:pt x="28" y="1"/>
                    <a:pt x="28" y="1"/>
                  </a:cubicBezTo>
                  <a:cubicBezTo>
                    <a:pt x="15" y="24"/>
                    <a:pt x="15" y="24"/>
                    <a:pt x="15" y="24"/>
                  </a:cubicBezTo>
                  <a:cubicBezTo>
                    <a:pt x="4" y="0"/>
                    <a:pt x="4" y="0"/>
                    <a:pt x="4" y="0"/>
                  </a:cubicBezTo>
                  <a:cubicBezTo>
                    <a:pt x="2" y="0"/>
                    <a:pt x="2" y="0"/>
                    <a:pt x="2" y="0"/>
                  </a:cubicBezTo>
                  <a:cubicBezTo>
                    <a:pt x="2" y="75"/>
                    <a:pt x="2" y="75"/>
                    <a:pt x="2" y="75"/>
                  </a:cubicBezTo>
                  <a:cubicBezTo>
                    <a:pt x="2" y="75"/>
                    <a:pt x="2" y="78"/>
                    <a:pt x="0" y="81"/>
                  </a:cubicBezTo>
                  <a:cubicBezTo>
                    <a:pt x="0" y="137"/>
                    <a:pt x="0" y="137"/>
                    <a:pt x="0" y="137"/>
                  </a:cubicBezTo>
                  <a:cubicBezTo>
                    <a:pt x="14" y="137"/>
                    <a:pt x="14" y="137"/>
                    <a:pt x="14" y="137"/>
                  </a:cubicBezTo>
                  <a:cubicBezTo>
                    <a:pt x="15" y="74"/>
                    <a:pt x="15" y="74"/>
                    <a:pt x="15" y="74"/>
                  </a:cubicBezTo>
                  <a:cubicBezTo>
                    <a:pt x="16" y="137"/>
                    <a:pt x="16" y="137"/>
                    <a:pt x="16" y="137"/>
                  </a:cubicBezTo>
                  <a:cubicBezTo>
                    <a:pt x="32" y="137"/>
                    <a:pt x="32" y="137"/>
                    <a:pt x="32" y="137"/>
                  </a:cubicBezTo>
                  <a:cubicBezTo>
                    <a:pt x="32" y="73"/>
                    <a:pt x="32" y="73"/>
                    <a:pt x="32" y="73"/>
                  </a:cubicBezTo>
                  <a:cubicBezTo>
                    <a:pt x="33" y="73"/>
                    <a:pt x="34" y="74"/>
                    <a:pt x="35" y="74"/>
                  </a:cubicBezTo>
                  <a:cubicBezTo>
                    <a:pt x="37" y="74"/>
                    <a:pt x="40" y="71"/>
                    <a:pt x="40" y="68"/>
                  </a:cubicBezTo>
                  <a:cubicBezTo>
                    <a:pt x="40" y="68"/>
                    <a:pt x="40" y="67"/>
                    <a:pt x="40" y="67"/>
                  </a:cubicBezTo>
                  <a:cubicBezTo>
                    <a:pt x="41" y="66"/>
                    <a:pt x="42" y="65"/>
                    <a:pt x="42" y="63"/>
                  </a:cubicBezTo>
                  <a:cubicBezTo>
                    <a:pt x="42" y="8"/>
                    <a:pt x="42" y="8"/>
                    <a:pt x="42" y="8"/>
                  </a:cubicBezTo>
                  <a:cubicBezTo>
                    <a:pt x="42" y="6"/>
                    <a:pt x="40" y="3"/>
                    <a:pt x="37" y="3"/>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49" name="Freeform 10"/>
            <p:cNvSpPr/>
            <p:nvPr>
              <p:custDataLst>
                <p:tags r:id="rId13"/>
              </p:custDataLst>
            </p:nvPr>
          </p:nvSpPr>
          <p:spPr bwMode="auto">
            <a:xfrm>
              <a:off x="7540" y="3473"/>
              <a:ext cx="109" cy="121"/>
            </a:xfrm>
            <a:custGeom>
              <a:avLst/>
              <a:gdLst>
                <a:gd name="T0" fmla="*/ 32 w 35"/>
                <a:gd name="T1" fmla="*/ 18 h 39"/>
                <a:gd name="T2" fmla="*/ 17 w 35"/>
                <a:gd name="T3" fmla="*/ 0 h 39"/>
                <a:gd name="T4" fmla="*/ 2 w 35"/>
                <a:gd name="T5" fmla="*/ 18 h 39"/>
                <a:gd name="T6" fmla="*/ 0 w 35"/>
                <a:gd name="T7" fmla="*/ 22 h 39"/>
                <a:gd name="T8" fmla="*/ 3 w 35"/>
                <a:gd name="T9" fmla="*/ 26 h 39"/>
                <a:gd name="T10" fmla="*/ 3 w 35"/>
                <a:gd name="T11" fmla="*/ 26 h 39"/>
                <a:gd name="T12" fmla="*/ 17 w 35"/>
                <a:gd name="T13" fmla="*/ 39 h 39"/>
                <a:gd name="T14" fmla="*/ 32 w 35"/>
                <a:gd name="T15" fmla="*/ 26 h 39"/>
                <a:gd name="T16" fmla="*/ 32 w 35"/>
                <a:gd name="T17" fmla="*/ 26 h 39"/>
                <a:gd name="T18" fmla="*/ 35 w 35"/>
                <a:gd name="T19" fmla="*/ 22 h 39"/>
                <a:gd name="T20" fmla="*/ 32 w 35"/>
                <a:gd name="T21"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9">
                  <a:moveTo>
                    <a:pt x="32" y="18"/>
                  </a:moveTo>
                  <a:cubicBezTo>
                    <a:pt x="32" y="8"/>
                    <a:pt x="25" y="0"/>
                    <a:pt x="17" y="0"/>
                  </a:cubicBezTo>
                  <a:cubicBezTo>
                    <a:pt x="10" y="0"/>
                    <a:pt x="3" y="8"/>
                    <a:pt x="2" y="18"/>
                  </a:cubicBezTo>
                  <a:cubicBezTo>
                    <a:pt x="1" y="18"/>
                    <a:pt x="0" y="20"/>
                    <a:pt x="0" y="22"/>
                  </a:cubicBezTo>
                  <a:cubicBezTo>
                    <a:pt x="0" y="24"/>
                    <a:pt x="1" y="26"/>
                    <a:pt x="3" y="26"/>
                  </a:cubicBezTo>
                  <a:cubicBezTo>
                    <a:pt x="3" y="26"/>
                    <a:pt x="3" y="26"/>
                    <a:pt x="3" y="26"/>
                  </a:cubicBezTo>
                  <a:cubicBezTo>
                    <a:pt x="5" y="34"/>
                    <a:pt x="11" y="39"/>
                    <a:pt x="17" y="39"/>
                  </a:cubicBezTo>
                  <a:cubicBezTo>
                    <a:pt x="24" y="39"/>
                    <a:pt x="30" y="33"/>
                    <a:pt x="32" y="26"/>
                  </a:cubicBezTo>
                  <a:cubicBezTo>
                    <a:pt x="32" y="26"/>
                    <a:pt x="32" y="26"/>
                    <a:pt x="32" y="26"/>
                  </a:cubicBezTo>
                  <a:cubicBezTo>
                    <a:pt x="34" y="26"/>
                    <a:pt x="35" y="24"/>
                    <a:pt x="35" y="22"/>
                  </a:cubicBezTo>
                  <a:cubicBezTo>
                    <a:pt x="35" y="20"/>
                    <a:pt x="34" y="18"/>
                    <a:pt x="32" y="18"/>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50" name="Freeform 11"/>
            <p:cNvSpPr/>
            <p:nvPr>
              <p:custDataLst>
                <p:tags r:id="rId14"/>
              </p:custDataLst>
            </p:nvPr>
          </p:nvSpPr>
          <p:spPr bwMode="auto">
            <a:xfrm>
              <a:off x="7512" y="3591"/>
              <a:ext cx="130" cy="423"/>
            </a:xfrm>
            <a:custGeom>
              <a:avLst/>
              <a:gdLst>
                <a:gd name="T0" fmla="*/ 40 w 42"/>
                <a:gd name="T1" fmla="*/ 75 h 137"/>
                <a:gd name="T2" fmla="*/ 41 w 42"/>
                <a:gd name="T3" fmla="*/ 0 h 137"/>
                <a:gd name="T4" fmla="*/ 39 w 42"/>
                <a:gd name="T5" fmla="*/ 0 h 137"/>
                <a:gd name="T6" fmla="*/ 28 w 42"/>
                <a:gd name="T7" fmla="*/ 24 h 137"/>
                <a:gd name="T8" fmla="*/ 15 w 42"/>
                <a:gd name="T9" fmla="*/ 0 h 137"/>
                <a:gd name="T10" fmla="*/ 6 w 42"/>
                <a:gd name="T11" fmla="*/ 3 h 137"/>
                <a:gd name="T12" fmla="*/ 5 w 42"/>
                <a:gd name="T13" fmla="*/ 3 h 137"/>
                <a:gd name="T14" fmla="*/ 0 w 42"/>
                <a:gd name="T15" fmla="*/ 8 h 137"/>
                <a:gd name="T16" fmla="*/ 0 w 42"/>
                <a:gd name="T17" fmla="*/ 62 h 137"/>
                <a:gd name="T18" fmla="*/ 2 w 42"/>
                <a:gd name="T19" fmla="*/ 67 h 137"/>
                <a:gd name="T20" fmla="*/ 2 w 42"/>
                <a:gd name="T21" fmla="*/ 68 h 137"/>
                <a:gd name="T22" fmla="*/ 7 w 42"/>
                <a:gd name="T23" fmla="*/ 73 h 137"/>
                <a:gd name="T24" fmla="*/ 10 w 42"/>
                <a:gd name="T25" fmla="*/ 72 h 137"/>
                <a:gd name="T26" fmla="*/ 9 w 42"/>
                <a:gd name="T27" fmla="*/ 136 h 137"/>
                <a:gd name="T28" fmla="*/ 25 w 42"/>
                <a:gd name="T29" fmla="*/ 136 h 137"/>
                <a:gd name="T30" fmla="*/ 27 w 42"/>
                <a:gd name="T31" fmla="*/ 74 h 137"/>
                <a:gd name="T32" fmla="*/ 27 w 42"/>
                <a:gd name="T33" fmla="*/ 137 h 137"/>
                <a:gd name="T34" fmla="*/ 41 w 42"/>
                <a:gd name="T35" fmla="*/ 137 h 137"/>
                <a:gd name="T36" fmla="*/ 42 w 42"/>
                <a:gd name="T37" fmla="*/ 81 h 137"/>
                <a:gd name="T38" fmla="*/ 40 w 42"/>
                <a:gd name="T39" fmla="*/ 7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137">
                  <a:moveTo>
                    <a:pt x="40" y="75"/>
                  </a:moveTo>
                  <a:cubicBezTo>
                    <a:pt x="41" y="0"/>
                    <a:pt x="41" y="0"/>
                    <a:pt x="41" y="0"/>
                  </a:cubicBezTo>
                  <a:cubicBezTo>
                    <a:pt x="39" y="0"/>
                    <a:pt x="39" y="0"/>
                    <a:pt x="39" y="0"/>
                  </a:cubicBezTo>
                  <a:cubicBezTo>
                    <a:pt x="28" y="24"/>
                    <a:pt x="28" y="24"/>
                    <a:pt x="28" y="24"/>
                  </a:cubicBezTo>
                  <a:cubicBezTo>
                    <a:pt x="15" y="0"/>
                    <a:pt x="15" y="0"/>
                    <a:pt x="15" y="0"/>
                  </a:cubicBezTo>
                  <a:cubicBezTo>
                    <a:pt x="6" y="3"/>
                    <a:pt x="6" y="3"/>
                    <a:pt x="6" y="3"/>
                  </a:cubicBezTo>
                  <a:cubicBezTo>
                    <a:pt x="6" y="3"/>
                    <a:pt x="6" y="3"/>
                    <a:pt x="5" y="3"/>
                  </a:cubicBezTo>
                  <a:cubicBezTo>
                    <a:pt x="3" y="3"/>
                    <a:pt x="0" y="5"/>
                    <a:pt x="0" y="8"/>
                  </a:cubicBezTo>
                  <a:cubicBezTo>
                    <a:pt x="0" y="62"/>
                    <a:pt x="0" y="62"/>
                    <a:pt x="0" y="62"/>
                  </a:cubicBezTo>
                  <a:cubicBezTo>
                    <a:pt x="0" y="64"/>
                    <a:pt x="1" y="66"/>
                    <a:pt x="2" y="67"/>
                  </a:cubicBezTo>
                  <a:cubicBezTo>
                    <a:pt x="2" y="67"/>
                    <a:pt x="2" y="67"/>
                    <a:pt x="2" y="68"/>
                  </a:cubicBezTo>
                  <a:cubicBezTo>
                    <a:pt x="2" y="71"/>
                    <a:pt x="4" y="73"/>
                    <a:pt x="7" y="73"/>
                  </a:cubicBezTo>
                  <a:cubicBezTo>
                    <a:pt x="8" y="73"/>
                    <a:pt x="9" y="73"/>
                    <a:pt x="10" y="72"/>
                  </a:cubicBezTo>
                  <a:cubicBezTo>
                    <a:pt x="9" y="136"/>
                    <a:pt x="9" y="136"/>
                    <a:pt x="9" y="136"/>
                  </a:cubicBezTo>
                  <a:cubicBezTo>
                    <a:pt x="25" y="136"/>
                    <a:pt x="25" y="136"/>
                    <a:pt x="25" y="136"/>
                  </a:cubicBezTo>
                  <a:cubicBezTo>
                    <a:pt x="27" y="74"/>
                    <a:pt x="27" y="74"/>
                    <a:pt x="27" y="74"/>
                  </a:cubicBezTo>
                  <a:cubicBezTo>
                    <a:pt x="27" y="137"/>
                    <a:pt x="27" y="137"/>
                    <a:pt x="27" y="137"/>
                  </a:cubicBezTo>
                  <a:cubicBezTo>
                    <a:pt x="41" y="137"/>
                    <a:pt x="41" y="137"/>
                    <a:pt x="41" y="137"/>
                  </a:cubicBezTo>
                  <a:cubicBezTo>
                    <a:pt x="42" y="81"/>
                    <a:pt x="42" y="81"/>
                    <a:pt x="42" y="81"/>
                  </a:cubicBezTo>
                  <a:cubicBezTo>
                    <a:pt x="39" y="78"/>
                    <a:pt x="40" y="75"/>
                    <a:pt x="40" y="75"/>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grpSp>
      <p:grpSp>
        <p:nvGrpSpPr>
          <p:cNvPr id="57" name="组合 56"/>
          <p:cNvGrpSpPr/>
          <p:nvPr/>
        </p:nvGrpSpPr>
        <p:grpSpPr>
          <a:xfrm>
            <a:off x="6917690" y="4288155"/>
            <a:ext cx="482600" cy="440055"/>
            <a:chOff x="6946" y="4559"/>
            <a:chExt cx="455" cy="436"/>
          </a:xfrm>
        </p:grpSpPr>
        <p:sp>
          <p:nvSpPr>
            <p:cNvPr id="52" name="Freeform 22"/>
            <p:cNvSpPr/>
            <p:nvPr>
              <p:custDataLst>
                <p:tags r:id="rId15"/>
              </p:custDataLst>
            </p:nvPr>
          </p:nvSpPr>
          <p:spPr bwMode="auto">
            <a:xfrm>
              <a:off x="7068" y="4559"/>
              <a:ext cx="221" cy="250"/>
            </a:xfrm>
            <a:custGeom>
              <a:avLst/>
              <a:gdLst>
                <a:gd name="T0" fmla="*/ 67 w 72"/>
                <a:gd name="T1" fmla="*/ 36 h 81"/>
                <a:gd name="T2" fmla="*/ 36 w 72"/>
                <a:gd name="T3" fmla="*/ 0 h 81"/>
                <a:gd name="T4" fmla="*/ 5 w 72"/>
                <a:gd name="T5" fmla="*/ 37 h 81"/>
                <a:gd name="T6" fmla="*/ 0 w 72"/>
                <a:gd name="T7" fmla="*/ 45 h 81"/>
                <a:gd name="T8" fmla="*/ 5 w 72"/>
                <a:gd name="T9" fmla="*/ 54 h 81"/>
                <a:gd name="T10" fmla="*/ 6 w 72"/>
                <a:gd name="T11" fmla="*/ 54 h 81"/>
                <a:gd name="T12" fmla="*/ 36 w 72"/>
                <a:gd name="T13" fmla="*/ 81 h 81"/>
                <a:gd name="T14" fmla="*/ 66 w 72"/>
                <a:gd name="T15" fmla="*/ 53 h 81"/>
                <a:gd name="T16" fmla="*/ 67 w 72"/>
                <a:gd name="T17" fmla="*/ 53 h 81"/>
                <a:gd name="T18" fmla="*/ 72 w 72"/>
                <a:gd name="T19" fmla="*/ 44 h 81"/>
                <a:gd name="T20" fmla="*/ 67 w 72"/>
                <a:gd name="T21" fmla="*/ 3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81">
                  <a:moveTo>
                    <a:pt x="67" y="36"/>
                  </a:moveTo>
                  <a:cubicBezTo>
                    <a:pt x="65" y="16"/>
                    <a:pt x="52" y="0"/>
                    <a:pt x="36" y="0"/>
                  </a:cubicBezTo>
                  <a:cubicBezTo>
                    <a:pt x="19" y="0"/>
                    <a:pt x="6" y="16"/>
                    <a:pt x="5" y="37"/>
                  </a:cubicBezTo>
                  <a:cubicBezTo>
                    <a:pt x="2" y="38"/>
                    <a:pt x="0" y="41"/>
                    <a:pt x="0" y="45"/>
                  </a:cubicBezTo>
                  <a:cubicBezTo>
                    <a:pt x="0" y="50"/>
                    <a:pt x="2" y="54"/>
                    <a:pt x="5" y="54"/>
                  </a:cubicBezTo>
                  <a:cubicBezTo>
                    <a:pt x="6" y="54"/>
                    <a:pt x="6" y="54"/>
                    <a:pt x="6" y="54"/>
                  </a:cubicBezTo>
                  <a:cubicBezTo>
                    <a:pt x="11" y="69"/>
                    <a:pt x="22" y="81"/>
                    <a:pt x="36" y="81"/>
                  </a:cubicBezTo>
                  <a:cubicBezTo>
                    <a:pt x="50" y="81"/>
                    <a:pt x="62" y="69"/>
                    <a:pt x="66" y="53"/>
                  </a:cubicBezTo>
                  <a:cubicBezTo>
                    <a:pt x="66" y="53"/>
                    <a:pt x="67" y="53"/>
                    <a:pt x="67" y="53"/>
                  </a:cubicBezTo>
                  <a:cubicBezTo>
                    <a:pt x="70" y="53"/>
                    <a:pt x="72" y="49"/>
                    <a:pt x="72" y="44"/>
                  </a:cubicBezTo>
                  <a:cubicBezTo>
                    <a:pt x="72" y="40"/>
                    <a:pt x="70" y="36"/>
                    <a:pt x="67" y="36"/>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53" name="Freeform 23"/>
            <p:cNvSpPr/>
            <p:nvPr>
              <p:custDataLst>
                <p:tags r:id="rId16"/>
              </p:custDataLst>
            </p:nvPr>
          </p:nvSpPr>
          <p:spPr bwMode="auto">
            <a:xfrm>
              <a:off x="6946" y="4803"/>
              <a:ext cx="304" cy="192"/>
            </a:xfrm>
            <a:custGeom>
              <a:avLst/>
              <a:gdLst>
                <a:gd name="T0" fmla="*/ 94 w 98"/>
                <a:gd name="T1" fmla="*/ 4 h 62"/>
                <a:gd name="T2" fmla="*/ 77 w 98"/>
                <a:gd name="T3" fmla="*/ 45 h 62"/>
                <a:gd name="T4" fmla="*/ 54 w 98"/>
                <a:gd name="T5" fmla="*/ 1 h 62"/>
                <a:gd name="T6" fmla="*/ 7 w 98"/>
                <a:gd name="T7" fmla="*/ 20 h 62"/>
                <a:gd name="T8" fmla="*/ 2 w 98"/>
                <a:gd name="T9" fmla="*/ 62 h 62"/>
                <a:gd name="T10" fmla="*/ 72 w 98"/>
                <a:gd name="T11" fmla="*/ 62 h 62"/>
                <a:gd name="T12" fmla="*/ 98 w 98"/>
                <a:gd name="T13" fmla="*/ 40 h 62"/>
                <a:gd name="T14" fmla="*/ 94 w 98"/>
                <a:gd name="T15" fmla="*/ 4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 h="62">
                  <a:moveTo>
                    <a:pt x="94" y="4"/>
                  </a:moveTo>
                  <a:cubicBezTo>
                    <a:pt x="77" y="45"/>
                    <a:pt x="77" y="45"/>
                    <a:pt x="77" y="45"/>
                  </a:cubicBezTo>
                  <a:cubicBezTo>
                    <a:pt x="54" y="1"/>
                    <a:pt x="54" y="1"/>
                    <a:pt x="54" y="1"/>
                  </a:cubicBezTo>
                  <a:cubicBezTo>
                    <a:pt x="36" y="0"/>
                    <a:pt x="15" y="7"/>
                    <a:pt x="7" y="20"/>
                  </a:cubicBezTo>
                  <a:cubicBezTo>
                    <a:pt x="0" y="33"/>
                    <a:pt x="2" y="62"/>
                    <a:pt x="2" y="62"/>
                  </a:cubicBezTo>
                  <a:cubicBezTo>
                    <a:pt x="72" y="62"/>
                    <a:pt x="72" y="62"/>
                    <a:pt x="72" y="62"/>
                  </a:cubicBezTo>
                  <a:cubicBezTo>
                    <a:pt x="98" y="40"/>
                    <a:pt x="98" y="40"/>
                    <a:pt x="98" y="40"/>
                  </a:cubicBezTo>
                  <a:cubicBezTo>
                    <a:pt x="90" y="34"/>
                    <a:pt x="94" y="4"/>
                    <a:pt x="94" y="4"/>
                  </a:cubicBez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sp>
          <p:nvSpPr>
            <p:cNvPr id="56" name="Freeform 25"/>
            <p:cNvSpPr>
              <a:spLocks noEditPoints="1"/>
            </p:cNvSpPr>
            <p:nvPr>
              <p:custDataLst>
                <p:tags r:id="rId17"/>
              </p:custDataLst>
            </p:nvPr>
          </p:nvSpPr>
          <p:spPr bwMode="auto">
            <a:xfrm>
              <a:off x="7285" y="4806"/>
              <a:ext cx="117" cy="166"/>
            </a:xfrm>
            <a:custGeom>
              <a:avLst/>
              <a:gdLst>
                <a:gd name="T0" fmla="*/ 16 w 38"/>
                <a:gd name="T1" fmla="*/ 0 h 54"/>
                <a:gd name="T2" fmla="*/ 21 w 38"/>
                <a:gd name="T3" fmla="*/ 0 h 54"/>
                <a:gd name="T4" fmla="*/ 21 w 38"/>
                <a:gd name="T5" fmla="*/ 3 h 54"/>
                <a:gd name="T6" fmla="*/ 37 w 38"/>
                <a:gd name="T7" fmla="*/ 17 h 54"/>
                <a:gd name="T8" fmla="*/ 26 w 38"/>
                <a:gd name="T9" fmla="*/ 17 h 54"/>
                <a:gd name="T10" fmla="*/ 21 w 38"/>
                <a:gd name="T11" fmla="*/ 12 h 54"/>
                <a:gd name="T12" fmla="*/ 21 w 38"/>
                <a:gd name="T13" fmla="*/ 20 h 54"/>
                <a:gd name="T14" fmla="*/ 38 w 38"/>
                <a:gd name="T15" fmla="*/ 35 h 54"/>
                <a:gd name="T16" fmla="*/ 21 w 38"/>
                <a:gd name="T17" fmla="*/ 48 h 54"/>
                <a:gd name="T18" fmla="*/ 21 w 38"/>
                <a:gd name="T19" fmla="*/ 54 h 54"/>
                <a:gd name="T20" fmla="*/ 16 w 38"/>
                <a:gd name="T21" fmla="*/ 54 h 54"/>
                <a:gd name="T22" fmla="*/ 16 w 38"/>
                <a:gd name="T23" fmla="*/ 48 h 54"/>
                <a:gd name="T24" fmla="*/ 0 w 38"/>
                <a:gd name="T25" fmla="*/ 34 h 54"/>
                <a:gd name="T26" fmla="*/ 11 w 38"/>
                <a:gd name="T27" fmla="*/ 34 h 54"/>
                <a:gd name="T28" fmla="*/ 16 w 38"/>
                <a:gd name="T29" fmla="*/ 40 h 54"/>
                <a:gd name="T30" fmla="*/ 16 w 38"/>
                <a:gd name="T31" fmla="*/ 30 h 54"/>
                <a:gd name="T32" fmla="*/ 0 w 38"/>
                <a:gd name="T33" fmla="*/ 17 h 54"/>
                <a:gd name="T34" fmla="*/ 16 w 38"/>
                <a:gd name="T35" fmla="*/ 3 h 54"/>
                <a:gd name="T36" fmla="*/ 16 w 38"/>
                <a:gd name="T37" fmla="*/ 0 h 54"/>
                <a:gd name="T38" fmla="*/ 16 w 38"/>
                <a:gd name="T39" fmla="*/ 12 h 54"/>
                <a:gd name="T40" fmla="*/ 11 w 38"/>
                <a:gd name="T41" fmla="*/ 15 h 54"/>
                <a:gd name="T42" fmla="*/ 16 w 38"/>
                <a:gd name="T43" fmla="*/ 19 h 54"/>
                <a:gd name="T44" fmla="*/ 16 w 38"/>
                <a:gd name="T45" fmla="*/ 12 h 54"/>
                <a:gd name="T46" fmla="*/ 21 w 38"/>
                <a:gd name="T47" fmla="*/ 40 h 54"/>
                <a:gd name="T48" fmla="*/ 26 w 38"/>
                <a:gd name="T49" fmla="*/ 36 h 54"/>
                <a:gd name="T50" fmla="*/ 21 w 38"/>
                <a:gd name="T51" fmla="*/ 31 h 54"/>
                <a:gd name="T52" fmla="*/ 21 w 38"/>
                <a:gd name="T53"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54">
                  <a:moveTo>
                    <a:pt x="16" y="0"/>
                  </a:moveTo>
                  <a:cubicBezTo>
                    <a:pt x="21" y="0"/>
                    <a:pt x="21" y="0"/>
                    <a:pt x="21" y="0"/>
                  </a:cubicBezTo>
                  <a:cubicBezTo>
                    <a:pt x="21" y="3"/>
                    <a:pt x="21" y="3"/>
                    <a:pt x="21" y="3"/>
                  </a:cubicBezTo>
                  <a:cubicBezTo>
                    <a:pt x="29" y="4"/>
                    <a:pt x="37" y="7"/>
                    <a:pt x="37" y="17"/>
                  </a:cubicBezTo>
                  <a:cubicBezTo>
                    <a:pt x="26" y="17"/>
                    <a:pt x="26" y="17"/>
                    <a:pt x="26" y="17"/>
                  </a:cubicBezTo>
                  <a:cubicBezTo>
                    <a:pt x="26" y="14"/>
                    <a:pt x="24" y="12"/>
                    <a:pt x="21" y="12"/>
                  </a:cubicBezTo>
                  <a:cubicBezTo>
                    <a:pt x="21" y="20"/>
                    <a:pt x="21" y="20"/>
                    <a:pt x="21" y="20"/>
                  </a:cubicBezTo>
                  <a:cubicBezTo>
                    <a:pt x="30" y="23"/>
                    <a:pt x="38" y="26"/>
                    <a:pt x="38" y="35"/>
                  </a:cubicBezTo>
                  <a:cubicBezTo>
                    <a:pt x="38" y="45"/>
                    <a:pt x="30" y="48"/>
                    <a:pt x="21" y="48"/>
                  </a:cubicBezTo>
                  <a:cubicBezTo>
                    <a:pt x="21" y="54"/>
                    <a:pt x="21" y="54"/>
                    <a:pt x="21" y="54"/>
                  </a:cubicBezTo>
                  <a:cubicBezTo>
                    <a:pt x="16" y="54"/>
                    <a:pt x="16" y="54"/>
                    <a:pt x="16" y="54"/>
                  </a:cubicBezTo>
                  <a:cubicBezTo>
                    <a:pt x="16" y="48"/>
                    <a:pt x="16" y="48"/>
                    <a:pt x="16" y="48"/>
                  </a:cubicBezTo>
                  <a:cubicBezTo>
                    <a:pt x="7" y="48"/>
                    <a:pt x="0" y="43"/>
                    <a:pt x="0" y="34"/>
                  </a:cubicBezTo>
                  <a:cubicBezTo>
                    <a:pt x="11" y="34"/>
                    <a:pt x="11" y="34"/>
                    <a:pt x="11" y="34"/>
                  </a:cubicBezTo>
                  <a:cubicBezTo>
                    <a:pt x="11" y="37"/>
                    <a:pt x="13" y="39"/>
                    <a:pt x="16" y="40"/>
                  </a:cubicBezTo>
                  <a:cubicBezTo>
                    <a:pt x="16" y="30"/>
                    <a:pt x="16" y="30"/>
                    <a:pt x="16" y="30"/>
                  </a:cubicBezTo>
                  <a:cubicBezTo>
                    <a:pt x="7" y="28"/>
                    <a:pt x="0" y="26"/>
                    <a:pt x="0" y="17"/>
                  </a:cubicBezTo>
                  <a:cubicBezTo>
                    <a:pt x="0" y="7"/>
                    <a:pt x="8" y="5"/>
                    <a:pt x="16" y="3"/>
                  </a:cubicBezTo>
                  <a:lnTo>
                    <a:pt x="16" y="0"/>
                  </a:lnTo>
                  <a:close/>
                  <a:moveTo>
                    <a:pt x="16" y="12"/>
                  </a:moveTo>
                  <a:cubicBezTo>
                    <a:pt x="14" y="12"/>
                    <a:pt x="11" y="13"/>
                    <a:pt x="11" y="15"/>
                  </a:cubicBezTo>
                  <a:cubicBezTo>
                    <a:pt x="11" y="18"/>
                    <a:pt x="14" y="19"/>
                    <a:pt x="16" y="19"/>
                  </a:cubicBezTo>
                  <a:lnTo>
                    <a:pt x="16" y="12"/>
                  </a:lnTo>
                  <a:close/>
                  <a:moveTo>
                    <a:pt x="21" y="40"/>
                  </a:moveTo>
                  <a:cubicBezTo>
                    <a:pt x="24" y="40"/>
                    <a:pt x="26" y="39"/>
                    <a:pt x="26" y="36"/>
                  </a:cubicBezTo>
                  <a:cubicBezTo>
                    <a:pt x="26" y="34"/>
                    <a:pt x="24" y="32"/>
                    <a:pt x="21" y="31"/>
                  </a:cubicBezTo>
                  <a:lnTo>
                    <a:pt x="21" y="40"/>
                  </a:lnTo>
                  <a:close/>
                </a:path>
              </a:pathLst>
            </a:custGeom>
            <a:solidFill>
              <a:schemeClr val="l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endParaRPr lang="en-US" sz="1015">
                <a:solidFill>
                  <a:schemeClr val="dk1"/>
                </a:solidFill>
                <a:latin typeface="微软雅黑" panose="020B0503020204020204" charset="-122"/>
                <a:ea typeface="微软雅黑" panose="020B0503020204020204" charset="-122"/>
                <a:cs typeface="+mn-ea"/>
                <a:sym typeface="Arial" panose="020B0604020202020204"/>
              </a:endParaRPr>
            </a:p>
          </p:txBody>
        </p:sp>
      </p:grpSp>
      <p:sp>
        <p:nvSpPr>
          <p:cNvPr id="58" name="文本框 57"/>
          <p:cNvSpPr txBox="1"/>
          <p:nvPr/>
        </p:nvSpPr>
        <p:spPr>
          <a:xfrm>
            <a:off x="454025" y="2037715"/>
            <a:ext cx="3469640" cy="1325880"/>
          </a:xfrm>
          <a:prstGeom prst="rect">
            <a:avLst/>
          </a:prstGeom>
          <a:noFill/>
        </p:spPr>
        <p:txBody>
          <a:bodyPr wrap="square" rtlCol="0">
            <a:spAutoFit/>
          </a:bodyPr>
          <a:p>
            <a:r>
              <a:rPr lang="zh-CN" altLang="en-US" sz="1335" b="1">
                <a:solidFill>
                  <a:schemeClr val="tx1">
                    <a:lumMod val="75000"/>
                    <a:lumOff val="25000"/>
                  </a:schemeClr>
                </a:solidFill>
                <a:latin typeface="微软雅黑" panose="020B0503020204020204" charset="-122"/>
                <a:ea typeface="微软雅黑" panose="020B0503020204020204" charset="-122"/>
                <a:sym typeface="+mn-ea"/>
              </a:rPr>
              <a:t>理论价值：</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面向社交媒体的多语言情感分析是社会计算的重要分支，中文和蒙古文作为两种截然不同的语言体系，其在语法、词汇和语义表达上差异显著，为多语言情感分析提供了丰富的研究样本，有助于解决多语言情感分析中的语义对齐等关键问题。</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59" name="3"/>
          <p:cNvSpPr>
            <a:spLocks noChangeArrowheads="1"/>
          </p:cNvSpPr>
          <p:nvPr/>
        </p:nvSpPr>
        <p:spPr bwMode="auto">
          <a:xfrm>
            <a:off x="8388985" y="4203700"/>
            <a:ext cx="3413125" cy="148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nSpc>
                <a:spcPct val="120000"/>
              </a:lnSpc>
              <a:spcBef>
                <a:spcPct val="20000"/>
              </a:spcBef>
            </a:pPr>
            <a:r>
              <a:rPr lang="zh-CN" altLang="en-US" sz="1335" b="1">
                <a:solidFill>
                  <a:schemeClr val="tx1">
                    <a:lumMod val="75000"/>
                    <a:lumOff val="25000"/>
                  </a:schemeClr>
                </a:solidFill>
                <a:latin typeface="微软雅黑" panose="020B0503020204020204" charset="-122"/>
              </a:rPr>
              <a:t>社会价值：</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准确地分析社交媒体中民众的情绪变化有助于国家政府进行新闻传播和社会舆情监控，同时为中蒙经济合作中的跨文化沟通、政策解读等领域提供技术支持。这将进一步推动中蒙关系的深化，促进双方合作的可持续发展</a:t>
            </a:r>
            <a:r>
              <a:rPr lang="zh-CN" altLang="en-US" sz="1335">
                <a:solidFill>
                  <a:schemeClr val="tx1">
                    <a:lumMod val="75000"/>
                    <a:lumOff val="25000"/>
                  </a:schemeClr>
                </a:solidFill>
                <a:latin typeface="汉仪旗黑-55简" panose="00020600040101010101" charset="-128"/>
                <a:ea typeface="汉仪旗黑-55简" panose="00020600040101010101" charset="-128"/>
              </a:rPr>
              <a:t>。</a:t>
            </a:r>
            <a:endParaRPr lang="zh-CN" sz="1400" dirty="0">
              <a:solidFill>
                <a:srgbClr val="000000"/>
              </a:solidFill>
              <a:latin typeface="微软雅黑" panose="020B0503020204020204" charset="-122"/>
            </a:endParaRPr>
          </a:p>
        </p:txBody>
      </p:sp>
      <p:sp>
        <p:nvSpPr>
          <p:cNvPr id="62" name="3"/>
          <p:cNvSpPr>
            <a:spLocks noChangeArrowheads="1"/>
          </p:cNvSpPr>
          <p:nvPr/>
        </p:nvSpPr>
        <p:spPr bwMode="auto">
          <a:xfrm>
            <a:off x="541020" y="4624705"/>
            <a:ext cx="338264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nSpc>
                <a:spcPct val="120000"/>
              </a:lnSpc>
              <a:spcBef>
                <a:spcPct val="20000"/>
              </a:spcBef>
            </a:pPr>
            <a:r>
              <a:rPr lang="zh-CN" altLang="en-US" sz="1335" b="1">
                <a:solidFill>
                  <a:schemeClr val="tx1">
                    <a:lumMod val="75000"/>
                    <a:lumOff val="25000"/>
                  </a:schemeClr>
                </a:solidFill>
                <a:latin typeface="微软雅黑" panose="020B0503020204020204" charset="-122"/>
              </a:rPr>
              <a:t>应用价值：</a:t>
            </a:r>
            <a:r>
              <a:rPr lang="zh-CN" altLang="en-US" sz="1335">
                <a:solidFill>
                  <a:schemeClr val="tx1">
                    <a:lumMod val="75000"/>
                    <a:lumOff val="25000"/>
                  </a:schemeClr>
                </a:solidFill>
                <a:latin typeface="汉仪旗黑-55简" panose="00020600040101010101" charset="-128"/>
                <a:ea typeface="汉仪旗黑-55简" panose="00020600040101010101" charset="-128"/>
              </a:rPr>
              <a:t>通过</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多语言社交媒体文本情感分析</a:t>
            </a:r>
            <a:r>
              <a:rPr lang="zh-CN" altLang="en-US" sz="1335">
                <a:solidFill>
                  <a:schemeClr val="tx1">
                    <a:lumMod val="75000"/>
                    <a:lumOff val="25000"/>
                  </a:schemeClr>
                </a:solidFill>
                <a:latin typeface="汉仪旗黑-55简" panose="00020600040101010101" charset="-128"/>
                <a:ea typeface="汉仪旗黑-55简" panose="00020600040101010101" charset="-128"/>
              </a:rPr>
              <a:t>研究与应用，可为中蒙跨境舆情监测提供情感数据支撑，为蒙文媒体、文化平台提供情感分析工具。</a:t>
            </a:r>
            <a:endParaRPr lang="zh-CN" altLang="en-US" sz="1335">
              <a:solidFill>
                <a:schemeClr val="tx1">
                  <a:lumMod val="75000"/>
                  <a:lumOff val="25000"/>
                </a:schemeClr>
              </a:solidFill>
              <a:latin typeface="汉仪旗黑-55简" panose="00020600040101010101" charset="-128"/>
              <a:ea typeface="汉仪旗黑-55简" panose="00020600040101010101" charset="-128"/>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11"/>
          <p:cNvSpPr txBox="1"/>
          <p:nvPr/>
        </p:nvSpPr>
        <p:spPr>
          <a:xfrm>
            <a:off x="3928269" y="1815928"/>
            <a:ext cx="4335463" cy="1076325"/>
          </a:xfrm>
          <a:prstGeom prst="rect">
            <a:avLst/>
          </a:prstGeom>
          <a:noFill/>
        </p:spPr>
        <p:txBody>
          <a:bodyPr wrap="square" lIns="91440" tIns="45720" rIns="91440" bIns="45720" rtlCol="0">
            <a:spAutoFit/>
          </a:bodyPr>
          <a:lstStyle/>
          <a:p>
            <a:pPr algn="ctr"/>
            <a:r>
              <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PART 02</a:t>
            </a:r>
            <a:endPar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 name="文本框 1"/>
          <p:cNvSpPr txBox="1"/>
          <p:nvPr/>
        </p:nvSpPr>
        <p:spPr>
          <a:xfrm>
            <a:off x="2437765" y="2739390"/>
            <a:ext cx="7317740" cy="1014730"/>
          </a:xfrm>
          <a:prstGeom prst="rect">
            <a:avLst/>
          </a:prstGeom>
          <a:noFill/>
        </p:spPr>
        <p:txBody>
          <a:bodyPr wrap="square" rtlCol="0">
            <a:spAutoFit/>
          </a:bodyPr>
          <a:p>
            <a:pPr algn="ctr">
              <a:lnSpc>
                <a:spcPct val="100000"/>
              </a:lnSpc>
            </a:pP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研究内容及进展</a:t>
            </a:r>
            <a:endPar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6" name="组合 35"/>
          <p:cNvGrpSpPr/>
          <p:nvPr/>
        </p:nvGrpSpPr>
        <p:grpSpPr>
          <a:xfrm>
            <a:off x="0" y="4085590"/>
            <a:ext cx="12192000" cy="2772410"/>
            <a:chOff x="0" y="5835"/>
            <a:chExt cx="19200" cy="4965"/>
          </a:xfrm>
        </p:grpSpPr>
        <p:sp>
          <p:nvSpPr>
            <p:cNvPr id="6" name="任意多边形 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13" name="图片 12"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1036955"/>
            <a:ext cx="756920" cy="756920"/>
          </a:xfrm>
          <a:prstGeom prst="rect">
            <a:avLst/>
          </a:prstGeom>
        </p:spPr>
      </p:pic>
      <p:sp>
        <p:nvSpPr>
          <p:cNvPr id="14" name="圆角矩形 13"/>
          <p:cNvSpPr/>
          <p:nvPr/>
        </p:nvSpPr>
        <p:spPr>
          <a:xfrm>
            <a:off x="2406000" y="3763645"/>
            <a:ext cx="738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custDataLst>
              <p:tags r:id="rId1"/>
            </p:custDataLst>
          </p:nvPr>
        </p:nvSpPr>
        <p:spPr>
          <a:xfrm>
            <a:off x="6788785" y="508000"/>
            <a:ext cx="4276725" cy="398780"/>
          </a:xfrm>
          <a:prstGeom prst="rect">
            <a:avLst/>
          </a:prstGeom>
        </p:spPr>
        <p:txBody>
          <a:bodyPr wrap="square">
            <a:spAutoFit/>
          </a:bodyPr>
          <a:p>
            <a:pPr lvl="0"/>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多语种社交媒体情感语料库构建</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53" name="文本框_1"/>
          <p:cNvSpPr txBox="1"/>
          <p:nvPr>
            <p:custDataLst>
              <p:tags r:id="rId2"/>
            </p:custDataLst>
          </p:nvPr>
        </p:nvSpPr>
        <p:spPr>
          <a:xfrm>
            <a:off x="6788785" y="786765"/>
            <a:ext cx="5060950" cy="786765"/>
          </a:xfrm>
          <a:prstGeom prst="rect">
            <a:avLst/>
          </a:prstGeom>
          <a:noFill/>
        </p:spPr>
        <p:txBody>
          <a:bodyPr lIns="91440" tIns="45720" rIns="91440" bIns="45720" anchor="t" anchorCtr="0"/>
          <a:p>
            <a:pPr algn="just">
              <a:lnSpc>
                <a:spcPct val="150000"/>
              </a:lnSpc>
              <a:spcBef>
                <a:spcPts val="0"/>
              </a:spcBef>
              <a:spcAft>
                <a:spcPts val="0"/>
              </a:spcAft>
            </a:pPr>
            <a:r>
              <a:rPr lang="zh-CN" altLang="en-US" sz="1200">
                <a:solidFill>
                  <a:schemeClr val="tx1">
                    <a:lumMod val="75000"/>
                    <a:lumOff val="25000"/>
                  </a:schemeClr>
                </a:solidFill>
                <a:latin typeface="汉仪旗黑-55简" panose="00020600040101010101" charset="-128"/>
                <a:ea typeface="汉仪旗黑-55简" panose="00020600040101010101" charset="-128"/>
                <a:sym typeface="+mn-ea"/>
              </a:rPr>
              <a:t>本研究构建了涵盖中文、传统蒙文和新蒙文的多语言平行情感语料库，通过机器翻译结合机器校对与人工校对的双重验证机制保障语料质量；并测试了 CNN、BERT 等多种模型在其上的性能表现，验证了语料库在情感分析、机器翻译等任务中的可用性。</a:t>
            </a:r>
            <a:endParaRPr lang="zh-CN" altLang="en-US" sz="12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15" name="圆角矩形 14"/>
          <p:cNvSpPr/>
          <p:nvPr>
            <p:custDataLst>
              <p:tags r:id="rId3"/>
            </p:custDataLst>
          </p:nvPr>
        </p:nvSpPr>
        <p:spPr>
          <a:xfrm>
            <a:off x="6071870" y="605790"/>
            <a:ext cx="687705" cy="687705"/>
          </a:xfrm>
          <a:prstGeom prst="roundRect">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custDataLst>
              <p:tags r:id="rId4"/>
            </p:custDataLst>
          </p:nvPr>
        </p:nvSpPr>
        <p:spPr>
          <a:xfrm>
            <a:off x="5989320" y="668020"/>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01</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23" name="矩形 22"/>
          <p:cNvSpPr/>
          <p:nvPr>
            <p:custDataLst>
              <p:tags r:id="rId5"/>
            </p:custDataLst>
          </p:nvPr>
        </p:nvSpPr>
        <p:spPr>
          <a:xfrm>
            <a:off x="6788785" y="1982470"/>
            <a:ext cx="3724275" cy="398780"/>
          </a:xfrm>
          <a:prstGeom prst="rect">
            <a:avLst/>
          </a:prstGeom>
        </p:spPr>
        <p:txBody>
          <a:bodyPr wrap="square">
            <a:spAutoFit/>
          </a:bodyPr>
          <a:p>
            <a:pPr lvl="0"/>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中文情感分析</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24" name="文本框_1"/>
          <p:cNvSpPr txBox="1"/>
          <p:nvPr>
            <p:custDataLst>
              <p:tags r:id="rId6"/>
            </p:custDataLst>
          </p:nvPr>
        </p:nvSpPr>
        <p:spPr>
          <a:xfrm>
            <a:off x="6788785" y="2242185"/>
            <a:ext cx="5060950" cy="1412875"/>
          </a:xfrm>
          <a:prstGeom prst="rect">
            <a:avLst/>
          </a:prstGeom>
          <a:noFill/>
        </p:spPr>
        <p:txBody>
          <a:bodyPr lIns="91440" tIns="45720" rIns="91440" bIns="45720" anchor="t" anchorCtr="0"/>
          <a:p>
            <a:pPr algn="just">
              <a:lnSpc>
                <a:spcPct val="150000"/>
              </a:lnSpc>
              <a:spcBef>
                <a:spcPts val="0"/>
              </a:spcBef>
              <a:spcAft>
                <a:spcPts val="0"/>
              </a:spcAft>
              <a:buClrTx/>
              <a:buSzTx/>
              <a:buFontTx/>
            </a:pPr>
            <a:r>
              <a:rPr lang="zh-CN" altLang="en-US" sz="1200">
                <a:solidFill>
                  <a:schemeClr val="tx1">
                    <a:lumMod val="75000"/>
                    <a:lumOff val="25000"/>
                  </a:schemeClr>
                </a:solidFill>
                <a:latin typeface="汉仪旗黑-55简" panose="00020600040101010101" charset="-128"/>
                <a:ea typeface="汉仪旗黑-55简" panose="00020600040101010101" charset="-128"/>
                <a:sym typeface="+mn-ea"/>
              </a:rPr>
              <a:t>本研究针对社交媒体文本碎片化、口语化且有效情感信息稀缺的问题，提出多尺度特征与混合注意力机制的情感分类模型。该模型通过提取全局语义特征，</a:t>
            </a:r>
            <a:r>
              <a:rPr lang="zh-CN" altLang="en-US" sz="1200">
                <a:solidFill>
                  <a:schemeClr val="tx1">
                    <a:lumMod val="75000"/>
                    <a:lumOff val="25000"/>
                  </a:schemeClr>
                </a:solidFill>
                <a:latin typeface="汉仪旗黑-55简" panose="00020600040101010101" charset="-128"/>
                <a:ea typeface="汉仪旗黑-55简" panose="00020600040101010101" charset="-128"/>
                <a:sym typeface="+mn-ea"/>
              </a:rPr>
              <a:t>字符表层特征以及 HowNet 义原深层语义，结合混合注意力机制实现特征自适应融合。有效提升了情感分类的准确性与鲁棒性。</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a:p>
            <a:pPr>
              <a:lnSpc>
                <a:spcPct val="150000"/>
              </a:lnSpc>
              <a:spcBef>
                <a:spcPts val="0"/>
              </a:spcBef>
              <a:spcAft>
                <a:spcPts val="0"/>
              </a:spcAft>
            </a:pPr>
            <a:endParaRPr lang="zh-CN" altLang="en-US" sz="1335" dirty="0">
              <a:solidFill>
                <a:schemeClr val="tx1">
                  <a:lumMod val="75000"/>
                  <a:lumOff val="25000"/>
                </a:schemeClr>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7" name="圆角矩形 26"/>
          <p:cNvSpPr/>
          <p:nvPr>
            <p:custDataLst>
              <p:tags r:id="rId7"/>
            </p:custDataLst>
          </p:nvPr>
        </p:nvSpPr>
        <p:spPr>
          <a:xfrm>
            <a:off x="6071870" y="2080260"/>
            <a:ext cx="687705" cy="687705"/>
          </a:xfrm>
          <a:prstGeom prst="roundRect">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文本框 28"/>
          <p:cNvSpPr txBox="1"/>
          <p:nvPr>
            <p:custDataLst>
              <p:tags r:id="rId8"/>
            </p:custDataLst>
          </p:nvPr>
        </p:nvSpPr>
        <p:spPr>
          <a:xfrm>
            <a:off x="5989320" y="2142490"/>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02</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31" name="矩形 30"/>
          <p:cNvSpPr/>
          <p:nvPr>
            <p:custDataLst>
              <p:tags r:id="rId9"/>
            </p:custDataLst>
          </p:nvPr>
        </p:nvSpPr>
        <p:spPr>
          <a:xfrm>
            <a:off x="6788785" y="4542790"/>
            <a:ext cx="3724275" cy="398780"/>
          </a:xfrm>
          <a:prstGeom prst="rect">
            <a:avLst/>
          </a:prstGeom>
        </p:spPr>
        <p:txBody>
          <a:bodyPr wrap="square">
            <a:spAutoFit/>
          </a:bodyPr>
          <a:p>
            <a:pPr lvl="0" algn="l">
              <a:buClrTx/>
              <a:buSzTx/>
              <a:buFontTx/>
            </a:pPr>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多语言文本情感分析</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32" name="文本框_1"/>
          <p:cNvSpPr txBox="1"/>
          <p:nvPr>
            <p:custDataLst>
              <p:tags r:id="rId10"/>
            </p:custDataLst>
          </p:nvPr>
        </p:nvSpPr>
        <p:spPr>
          <a:xfrm>
            <a:off x="6788785" y="4916805"/>
            <a:ext cx="5060315" cy="786765"/>
          </a:xfrm>
          <a:prstGeom prst="rect">
            <a:avLst/>
          </a:prstGeom>
          <a:noFill/>
        </p:spPr>
        <p:txBody>
          <a:bodyPr lIns="91440" tIns="45720" rIns="91440" bIns="45720" anchor="t" anchorCtr="0"/>
          <a:p>
            <a:pPr algn="just">
              <a:lnSpc>
                <a:spcPct val="150000"/>
              </a:lnSpc>
              <a:spcBef>
                <a:spcPts val="0"/>
              </a:spcBef>
              <a:spcAft>
                <a:spcPts val="0"/>
              </a:spcAft>
              <a:buClrTx/>
              <a:buSzTx/>
              <a:buFontTx/>
            </a:pPr>
            <a:r>
              <a:rPr lang="zh-CN" altLang="en-US" sz="1200">
                <a:solidFill>
                  <a:schemeClr val="tx1">
                    <a:lumMod val="75000"/>
                    <a:lumOff val="25000"/>
                  </a:schemeClr>
                </a:solidFill>
                <a:latin typeface="汉仪旗黑-55简" panose="00020600040101010101" charset="-128"/>
                <a:ea typeface="汉仪旗黑-55简" panose="00020600040101010101" charset="-128"/>
                <a:sym typeface="+mn-ea"/>
              </a:rPr>
              <a:t>本研究聚焦多语言文本情感分析中的语言差异适配与低资源语言建模难题，拟构建适配中文、传统蒙文和新蒙文的多语言情感分析框架，通过在多语言平行情感语料库上开展实验，为多语言舆情分析与跨文化情感理解提供技术支撑。</a:t>
            </a:r>
            <a:endParaRPr lang="zh-CN" altLang="en-US" sz="1200">
              <a:solidFill>
                <a:schemeClr val="tx1">
                  <a:lumMod val="75000"/>
                  <a:lumOff val="25000"/>
                </a:schemeClr>
              </a:solidFill>
              <a:latin typeface="汉仪旗黑-55简" panose="00020600040101010101" charset="-128"/>
              <a:ea typeface="汉仪旗黑-55简" panose="00020600040101010101" charset="-128"/>
              <a:sym typeface="+mn-ea"/>
            </a:endParaRPr>
          </a:p>
          <a:p>
            <a:pPr>
              <a:lnSpc>
                <a:spcPct val="150000"/>
              </a:lnSpc>
              <a:spcBef>
                <a:spcPts val="0"/>
              </a:spcBef>
              <a:spcAft>
                <a:spcPts val="0"/>
              </a:spcAft>
            </a:pPr>
            <a:endParaRPr lang="zh-CN" altLang="en-US" sz="1335" dirty="0">
              <a:solidFill>
                <a:schemeClr val="tx1">
                  <a:lumMod val="75000"/>
                  <a:lumOff val="25000"/>
                </a:schemeClr>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33" name="圆角矩形 32"/>
          <p:cNvSpPr/>
          <p:nvPr>
            <p:custDataLst>
              <p:tags r:id="rId11"/>
            </p:custDataLst>
          </p:nvPr>
        </p:nvSpPr>
        <p:spPr>
          <a:xfrm>
            <a:off x="6071870" y="4640580"/>
            <a:ext cx="687705" cy="687705"/>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文本框 33"/>
          <p:cNvSpPr txBox="1"/>
          <p:nvPr>
            <p:custDataLst>
              <p:tags r:id="rId12"/>
            </p:custDataLst>
          </p:nvPr>
        </p:nvSpPr>
        <p:spPr>
          <a:xfrm>
            <a:off x="5989320" y="4702810"/>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04</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36" name="圆角矩形 35"/>
          <p:cNvSpPr/>
          <p:nvPr/>
        </p:nvSpPr>
        <p:spPr>
          <a:xfrm>
            <a:off x="1400175" y="1741805"/>
            <a:ext cx="4235450" cy="3457575"/>
          </a:xfrm>
          <a:prstGeom prst="roundRect">
            <a:avLst>
              <a:gd name="adj" fmla="val 4977"/>
            </a:avLst>
          </a:prstGeom>
          <a:blipFill rotWithShape="1">
            <a:blip r:embed="rId1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 name="圆角矩形 36"/>
          <p:cNvSpPr/>
          <p:nvPr/>
        </p:nvSpPr>
        <p:spPr>
          <a:xfrm>
            <a:off x="864870" y="3472180"/>
            <a:ext cx="2175510" cy="2091690"/>
          </a:xfrm>
          <a:prstGeom prst="roundRect">
            <a:avLst>
              <a:gd name="adj" fmla="val 4977"/>
            </a:avLst>
          </a:prstGeom>
          <a:solidFill>
            <a:srgbClr val="5E7397">
              <a:alpha val="4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文本框 37"/>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研究内容</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40" name="椭圆 39"/>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43" name="任意多边形 42"/>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4" name="任意多边形 43"/>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 name="圆角矩形 1"/>
          <p:cNvSpPr/>
          <p:nvPr>
            <p:custDataLst>
              <p:tags r:id="rId14"/>
            </p:custDataLst>
          </p:nvPr>
        </p:nvSpPr>
        <p:spPr>
          <a:xfrm>
            <a:off x="6071870" y="3538855"/>
            <a:ext cx="687705" cy="687705"/>
          </a:xfrm>
          <a:prstGeom prst="roundRect">
            <a:avLst/>
          </a:prstGeom>
          <a:solidFill>
            <a:srgbClr val="FCB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文本框 2"/>
          <p:cNvSpPr txBox="1"/>
          <p:nvPr>
            <p:custDataLst>
              <p:tags r:id="rId15"/>
            </p:custDataLst>
          </p:nvPr>
        </p:nvSpPr>
        <p:spPr>
          <a:xfrm>
            <a:off x="5989320" y="3610610"/>
            <a:ext cx="852805" cy="545465"/>
          </a:xfrm>
          <a:prstGeom prst="rect">
            <a:avLst/>
          </a:prstGeom>
          <a:noFill/>
        </p:spPr>
        <p:txBody>
          <a:bodyPr vert="horz" wrap="square" rtlCol="0">
            <a:noAutofit/>
          </a:bodyPr>
          <a:p>
            <a:pPr algn="ctr"/>
            <a:r>
              <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rPr>
              <a:t>03</a:t>
            </a:r>
            <a:endParaRPr lang="en-US" altLang="zh-CN" sz="3200" dirty="0">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7" name="矩形 6"/>
          <p:cNvSpPr/>
          <p:nvPr>
            <p:custDataLst>
              <p:tags r:id="rId16"/>
            </p:custDataLst>
          </p:nvPr>
        </p:nvSpPr>
        <p:spPr>
          <a:xfrm>
            <a:off x="6842125" y="3475355"/>
            <a:ext cx="3724275" cy="398780"/>
          </a:xfrm>
          <a:prstGeom prst="rect">
            <a:avLst/>
          </a:prstGeom>
        </p:spPr>
        <p:txBody>
          <a:bodyPr wrap="square">
            <a:spAutoFit/>
          </a:bodyPr>
          <a:p>
            <a:pPr lvl="0"/>
            <a:r>
              <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蒙文情感分析</a:t>
            </a:r>
            <a:endParaRPr lang="zh-CN" altLang="en-US" sz="20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8" name="文本框 7"/>
          <p:cNvSpPr txBox="1"/>
          <p:nvPr/>
        </p:nvSpPr>
        <p:spPr>
          <a:xfrm>
            <a:off x="6842125" y="3854450"/>
            <a:ext cx="5007610" cy="645160"/>
          </a:xfrm>
          <a:prstGeom prst="rect">
            <a:avLst/>
          </a:prstGeom>
          <a:noFill/>
        </p:spPr>
        <p:txBody>
          <a:bodyPr wrap="square" rtlCol="0">
            <a:spAutoFit/>
          </a:bodyPr>
          <a:p>
            <a:pPr indent="0" fontAlgn="auto">
              <a:lnSpc>
                <a:spcPct val="150000"/>
              </a:lnSpc>
            </a:pPr>
            <a:r>
              <a:rPr lang="zh-CN" altLang="en-US" sz="1200">
                <a:solidFill>
                  <a:schemeClr val="tx1">
                    <a:lumMod val="75000"/>
                    <a:lumOff val="25000"/>
                  </a:schemeClr>
                </a:solidFill>
                <a:latin typeface="汉仪旗黑-55简" panose="00020600040101010101" charset="-128"/>
                <a:ea typeface="汉仪旗黑-55简" panose="00020600040101010101" charset="-128"/>
              </a:rPr>
              <a:t>本研究聚焦蒙文情感特征依赖捕捉不足、预训练模型泛化差的问题，拟构建适配蒙文的情感分析框架，为蒙文信息处理提供技术支撑。</a:t>
            </a:r>
            <a:endParaRPr lang="zh-CN" altLang="en-US" sz="1200">
              <a:solidFill>
                <a:schemeClr val="tx1">
                  <a:lumMod val="75000"/>
                  <a:lumOff val="25000"/>
                </a:schemeClr>
              </a:solidFill>
              <a:latin typeface="汉仪旗黑-55简" panose="00020600040101010101" charset="-128"/>
              <a:ea typeface="汉仪旗黑-55简" panose="00020600040101010101" charset="-128"/>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进展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22" name="任意多边形 21"/>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 name="文本框 1"/>
          <p:cNvSpPr txBox="1"/>
          <p:nvPr/>
        </p:nvSpPr>
        <p:spPr>
          <a:xfrm>
            <a:off x="3566795" y="946150"/>
            <a:ext cx="4064000" cy="368300"/>
          </a:xfrm>
          <a:prstGeom prst="rect">
            <a:avLst/>
          </a:prstGeom>
          <a:noFill/>
        </p:spPr>
        <p:txBody>
          <a:bodyPr wrap="square" rtlCol="0">
            <a:spAutoFit/>
          </a:bodyPr>
          <a:p>
            <a:pPr algn="ctr"/>
            <a:r>
              <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多语种社交媒体情感语料库构建</a:t>
            </a:r>
            <a:endPar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3" name="文本框 2"/>
          <p:cNvSpPr txBox="1"/>
          <p:nvPr>
            <p:custDataLst>
              <p:tags r:id="rId1"/>
            </p:custDataLst>
          </p:nvPr>
        </p:nvSpPr>
        <p:spPr>
          <a:xfrm>
            <a:off x="2157095" y="2501265"/>
            <a:ext cx="2250440" cy="363220"/>
          </a:xfrm>
          <a:prstGeom prst="rect">
            <a:avLst/>
          </a:prstGeom>
          <a:noFill/>
        </p:spPr>
        <p:txBody>
          <a:bodyPr wrap="square" rtlCol="0"/>
          <a:lstStyle/>
          <a:p>
            <a:pPr algn="r">
              <a:lnSpc>
                <a:spcPct val="110000"/>
              </a:lnSpc>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蒙古文资源稀缺问题</a:t>
            </a:r>
            <a:endParaRPr lang="zh-CN" altLang="en-US" sz="1800" b="1" spc="74" dirty="0">
              <a:solidFill>
                <a:schemeClr val="tx1">
                  <a:lumMod val="75000"/>
                  <a:lumOff val="25000"/>
                </a:schemeClr>
              </a:solidFill>
              <a:latin typeface="汉仪旗黑-55简" panose="00020600040101010101" charset="-128"/>
              <a:ea typeface="汉仪旗黑-55简" panose="00020600040101010101" charset="-128"/>
              <a:cs typeface="+mj-ea"/>
              <a:sym typeface="+mn-ea"/>
            </a:endParaRPr>
          </a:p>
        </p:txBody>
      </p:sp>
      <p:sp>
        <p:nvSpPr>
          <p:cNvPr id="4" name="文本框 3"/>
          <p:cNvSpPr txBox="1"/>
          <p:nvPr>
            <p:custDataLst>
              <p:tags r:id="rId2"/>
            </p:custDataLst>
          </p:nvPr>
        </p:nvSpPr>
        <p:spPr>
          <a:xfrm>
            <a:off x="6696710" y="2440305"/>
            <a:ext cx="3019425" cy="647065"/>
          </a:xfrm>
          <a:prstGeom prst="rect">
            <a:avLst/>
          </a:prstGeom>
          <a:noFill/>
        </p:spPr>
        <p:txBody>
          <a:bodyPr wrap="square" rtlCol="0"/>
          <a:lstStyle/>
          <a:p>
            <a:pPr lvl="0" algn="ctr"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翻译质量低、可读性差</a:t>
            </a:r>
            <a:endParaRPr lang="zh-CN" sz="1800" spc="74">
              <a:solidFill>
                <a:srgbClr val="000000"/>
              </a:solidFill>
              <a:latin typeface="微软雅黑" panose="020B0503020204020204" charset="-122"/>
              <a:ea typeface="微软雅黑" panose="020B0503020204020204" charset="-122"/>
              <a:cs typeface="+mj-ea"/>
              <a:sym typeface="+mn-ea"/>
            </a:endParaRPr>
          </a:p>
        </p:txBody>
      </p:sp>
      <p:sp>
        <p:nvSpPr>
          <p:cNvPr id="18" name="椭圆 17"/>
          <p:cNvSpPr/>
          <p:nvPr>
            <p:custDataLst>
              <p:tags r:id="rId3"/>
            </p:custDataLst>
          </p:nvPr>
        </p:nvSpPr>
        <p:spPr>
          <a:xfrm>
            <a:off x="4978712" y="205025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5" name="椭圆 4"/>
          <p:cNvSpPr/>
          <p:nvPr>
            <p:custDataLst>
              <p:tags r:id="rId4"/>
            </p:custDataLst>
          </p:nvPr>
        </p:nvSpPr>
        <p:spPr>
          <a:xfrm>
            <a:off x="5021892" y="416290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4" name="文本框 23"/>
          <p:cNvSpPr txBox="1"/>
          <p:nvPr>
            <p:custDataLst>
              <p:tags r:id="rId5"/>
            </p:custDataLst>
          </p:nvPr>
        </p:nvSpPr>
        <p:spPr>
          <a:xfrm>
            <a:off x="2055495" y="4428490"/>
            <a:ext cx="2453640" cy="363220"/>
          </a:xfrm>
          <a:prstGeom prst="rect">
            <a:avLst/>
          </a:prstGeom>
          <a:noFill/>
        </p:spPr>
        <p:txBody>
          <a:bodyPr wrap="square" rtlCol="0"/>
          <a:p>
            <a:pPr algn="just">
              <a:lnSpc>
                <a:spcPct val="110000"/>
              </a:lnSpc>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采用机器翻译将中文翻译成对应的传统蒙文、新蒙文</a:t>
            </a:r>
            <a:endParaRPr lang="zh-CN" altLang="en-US" sz="18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25" name="文本框 24"/>
          <p:cNvSpPr txBox="1"/>
          <p:nvPr>
            <p:custDataLst>
              <p:tags r:id="rId6"/>
            </p:custDataLst>
          </p:nvPr>
        </p:nvSpPr>
        <p:spPr>
          <a:xfrm>
            <a:off x="6696710" y="4387215"/>
            <a:ext cx="3019425" cy="397510"/>
          </a:xfrm>
          <a:prstGeom prst="rect">
            <a:avLst/>
          </a:prstGeom>
          <a:noFill/>
        </p:spPr>
        <p:txBody>
          <a:bodyPr wrap="square" rtlCol="0"/>
          <a:p>
            <a:pPr lvl="0" algn="just" fontAlgn="auto">
              <a:lnSpc>
                <a:spcPct val="110000"/>
              </a:lnSpc>
              <a:spcBef>
                <a:spcPts val="0"/>
              </a:spcBef>
              <a:buClrTx/>
              <a:buSzTx/>
              <a:buFontTx/>
            </a:pP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机器+人工双重校验机制；并测试</a:t>
            </a:r>
            <a:r>
              <a:rPr lang="zh-CN" altLang="en-US" sz="1800">
                <a:solidFill>
                  <a:schemeClr val="tx1">
                    <a:lumMod val="75000"/>
                    <a:lumOff val="25000"/>
                  </a:schemeClr>
                </a:solidFill>
                <a:latin typeface="汉仪旗黑-55简" panose="00020600040101010101" charset="-128"/>
                <a:ea typeface="汉仪旗黑-55简" panose="00020600040101010101" charset="-128"/>
                <a:sym typeface="+mn-ea"/>
              </a:rPr>
              <a:t>多种模型在其上的性能表现，确保语料库的质量</a:t>
            </a:r>
            <a:endPar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下箭头 5"/>
          <p:cNvSpPr/>
          <p:nvPr/>
        </p:nvSpPr>
        <p:spPr>
          <a:xfrm>
            <a:off x="3106420" y="3235325"/>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下箭头 7"/>
          <p:cNvSpPr/>
          <p:nvPr/>
        </p:nvSpPr>
        <p:spPr>
          <a:xfrm>
            <a:off x="7973060" y="3235325"/>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进展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55" name="图片 54" descr="templates\docerresourceshop\icons\\343435383135323b333733333032353bcec4b5b5"/>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881370" y="4826000"/>
            <a:ext cx="466090" cy="466090"/>
          </a:xfrm>
          <a:prstGeom prst="rect">
            <a:avLst/>
          </a:prstGeom>
        </p:spPr>
      </p:pic>
      <p:pic>
        <p:nvPicPr>
          <p:cNvPr id="56" name="图片 55" descr="templates\docerresourceshop\icons\\32303038313138363b32303039303531343bd1adbbb7"/>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5875020" y="3761740"/>
            <a:ext cx="494030" cy="494030"/>
          </a:xfrm>
          <a:prstGeom prst="rect">
            <a:avLst/>
          </a:prstGeom>
        </p:spPr>
      </p:pic>
      <p:cxnSp>
        <p:nvCxnSpPr>
          <p:cNvPr id="2" name="直接连接符 1"/>
          <p:cNvCxnSpPr/>
          <p:nvPr>
            <p:custDataLst>
              <p:tags r:id="rId7"/>
            </p:custDataLst>
          </p:nvPr>
        </p:nvCxnSpPr>
        <p:spPr>
          <a:xfrm>
            <a:off x="3410701" y="2167564"/>
            <a:ext cx="0" cy="1984733"/>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8"/>
            </p:custDataLst>
          </p:nvPr>
        </p:nvCxnSpPr>
        <p:spPr>
          <a:xfrm flipH="1" flipV="1">
            <a:off x="3396322" y="4152297"/>
            <a:ext cx="238255" cy="1418"/>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custDataLst>
              <p:tags r:id="rId9"/>
            </p:custDataLst>
          </p:nvPr>
        </p:nvCxnSpPr>
        <p:spPr>
          <a:xfrm flipH="1" flipV="1">
            <a:off x="3133157" y="3156701"/>
            <a:ext cx="252730" cy="4445"/>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sp>
        <p:nvSpPr>
          <p:cNvPr id="4" name="Freeform 2"/>
          <p:cNvSpPr/>
          <p:nvPr>
            <p:custDataLst>
              <p:tags r:id="rId10"/>
            </p:custDataLst>
          </p:nvPr>
        </p:nvSpPr>
        <p:spPr>
          <a:xfrm>
            <a:off x="1980620" y="2516574"/>
            <a:ext cx="1195940" cy="1189830"/>
          </a:xfrm>
          <a:custGeom>
            <a:avLst/>
            <a:gdLst>
              <a:gd name="connsiteX0" fmla="*/ 0 w 1346941"/>
              <a:gd name="connsiteY0" fmla="*/ 670031 h 1340062"/>
              <a:gd name="connsiteX1" fmla="*/ 673471 w 1346941"/>
              <a:gd name="connsiteY1" fmla="*/ 0 h 1340062"/>
              <a:gd name="connsiteX2" fmla="*/ 1346942 w 1346941"/>
              <a:gd name="connsiteY2" fmla="*/ 670031 h 1340062"/>
              <a:gd name="connsiteX3" fmla="*/ 673471 w 1346941"/>
              <a:gd name="connsiteY3" fmla="*/ 1340062 h 1340062"/>
              <a:gd name="connsiteX4" fmla="*/ 0 w 1346941"/>
              <a:gd name="connsiteY4" fmla="*/ 670031 h 1340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941" h="1340062">
                <a:moveTo>
                  <a:pt x="0" y="670031"/>
                </a:moveTo>
                <a:cubicBezTo>
                  <a:pt x="0" y="299983"/>
                  <a:pt x="301523" y="0"/>
                  <a:pt x="673471" y="0"/>
                </a:cubicBezTo>
                <a:cubicBezTo>
                  <a:pt x="1045419" y="0"/>
                  <a:pt x="1346942" y="299983"/>
                  <a:pt x="1346942" y="670031"/>
                </a:cubicBezTo>
                <a:cubicBezTo>
                  <a:pt x="1346942" y="1040079"/>
                  <a:pt x="1045419" y="1340062"/>
                  <a:pt x="673471" y="1340062"/>
                </a:cubicBezTo>
                <a:cubicBezTo>
                  <a:pt x="301523" y="1340062"/>
                  <a:pt x="0" y="1040079"/>
                  <a:pt x="0" y="670031"/>
                </a:cubicBez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350" b="1" dirty="0">
                <a:solidFill>
                  <a:schemeClr val="tx1"/>
                </a:solidFill>
                <a:latin typeface="微软雅黑" panose="020B0503020204020204" charset="-122"/>
                <a:ea typeface="微软雅黑" panose="020B0503020204020204" charset="-122"/>
              </a:rPr>
              <a:t>语料库</a:t>
            </a:r>
            <a:r>
              <a:rPr lang="zh-CN" altLang="en-US" sz="1350" b="1" dirty="0">
                <a:solidFill>
                  <a:schemeClr val="tx1"/>
                </a:solidFill>
                <a:latin typeface="微软雅黑" panose="020B0503020204020204" charset="-122"/>
                <a:ea typeface="微软雅黑" panose="020B0503020204020204" charset="-122"/>
              </a:rPr>
              <a:t>构建</a:t>
            </a:r>
            <a:endParaRPr lang="zh-CN" altLang="en-US" sz="1350" b="1" dirty="0">
              <a:solidFill>
                <a:schemeClr val="tx1"/>
              </a:solidFill>
              <a:latin typeface="微软雅黑" panose="020B0503020204020204" charset="-122"/>
              <a:ea typeface="微软雅黑" panose="020B0503020204020204" charset="-122"/>
            </a:endParaRPr>
          </a:p>
        </p:txBody>
      </p:sp>
      <p:sp>
        <p:nvSpPr>
          <p:cNvPr id="5" name="Rounded Rectangle 5"/>
          <p:cNvSpPr/>
          <p:nvPr>
            <p:custDataLst>
              <p:tags r:id="rId11"/>
            </p:custDataLst>
          </p:nvPr>
        </p:nvSpPr>
        <p:spPr>
          <a:xfrm>
            <a:off x="3657600" y="3884295"/>
            <a:ext cx="1541780" cy="564515"/>
          </a:xfrm>
          <a:prstGeom prst="roundRect">
            <a:avLst>
              <a:gd name="adj" fmla="val 50000"/>
            </a:avLst>
          </a:prstGeom>
          <a:solidFill>
            <a:schemeClr val="accent1">
              <a:lumMod val="60000"/>
              <a:lumOff val="40000"/>
            </a:schemeClr>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6151" tIns="36151" rIns="36151" bIns="36151" numCol="1" spcCol="953" anchor="ctr" anchorCtr="0">
            <a:noAutofit/>
          </a:bodyPr>
          <a:lstStyle/>
          <a:p>
            <a:pPr algn="ctr" defTabSz="711200">
              <a:lnSpc>
                <a:spcPct val="90000"/>
              </a:lnSpc>
              <a:spcBef>
                <a:spcPct val="0"/>
              </a:spcBef>
              <a:spcAft>
                <a:spcPct val="35000"/>
              </a:spcAft>
            </a:pPr>
            <a:r>
              <a:rPr lang="zh-CN" altLang="en-US" b="1" smtClean="0">
                <a:solidFill>
                  <a:schemeClr val="dk1"/>
                </a:solidFill>
                <a:latin typeface="微软雅黑" panose="020B0503020204020204" charset="-122"/>
                <a:ea typeface="微软雅黑" panose="020B0503020204020204" charset="-122"/>
                <a:sym typeface="+mn-ea"/>
              </a:rPr>
              <a:t>机器</a:t>
            </a:r>
            <a:r>
              <a:rPr lang="en-US" altLang="zh-CN" b="1" smtClean="0">
                <a:solidFill>
                  <a:schemeClr val="dk1"/>
                </a:solidFill>
                <a:latin typeface="微软雅黑" panose="020B0503020204020204" charset="-122"/>
                <a:ea typeface="微软雅黑" panose="020B0503020204020204" charset="-122"/>
                <a:sym typeface="+mn-ea"/>
              </a:rPr>
              <a:t>+</a:t>
            </a:r>
            <a:r>
              <a:rPr lang="zh-CN" altLang="en-US" b="1" smtClean="0">
                <a:solidFill>
                  <a:schemeClr val="dk1"/>
                </a:solidFill>
                <a:latin typeface="微软雅黑" panose="020B0503020204020204" charset="-122"/>
                <a:ea typeface="微软雅黑" panose="020B0503020204020204" charset="-122"/>
                <a:sym typeface="+mn-ea"/>
              </a:rPr>
              <a:t>人工校验机制</a:t>
            </a:r>
            <a:endParaRPr lang="en-US" sz="1400" dirty="0">
              <a:solidFill>
                <a:srgbClr val="FFFFFF"/>
              </a:solidFill>
              <a:latin typeface="微软雅黑" panose="020B0503020204020204" charset="-122"/>
              <a:ea typeface="微软雅黑" panose="020B0503020204020204" charset="-122"/>
            </a:endParaRPr>
          </a:p>
        </p:txBody>
      </p:sp>
      <p:cxnSp>
        <p:nvCxnSpPr>
          <p:cNvPr id="6" name="直接连接符 5"/>
          <p:cNvCxnSpPr>
            <a:stCxn id="7" idx="1"/>
          </p:cNvCxnSpPr>
          <p:nvPr>
            <p:custDataLst>
              <p:tags r:id="rId12"/>
            </p:custDataLst>
          </p:nvPr>
        </p:nvCxnSpPr>
        <p:spPr>
          <a:xfrm flipH="1" flipV="1">
            <a:off x="3417570" y="2167255"/>
            <a:ext cx="238125" cy="1270"/>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sp>
        <p:nvSpPr>
          <p:cNvPr id="7" name="Rounded Rectangle 3"/>
          <p:cNvSpPr/>
          <p:nvPr>
            <p:custDataLst>
              <p:tags r:id="rId13"/>
            </p:custDataLst>
          </p:nvPr>
        </p:nvSpPr>
        <p:spPr>
          <a:xfrm>
            <a:off x="3655695" y="2023110"/>
            <a:ext cx="1541780" cy="291465"/>
          </a:xfrm>
          <a:prstGeom prst="roundRect">
            <a:avLst>
              <a:gd name="adj" fmla="val 50000"/>
            </a:avLst>
          </a:prstGeom>
          <a:solidFill>
            <a:schemeClr val="accent1">
              <a:lumMod val="60000"/>
              <a:lumOff val="40000"/>
            </a:schemeClr>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6151" tIns="36151" rIns="36151" bIns="36151" numCol="1" spcCol="953" anchor="ctr" anchorCtr="0">
            <a:noAutofit/>
          </a:bodyPr>
          <a:lstStyle/>
          <a:p>
            <a:pPr algn="ctr" defTabSz="711200">
              <a:lnSpc>
                <a:spcPct val="90000"/>
              </a:lnSpc>
              <a:spcBef>
                <a:spcPct val="0"/>
              </a:spcBef>
              <a:spcAft>
                <a:spcPct val="35000"/>
              </a:spcAft>
            </a:pPr>
            <a:endParaRPr lang="en-US" sz="1400" dirty="0">
              <a:solidFill>
                <a:srgbClr val="FFFFFF"/>
              </a:solidFill>
              <a:latin typeface="微软雅黑" panose="020B0503020204020204" charset="-122"/>
              <a:ea typeface="微软雅黑" panose="020B0503020204020204" charset="-122"/>
            </a:endParaRPr>
          </a:p>
        </p:txBody>
      </p:sp>
      <p:sp>
        <p:nvSpPr>
          <p:cNvPr id="63" name="文本框 46"/>
          <p:cNvSpPr txBox="1"/>
          <p:nvPr>
            <p:custDataLst>
              <p:tags r:id="rId14"/>
            </p:custDataLst>
          </p:nvPr>
        </p:nvSpPr>
        <p:spPr>
          <a:xfrm>
            <a:off x="3956685" y="2028825"/>
            <a:ext cx="1023620" cy="276225"/>
          </a:xfrm>
          <a:prstGeom prst="rect">
            <a:avLst/>
          </a:prstGeom>
          <a:noFill/>
        </p:spPr>
        <p:txBody>
          <a:bodyPr wrap="square" lIns="68580" tIns="34290" rIns="68580" bIns="34290" rtlCol="0">
            <a:spAutoFit/>
            <a:scene3d>
              <a:camera prst="orthographicFront"/>
              <a:lightRig rig="threePt" dir="t"/>
            </a:scene3d>
            <a:sp3d contourW="12700"/>
          </a:bodyPr>
          <a:lstStyle/>
          <a:p>
            <a:pPr algn="ctr"/>
            <a:r>
              <a:rPr lang="zh-CN" altLang="en-US" sz="1350" b="1" smtClean="0">
                <a:solidFill>
                  <a:schemeClr val="dk1"/>
                </a:solidFill>
                <a:latin typeface="微软雅黑" panose="020B0503020204020204" charset="-122"/>
                <a:ea typeface="微软雅黑" panose="020B0503020204020204" charset="-122"/>
              </a:rPr>
              <a:t>机器</a:t>
            </a:r>
            <a:r>
              <a:rPr lang="zh-CN" altLang="en-US" sz="1350" b="1" smtClean="0">
                <a:solidFill>
                  <a:schemeClr val="dk1"/>
                </a:solidFill>
                <a:latin typeface="微软雅黑" panose="020B0503020204020204" charset="-122"/>
                <a:ea typeface="微软雅黑" panose="020B0503020204020204" charset="-122"/>
              </a:rPr>
              <a:t>翻译</a:t>
            </a:r>
            <a:endParaRPr lang="zh-CN" altLang="en-US" sz="1350" b="1" smtClean="0">
              <a:solidFill>
                <a:schemeClr val="dk1"/>
              </a:solidFill>
              <a:latin typeface="微软雅黑" panose="020B0503020204020204" charset="-122"/>
              <a:ea typeface="微软雅黑" panose="020B0503020204020204" charset="-122"/>
            </a:endParaRPr>
          </a:p>
        </p:txBody>
      </p:sp>
      <p:sp>
        <p:nvSpPr>
          <p:cNvPr id="64" name="3"/>
          <p:cNvSpPr>
            <a:spLocks noChangeArrowheads="1"/>
          </p:cNvSpPr>
          <p:nvPr/>
        </p:nvSpPr>
        <p:spPr bwMode="auto">
          <a:xfrm>
            <a:off x="5257165" y="1700530"/>
            <a:ext cx="528574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gn="just">
              <a:lnSpc>
                <a:spcPct val="120000"/>
              </a:lnSpc>
              <a:spcBef>
                <a:spcPct val="20000"/>
              </a:spcBef>
            </a:pPr>
            <a:r>
              <a:rPr lang="zh-CN" altLang="en-US" sz="1335">
                <a:solidFill>
                  <a:schemeClr val="tx1">
                    <a:lumMod val="75000"/>
                    <a:lumOff val="25000"/>
                  </a:schemeClr>
                </a:solidFill>
                <a:latin typeface="汉仪旗黑-55简" panose="00020600040101010101" charset="-128"/>
                <a:ea typeface="汉仪旗黑-55简" panose="00020600040101010101" charset="-128"/>
              </a:rPr>
              <a:t>本研究以SMP2020-EWECT（通用微博数据集）以及全球人工智能技术创新大赛热身赛二 OCEMOTION 数据集作为原始语料。针对语料稀缺及蒙文形态复杂的翻译难题。研究采用小牛翻译系统实现中文到传统蒙文、新蒙文的自动翻译。</a:t>
            </a:r>
            <a:endParaRPr lang="zh-CN" altLang="en-US" sz="1335">
              <a:solidFill>
                <a:schemeClr val="tx1">
                  <a:lumMod val="75000"/>
                  <a:lumOff val="25000"/>
                </a:schemeClr>
              </a:solidFill>
              <a:latin typeface="汉仪旗黑-55简" panose="00020600040101010101" charset="-128"/>
              <a:ea typeface="汉仪旗黑-55简" panose="00020600040101010101" charset="-128"/>
            </a:endParaRPr>
          </a:p>
        </p:txBody>
      </p:sp>
      <p:sp>
        <p:nvSpPr>
          <p:cNvPr id="97" name="3"/>
          <p:cNvSpPr>
            <a:spLocks noChangeArrowheads="1"/>
          </p:cNvSpPr>
          <p:nvPr/>
        </p:nvSpPr>
        <p:spPr bwMode="auto">
          <a:xfrm>
            <a:off x="5256530" y="3559175"/>
            <a:ext cx="5292090" cy="123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gn="just">
              <a:lnSpc>
                <a:spcPct val="120000"/>
              </a:lnSpc>
              <a:spcBef>
                <a:spcPct val="20000"/>
              </a:spcBef>
            </a:pPr>
            <a:r>
              <a:rPr lang="zh-CN" altLang="en-US" sz="1335">
                <a:solidFill>
                  <a:schemeClr val="tx1">
                    <a:lumMod val="75000"/>
                    <a:lumOff val="25000"/>
                  </a:schemeClr>
                </a:solidFill>
                <a:latin typeface="汉仪旗黑-55简" panose="00020600040101010101" charset="-128"/>
                <a:ea typeface="汉仪旗黑-55简" panose="00020600040101010101" charset="-128"/>
              </a:rPr>
              <a:t>本研究通过奥云校正系统针对翻译文本中的单词拼写错误、标点符号误用、格的错误使用及同形异音词误用四类问题进行机器校正，初步提升译文准确性；在机器校正后由 6 名具备深厚语言学知识与翻译经验的专家组成 3 个独立标注小组进行校验，并测试多种模型在其上的性能表现，最终确保多语言平行语料库的质量。</a:t>
            </a:r>
            <a:endParaRPr lang="zh-CN" altLang="en-US" sz="1400" dirty="0">
              <a:solidFill>
                <a:srgbClr val="000000"/>
              </a:solidFill>
              <a:latin typeface="微软雅黑" panose="020B050302020402020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进展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55" name="图片 54" descr="templates\docerresourceshop\icons\\343435383135323b333733333032353bcec4b5b5"/>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881370" y="4826000"/>
            <a:ext cx="466090" cy="466090"/>
          </a:xfrm>
          <a:prstGeom prst="rect">
            <a:avLst/>
          </a:prstGeom>
        </p:spPr>
      </p:pic>
      <p:pic>
        <p:nvPicPr>
          <p:cNvPr id="56" name="图片 55" descr="templates\docerresourceshop\icons\\32303038313138363b32303039303531343bd1adbbb7"/>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5875020" y="3761740"/>
            <a:ext cx="494030" cy="494030"/>
          </a:xfrm>
          <a:prstGeom prst="rect">
            <a:avLst/>
          </a:prstGeom>
        </p:spPr>
      </p:pic>
      <p:graphicFrame>
        <p:nvGraphicFramePr>
          <p:cNvPr id="21" name="表格 20"/>
          <p:cNvGraphicFramePr/>
          <p:nvPr>
            <p:custDataLst>
              <p:tags r:id="rId7"/>
            </p:custDataLst>
          </p:nvPr>
        </p:nvGraphicFramePr>
        <p:xfrm>
          <a:off x="7106285" y="1174115"/>
          <a:ext cx="4748530" cy="3609340"/>
        </p:xfrm>
        <a:graphic>
          <a:graphicData uri="http://schemas.openxmlformats.org/drawingml/2006/table">
            <a:tbl>
              <a:tblPr firstRow="1" bandRow="1">
                <a:tableStyleId>{5940675A-B579-460E-94D1-54222C63F5DA}</a:tableStyleId>
              </a:tblPr>
              <a:tblGrid>
                <a:gridCol w="1660525"/>
                <a:gridCol w="797560"/>
                <a:gridCol w="714375"/>
                <a:gridCol w="676275"/>
              </a:tblGrid>
              <a:tr h="575310">
                <a:tc>
                  <a:txBody>
                    <a:bodyPr/>
                    <a:p>
                      <a:pPr indent="0" algn="ctr">
                        <a:buNone/>
                      </a:pPr>
                      <a:r>
                        <a:rPr lang="en-US" sz="1400" b="0">
                          <a:latin typeface="微软雅黑" panose="020B0503020204020204" charset="-122"/>
                          <a:ea typeface="微软雅黑" panose="020B0503020204020204" charset="-122"/>
                          <a:cs typeface="Times New Roman" panose="02020603050405020304" charset="0"/>
                        </a:rPr>
                        <a:t>标签</a:t>
                      </a:r>
                      <a:endParaRPr lang="en-US" alt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lumMod val="60000"/>
                        <a:lumOff val="40000"/>
                      </a:schemeClr>
                    </a:solidFill>
                  </a:tcPr>
                </a:tc>
                <a:tc>
                  <a:txBody>
                    <a:bodyPr/>
                    <a:p>
                      <a:pPr indent="0" algn="ctr">
                        <a:buNone/>
                      </a:pPr>
                      <a:r>
                        <a:rPr lang="en-US" sz="1400" b="0">
                          <a:latin typeface="微软雅黑" panose="020B0503020204020204" charset="-122"/>
                          <a:ea typeface="微软雅黑" panose="020B0503020204020204" charset="-122"/>
                          <a:cs typeface="Times New Roman" panose="02020603050405020304" charset="0"/>
                        </a:rPr>
                        <a:t>训练集</a:t>
                      </a:r>
                      <a:endParaRPr lang="en-US" alt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lumMod val="60000"/>
                        <a:lumOff val="40000"/>
                      </a:schemeClr>
                    </a:solidFill>
                  </a:tcPr>
                </a:tc>
                <a:tc>
                  <a:txBody>
                    <a:bodyPr/>
                    <a:p>
                      <a:pPr algn="ctr">
                        <a:buClrTx/>
                        <a:buSzTx/>
                        <a:buFontTx/>
                        <a:buNone/>
                      </a:pPr>
                      <a:r>
                        <a:rPr lang="en-US" sz="1400" b="0">
                          <a:latin typeface="微软雅黑" panose="020B0503020204020204" charset="-122"/>
                          <a:ea typeface="微软雅黑" panose="020B0503020204020204" charset="-122"/>
                          <a:cs typeface="Times New Roman" panose="02020603050405020304" charset="0"/>
                        </a:rPr>
                        <a:t>验证集</a:t>
                      </a:r>
                      <a:endParaRPr 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60000"/>
                        <a:lumOff val="40000"/>
                      </a:schemeClr>
                    </a:solidFill>
                  </a:tcPr>
                </a:tc>
                <a:tc>
                  <a:txBody>
                    <a:bodyPr/>
                    <a:p>
                      <a:pPr algn="ctr">
                        <a:buClrTx/>
                        <a:buSzTx/>
                        <a:buFontTx/>
                        <a:buNone/>
                      </a:pPr>
                      <a:r>
                        <a:rPr lang="en-US" sz="1400" b="0">
                          <a:latin typeface="微软雅黑" panose="020B0503020204020204" charset="-122"/>
                          <a:ea typeface="微软雅黑" panose="020B0503020204020204" charset="-122"/>
                          <a:cs typeface="Times New Roman" panose="02020603050405020304" charset="0"/>
                        </a:rPr>
                        <a:t>测试集</a:t>
                      </a:r>
                      <a:endParaRPr lang="en-US" sz="1400" b="0">
                        <a:latin typeface="微软雅黑" panose="020B0503020204020204" charset="-122"/>
                        <a:ea typeface="微软雅黑" panose="020B0503020204020204" charset="-122"/>
                        <a:cs typeface="Times New Roman" panose="02020603050405020304" charset="0"/>
                      </a:endParaRPr>
                    </a:p>
                  </a:txBody>
                  <a:tcPr marL="68580" marR="68580" marT="0" marB="0" vert="horz" anchor="ctr" anchorCtr="0">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60000"/>
                        <a:lumOff val="40000"/>
                      </a:schemeClr>
                    </a:solidFill>
                  </a:tcPr>
                </a:tc>
              </a:tr>
              <a:tr h="62801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angry</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16865</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586</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1580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accent1">
                        <a:lumMod val="40000"/>
                        <a:lumOff val="60000"/>
                      </a:schemeClr>
                    </a:solidFill>
                  </a:tcPr>
                </a:tc>
              </a:tr>
              <a:tr h="48069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neutral</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5749</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420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990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7942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happy</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18445</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391</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1018</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8196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sad</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17595</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346</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900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8196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surprise</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2994</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170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374</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r h="481965">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fear</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1814</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87</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c>
                  <a:txBody>
                    <a:bodyPr/>
                    <a:p>
                      <a:pPr indent="0" algn="ctr">
                        <a:buNone/>
                      </a:pPr>
                      <a:r>
                        <a:rPr lang="en-US" altLang="en-US" sz="1400" b="0">
                          <a:latin typeface="Times New Roman" panose="02020603050405020304" charset="0"/>
                          <a:ea typeface="Times New Roman" panose="02020603050405020304" charset="0"/>
                          <a:cs typeface="Times New Roman" panose="02020603050405020304" charset="0"/>
                        </a:rPr>
                        <a:t>210</a:t>
                      </a:r>
                      <a:endParaRPr lang="en-US" altLang="en-US" sz="14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nchorCtr="0">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accent1">
                        <a:lumMod val="40000"/>
                        <a:lumOff val="60000"/>
                      </a:schemeClr>
                    </a:solidFill>
                  </a:tcPr>
                </a:tc>
              </a:tr>
            </a:tbl>
          </a:graphicData>
        </a:graphic>
      </p:graphicFrame>
      <p:pic>
        <p:nvPicPr>
          <p:cNvPr id="8" name="图片 7"/>
          <p:cNvPicPr>
            <a:picLocks noChangeAspect="1"/>
          </p:cNvPicPr>
          <p:nvPr/>
        </p:nvPicPr>
        <p:blipFill>
          <a:blip r:embed="rId8"/>
          <a:stretch>
            <a:fillRect/>
          </a:stretch>
        </p:blipFill>
        <p:spPr>
          <a:xfrm>
            <a:off x="535305" y="1007110"/>
            <a:ext cx="5833745" cy="3943350"/>
          </a:xfrm>
          <a:prstGeom prst="rect">
            <a:avLst/>
          </a:prstGeom>
        </p:spPr>
      </p:pic>
      <p:sp>
        <p:nvSpPr>
          <p:cNvPr id="9" name="文本框 8"/>
          <p:cNvSpPr txBox="1"/>
          <p:nvPr/>
        </p:nvSpPr>
        <p:spPr>
          <a:xfrm>
            <a:off x="2180590" y="5152390"/>
            <a:ext cx="2310130"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语料库构建流程图</a:t>
            </a:r>
            <a:endParaRPr lang="zh-CN" altLang="en-US">
              <a:latin typeface="微软雅黑" panose="020B0503020204020204" charset="-122"/>
              <a:ea typeface="微软雅黑" panose="020B0503020204020204" charset="-122"/>
            </a:endParaRPr>
          </a:p>
        </p:txBody>
      </p:sp>
      <p:sp>
        <p:nvSpPr>
          <p:cNvPr id="10" name="文本框 9"/>
          <p:cNvSpPr txBox="1"/>
          <p:nvPr/>
        </p:nvSpPr>
        <p:spPr>
          <a:xfrm>
            <a:off x="8283575" y="5152390"/>
            <a:ext cx="4064000"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合并后数据标签分布情况</a:t>
            </a:r>
            <a:endParaRPr lang="zh-CN" altLang="en-US">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内容</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21" name="椭圆 20"/>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22" name="任意多边形 21"/>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2" name="文本框 1"/>
          <p:cNvSpPr txBox="1"/>
          <p:nvPr/>
        </p:nvSpPr>
        <p:spPr>
          <a:xfrm>
            <a:off x="3566795" y="946150"/>
            <a:ext cx="4064000" cy="368300"/>
          </a:xfrm>
          <a:prstGeom prst="rect">
            <a:avLst/>
          </a:prstGeom>
          <a:noFill/>
        </p:spPr>
        <p:txBody>
          <a:bodyPr wrap="square" rtlCol="0">
            <a:spAutoFit/>
          </a:bodyPr>
          <a:p>
            <a:pPr algn="ctr"/>
            <a:r>
              <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中文文本情感</a:t>
            </a:r>
            <a:r>
              <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分析</a:t>
            </a:r>
            <a:endPar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3" name="文本框 2"/>
          <p:cNvSpPr txBox="1"/>
          <p:nvPr>
            <p:custDataLst>
              <p:tags r:id="rId1"/>
            </p:custDataLst>
          </p:nvPr>
        </p:nvSpPr>
        <p:spPr>
          <a:xfrm>
            <a:off x="1459865" y="2386965"/>
            <a:ext cx="3187700" cy="737235"/>
          </a:xfrm>
          <a:prstGeom prst="rect">
            <a:avLst/>
          </a:prstGeom>
          <a:noFill/>
        </p:spPr>
        <p:txBody>
          <a:bodyPr wrap="square" rtlCol="0"/>
          <a:lstStyle/>
          <a:p>
            <a:pPr algn="just">
              <a:lnSpc>
                <a:spcPct val="110000"/>
              </a:lnSpc>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情感特征捕捉不全面，不同尺度情感线索挖掘不足</a:t>
            </a:r>
            <a:endParaRPr lang="zh-CN" altLang="en-US" sz="1600" spc="74" dirty="0">
              <a:solidFill>
                <a:schemeClr val="tx1">
                  <a:lumMod val="75000"/>
                  <a:lumOff val="25000"/>
                </a:schemeClr>
              </a:solidFill>
              <a:latin typeface="汉仪旗黑-55简" panose="00020600040101010101" charset="-128"/>
              <a:ea typeface="汉仪旗黑-55简" panose="00020600040101010101" charset="-128"/>
              <a:cs typeface="+mj-ea"/>
              <a:sym typeface="+mn-ea"/>
            </a:endParaRPr>
          </a:p>
        </p:txBody>
      </p:sp>
      <p:sp>
        <p:nvSpPr>
          <p:cNvPr id="4" name="文本框 3"/>
          <p:cNvSpPr txBox="1"/>
          <p:nvPr>
            <p:custDataLst>
              <p:tags r:id="rId2"/>
            </p:custDataLst>
          </p:nvPr>
        </p:nvSpPr>
        <p:spPr>
          <a:xfrm>
            <a:off x="6910705" y="2399665"/>
            <a:ext cx="3019425" cy="647065"/>
          </a:xfrm>
          <a:prstGeom prst="rect">
            <a:avLst/>
          </a:prstGeom>
          <a:noFill/>
        </p:spPr>
        <p:txBody>
          <a:bodyPr wrap="square" rtlCol="0"/>
          <a:lstStyle/>
          <a:p>
            <a:pPr lvl="0" algn="just" fontAlgn="auto">
              <a:lnSpc>
                <a:spcPct val="110000"/>
              </a:lnSpc>
              <a:spcBef>
                <a:spcPts val="0"/>
              </a:spcBef>
              <a:buClrTx/>
              <a:buSzTx/>
              <a:buFontTx/>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特征融合方式单一，关键情感线索凸显不足</a:t>
            </a:r>
            <a:endParaRPr lang="zh-CN" altLang="en-US" sz="1800" spc="74">
              <a:solidFill>
                <a:srgbClr val="000000"/>
              </a:solidFill>
              <a:latin typeface="微软雅黑" panose="020B0503020204020204" charset="-122"/>
              <a:ea typeface="微软雅黑" panose="020B0503020204020204" charset="-122"/>
              <a:cs typeface="+mj-ea"/>
              <a:sym typeface="+mn-ea"/>
            </a:endParaRPr>
          </a:p>
        </p:txBody>
      </p:sp>
      <p:sp>
        <p:nvSpPr>
          <p:cNvPr id="18" name="椭圆 17"/>
          <p:cNvSpPr/>
          <p:nvPr>
            <p:custDataLst>
              <p:tags r:id="rId3"/>
            </p:custDataLst>
          </p:nvPr>
        </p:nvSpPr>
        <p:spPr>
          <a:xfrm>
            <a:off x="4978712" y="205025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5" name="椭圆 4"/>
          <p:cNvSpPr/>
          <p:nvPr>
            <p:custDataLst>
              <p:tags r:id="rId4"/>
            </p:custDataLst>
          </p:nvPr>
        </p:nvSpPr>
        <p:spPr>
          <a:xfrm>
            <a:off x="5021892" y="416290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4" name="文本框 23"/>
          <p:cNvSpPr txBox="1"/>
          <p:nvPr>
            <p:custDataLst>
              <p:tags r:id="rId5"/>
            </p:custDataLst>
          </p:nvPr>
        </p:nvSpPr>
        <p:spPr>
          <a:xfrm>
            <a:off x="2240915" y="4591050"/>
            <a:ext cx="1625600" cy="363220"/>
          </a:xfrm>
          <a:prstGeom prst="rect">
            <a:avLst/>
          </a:prstGeom>
          <a:noFill/>
        </p:spPr>
        <p:txBody>
          <a:bodyPr wrap="square" rtlCol="0"/>
          <a:p>
            <a:pPr algn="just">
              <a:lnSpc>
                <a:spcPct val="110000"/>
              </a:lnSpc>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多尺度特征框架</a:t>
            </a:r>
            <a:endParaRPr lang="zh-CN" sz="1800" spc="74">
              <a:solidFill>
                <a:srgbClr val="000000"/>
              </a:solidFill>
              <a:latin typeface="微软雅黑" panose="020B0503020204020204" charset="-122"/>
              <a:ea typeface="微软雅黑" panose="020B0503020204020204" charset="-122"/>
              <a:cs typeface="+mj-ea"/>
              <a:sym typeface="+mn-ea"/>
            </a:endParaRPr>
          </a:p>
        </p:txBody>
      </p:sp>
      <p:sp>
        <p:nvSpPr>
          <p:cNvPr id="25" name="文本框 24"/>
          <p:cNvSpPr txBox="1"/>
          <p:nvPr>
            <p:custDataLst>
              <p:tags r:id="rId6"/>
            </p:custDataLst>
          </p:nvPr>
        </p:nvSpPr>
        <p:spPr>
          <a:xfrm>
            <a:off x="7573645" y="4535170"/>
            <a:ext cx="1694815" cy="397510"/>
          </a:xfrm>
          <a:prstGeom prst="rect">
            <a:avLst/>
          </a:prstGeom>
          <a:noFill/>
        </p:spPr>
        <p:txBody>
          <a:bodyPr wrap="square" rtlCol="0"/>
          <a:p>
            <a:pPr lvl="0" algn="just" fontAlgn="auto">
              <a:lnSpc>
                <a:spcPct val="110000"/>
              </a:lnSpc>
              <a:spcBef>
                <a:spcPts val="0"/>
              </a:spcBef>
              <a:buClrTx/>
              <a:buSzTx/>
              <a:buFontTx/>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混合注意力机制</a:t>
            </a:r>
            <a:endPar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下箭头 5"/>
          <p:cNvSpPr/>
          <p:nvPr/>
        </p:nvSpPr>
        <p:spPr>
          <a:xfrm>
            <a:off x="2877820" y="342900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下箭头 7"/>
          <p:cNvSpPr/>
          <p:nvPr/>
        </p:nvSpPr>
        <p:spPr>
          <a:xfrm>
            <a:off x="8245475" y="342900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进展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55" name="图片 54" descr="templates\docerresourceshop\icons\\343435383135323b333733333032353bcec4b5b5"/>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586095" y="4826000"/>
            <a:ext cx="466090" cy="466090"/>
          </a:xfrm>
          <a:prstGeom prst="rect">
            <a:avLst/>
          </a:prstGeom>
        </p:spPr>
      </p:pic>
      <p:pic>
        <p:nvPicPr>
          <p:cNvPr id="56" name="图片 55" descr="templates\docerresourceshop\icons\\32303038313138363b32303039303531343bd1adbbb7"/>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5579745" y="3761740"/>
            <a:ext cx="494030" cy="494030"/>
          </a:xfrm>
          <a:prstGeom prst="rect">
            <a:avLst/>
          </a:prstGeom>
        </p:spPr>
      </p:pic>
      <p:cxnSp>
        <p:nvCxnSpPr>
          <p:cNvPr id="2" name="直接连接符 1"/>
          <p:cNvCxnSpPr/>
          <p:nvPr>
            <p:custDataLst>
              <p:tags r:id="rId7"/>
            </p:custDataLst>
          </p:nvPr>
        </p:nvCxnSpPr>
        <p:spPr>
          <a:xfrm>
            <a:off x="3115426" y="2167564"/>
            <a:ext cx="0" cy="1984733"/>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custDataLst>
              <p:tags r:id="rId8"/>
            </p:custDataLst>
          </p:nvPr>
        </p:nvCxnSpPr>
        <p:spPr>
          <a:xfrm flipH="1" flipV="1">
            <a:off x="3101047" y="4152297"/>
            <a:ext cx="238255" cy="1418"/>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custDataLst>
              <p:tags r:id="rId9"/>
            </p:custDataLst>
          </p:nvPr>
        </p:nvCxnSpPr>
        <p:spPr>
          <a:xfrm flipH="1" flipV="1">
            <a:off x="2837882" y="3156701"/>
            <a:ext cx="252730" cy="4445"/>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sp>
        <p:nvSpPr>
          <p:cNvPr id="4" name="Freeform 2"/>
          <p:cNvSpPr/>
          <p:nvPr>
            <p:custDataLst>
              <p:tags r:id="rId10"/>
            </p:custDataLst>
          </p:nvPr>
        </p:nvSpPr>
        <p:spPr>
          <a:xfrm>
            <a:off x="1685345" y="2516574"/>
            <a:ext cx="1195940" cy="1189830"/>
          </a:xfrm>
          <a:custGeom>
            <a:avLst/>
            <a:gdLst>
              <a:gd name="connsiteX0" fmla="*/ 0 w 1346941"/>
              <a:gd name="connsiteY0" fmla="*/ 670031 h 1340062"/>
              <a:gd name="connsiteX1" fmla="*/ 673471 w 1346941"/>
              <a:gd name="connsiteY1" fmla="*/ 0 h 1340062"/>
              <a:gd name="connsiteX2" fmla="*/ 1346942 w 1346941"/>
              <a:gd name="connsiteY2" fmla="*/ 670031 h 1340062"/>
              <a:gd name="connsiteX3" fmla="*/ 673471 w 1346941"/>
              <a:gd name="connsiteY3" fmla="*/ 1340062 h 1340062"/>
              <a:gd name="connsiteX4" fmla="*/ 0 w 1346941"/>
              <a:gd name="connsiteY4" fmla="*/ 670031 h 1340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941" h="1340062">
                <a:moveTo>
                  <a:pt x="0" y="670031"/>
                </a:moveTo>
                <a:cubicBezTo>
                  <a:pt x="0" y="299983"/>
                  <a:pt x="301523" y="0"/>
                  <a:pt x="673471" y="0"/>
                </a:cubicBezTo>
                <a:cubicBezTo>
                  <a:pt x="1045419" y="0"/>
                  <a:pt x="1346942" y="299983"/>
                  <a:pt x="1346942" y="670031"/>
                </a:cubicBezTo>
                <a:cubicBezTo>
                  <a:pt x="1346942" y="1040079"/>
                  <a:pt x="1045419" y="1340062"/>
                  <a:pt x="673471" y="1340062"/>
                </a:cubicBezTo>
                <a:cubicBezTo>
                  <a:pt x="301523" y="1340062"/>
                  <a:pt x="0" y="1040079"/>
                  <a:pt x="0" y="670031"/>
                </a:cubicBez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zh-CN" altLang="en-US" sz="1350" b="1" dirty="0">
                <a:solidFill>
                  <a:schemeClr val="tx1"/>
                </a:solidFill>
                <a:latin typeface="微软雅黑" panose="020B0503020204020204" charset="-122"/>
                <a:ea typeface="微软雅黑" panose="020B0503020204020204" charset="-122"/>
              </a:rPr>
              <a:t>中文情感</a:t>
            </a:r>
            <a:r>
              <a:rPr lang="zh-CN" altLang="en-US" sz="1350" b="1" dirty="0">
                <a:solidFill>
                  <a:schemeClr val="tx1"/>
                </a:solidFill>
                <a:latin typeface="微软雅黑" panose="020B0503020204020204" charset="-122"/>
                <a:ea typeface="微软雅黑" panose="020B0503020204020204" charset="-122"/>
              </a:rPr>
              <a:t>分析</a:t>
            </a:r>
            <a:endParaRPr lang="zh-CN" altLang="en-US" sz="1350" b="1" dirty="0">
              <a:solidFill>
                <a:schemeClr val="tx1"/>
              </a:solidFill>
              <a:latin typeface="微软雅黑" panose="020B0503020204020204" charset="-122"/>
              <a:ea typeface="微软雅黑" panose="020B0503020204020204" charset="-122"/>
            </a:endParaRPr>
          </a:p>
        </p:txBody>
      </p:sp>
      <p:sp>
        <p:nvSpPr>
          <p:cNvPr id="5" name="Rounded Rectangle 5"/>
          <p:cNvSpPr/>
          <p:nvPr>
            <p:custDataLst>
              <p:tags r:id="rId11"/>
            </p:custDataLst>
          </p:nvPr>
        </p:nvSpPr>
        <p:spPr>
          <a:xfrm>
            <a:off x="3362325" y="3964940"/>
            <a:ext cx="1541780" cy="372745"/>
          </a:xfrm>
          <a:prstGeom prst="roundRect">
            <a:avLst>
              <a:gd name="adj" fmla="val 50000"/>
            </a:avLst>
          </a:prstGeom>
          <a:solidFill>
            <a:schemeClr val="accent1">
              <a:lumMod val="60000"/>
              <a:lumOff val="40000"/>
            </a:schemeClr>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6151" tIns="36151" rIns="36151" bIns="36151" numCol="1" spcCol="953" anchor="ctr" anchorCtr="0">
            <a:noAutofit/>
          </a:bodyPr>
          <a:lstStyle/>
          <a:p>
            <a:pPr algn="ctr" defTabSz="711200">
              <a:lnSpc>
                <a:spcPct val="90000"/>
              </a:lnSpc>
              <a:spcBef>
                <a:spcPct val="0"/>
              </a:spcBef>
              <a:spcAft>
                <a:spcPct val="35000"/>
              </a:spcAft>
            </a:pPr>
            <a:r>
              <a:rPr lang="zh-CN" altLang="en-US" b="1" smtClean="0">
                <a:solidFill>
                  <a:schemeClr val="dk1"/>
                </a:solidFill>
                <a:latin typeface="微软雅黑" panose="020B0503020204020204" charset="-122"/>
                <a:ea typeface="微软雅黑" panose="020B0503020204020204" charset="-122"/>
                <a:sym typeface="+mn-ea"/>
              </a:rPr>
              <a:t>混合注意力</a:t>
            </a:r>
            <a:r>
              <a:rPr lang="zh-CN" altLang="en-US" b="1" smtClean="0">
                <a:solidFill>
                  <a:schemeClr val="dk1"/>
                </a:solidFill>
                <a:latin typeface="微软雅黑" panose="020B0503020204020204" charset="-122"/>
                <a:ea typeface="微软雅黑" panose="020B0503020204020204" charset="-122"/>
                <a:sym typeface="+mn-ea"/>
              </a:rPr>
              <a:t>机制</a:t>
            </a:r>
            <a:endParaRPr lang="zh-CN" altLang="en-US" b="1" smtClean="0">
              <a:solidFill>
                <a:schemeClr val="dk1"/>
              </a:solidFill>
              <a:latin typeface="微软雅黑" panose="020B0503020204020204" charset="-122"/>
              <a:ea typeface="微软雅黑" panose="020B0503020204020204" charset="-122"/>
              <a:sym typeface="+mn-ea"/>
            </a:endParaRPr>
          </a:p>
        </p:txBody>
      </p:sp>
      <p:cxnSp>
        <p:nvCxnSpPr>
          <p:cNvPr id="6" name="直接连接符 5"/>
          <p:cNvCxnSpPr>
            <a:stCxn id="7" idx="1"/>
          </p:cNvCxnSpPr>
          <p:nvPr>
            <p:custDataLst>
              <p:tags r:id="rId12"/>
            </p:custDataLst>
          </p:nvPr>
        </p:nvCxnSpPr>
        <p:spPr>
          <a:xfrm flipH="1" flipV="1">
            <a:off x="3122295" y="2167255"/>
            <a:ext cx="238125" cy="1270"/>
          </a:xfrm>
          <a:prstGeom prst="line">
            <a:avLst/>
          </a:prstGeom>
          <a:ln>
            <a:solidFill>
              <a:schemeClr val="lt1">
                <a:lumMod val="65000"/>
              </a:schemeClr>
            </a:solidFill>
          </a:ln>
        </p:spPr>
        <p:style>
          <a:lnRef idx="1">
            <a:schemeClr val="accent1"/>
          </a:lnRef>
          <a:fillRef idx="0">
            <a:schemeClr val="accent1"/>
          </a:fillRef>
          <a:effectRef idx="0">
            <a:schemeClr val="accent1"/>
          </a:effectRef>
          <a:fontRef idx="minor">
            <a:schemeClr val="tx1"/>
          </a:fontRef>
        </p:style>
      </p:cxnSp>
      <p:sp>
        <p:nvSpPr>
          <p:cNvPr id="7" name="Rounded Rectangle 3"/>
          <p:cNvSpPr/>
          <p:nvPr>
            <p:custDataLst>
              <p:tags r:id="rId13"/>
            </p:custDataLst>
          </p:nvPr>
        </p:nvSpPr>
        <p:spPr>
          <a:xfrm>
            <a:off x="3360420" y="2023110"/>
            <a:ext cx="1541780" cy="291465"/>
          </a:xfrm>
          <a:prstGeom prst="roundRect">
            <a:avLst>
              <a:gd name="adj" fmla="val 50000"/>
            </a:avLst>
          </a:prstGeom>
          <a:solidFill>
            <a:schemeClr val="accent1">
              <a:lumMod val="60000"/>
              <a:lumOff val="40000"/>
            </a:schemeClr>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6151" tIns="36151" rIns="36151" bIns="36151" numCol="1" spcCol="953" anchor="ctr" anchorCtr="0">
            <a:noAutofit/>
          </a:bodyPr>
          <a:lstStyle/>
          <a:p>
            <a:pPr algn="ctr" defTabSz="711200">
              <a:lnSpc>
                <a:spcPct val="90000"/>
              </a:lnSpc>
              <a:spcBef>
                <a:spcPct val="0"/>
              </a:spcBef>
              <a:spcAft>
                <a:spcPct val="35000"/>
              </a:spcAft>
            </a:pPr>
            <a:r>
              <a:rPr lang="zh-CN" altLang="en-US" b="1" smtClean="0">
                <a:solidFill>
                  <a:schemeClr val="dk1"/>
                </a:solidFill>
                <a:latin typeface="微软雅黑" panose="020B0503020204020204" charset="-122"/>
                <a:ea typeface="微软雅黑" panose="020B0503020204020204" charset="-122"/>
                <a:sym typeface="+mn-ea"/>
              </a:rPr>
              <a:t>多尺度特征融合</a:t>
            </a:r>
            <a:endParaRPr lang="en-US" sz="1400" dirty="0">
              <a:solidFill>
                <a:srgbClr val="FFFFFF"/>
              </a:solidFill>
              <a:latin typeface="微软雅黑" panose="020B0503020204020204" charset="-122"/>
              <a:ea typeface="微软雅黑" panose="020B0503020204020204" charset="-122"/>
            </a:endParaRPr>
          </a:p>
        </p:txBody>
      </p:sp>
      <p:sp>
        <p:nvSpPr>
          <p:cNvPr id="64" name="3"/>
          <p:cNvSpPr>
            <a:spLocks noChangeArrowheads="1"/>
          </p:cNvSpPr>
          <p:nvPr/>
        </p:nvSpPr>
        <p:spPr bwMode="auto">
          <a:xfrm>
            <a:off x="4942840" y="1916430"/>
            <a:ext cx="6014085" cy="493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gn="just">
              <a:lnSpc>
                <a:spcPct val="120000"/>
              </a:lnSpc>
              <a:spcBef>
                <a:spcPct val="20000"/>
              </a:spcBef>
            </a:pPr>
            <a:r>
              <a:rPr lang="zh-CN" altLang="en-US" sz="1335">
                <a:solidFill>
                  <a:schemeClr val="tx1">
                    <a:lumMod val="75000"/>
                    <a:lumOff val="25000"/>
                  </a:schemeClr>
                </a:solidFill>
                <a:latin typeface="汉仪旗黑-55简" panose="00020600040101010101" charset="-128"/>
                <a:ea typeface="汉仪旗黑-55简" panose="00020600040101010101" charset="-128"/>
              </a:rPr>
              <a:t>本研究构建一个多尺度特征框架，该框架涵盖全局语义特征、字符表层局部特征以及深层语义特征。充分挖掘社交媒体文本中不同尺度的情感线索。</a:t>
            </a:r>
            <a:endParaRPr lang="zh-CN" altLang="en-US" sz="1400" dirty="0">
              <a:solidFill>
                <a:srgbClr val="000000"/>
              </a:solidFill>
              <a:latin typeface="微软雅黑" panose="020B0503020204020204" charset="-122"/>
            </a:endParaRPr>
          </a:p>
        </p:txBody>
      </p:sp>
      <p:sp>
        <p:nvSpPr>
          <p:cNvPr id="97" name="3"/>
          <p:cNvSpPr>
            <a:spLocks noChangeArrowheads="1"/>
          </p:cNvSpPr>
          <p:nvPr/>
        </p:nvSpPr>
        <p:spPr bwMode="auto">
          <a:xfrm>
            <a:off x="4940935" y="3658235"/>
            <a:ext cx="600900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algn="just">
              <a:lnSpc>
                <a:spcPct val="120000"/>
              </a:lnSpc>
              <a:spcBef>
                <a:spcPct val="20000"/>
              </a:spcBef>
            </a:pPr>
            <a:r>
              <a:rPr lang="zh-CN" altLang="en-US" sz="1335">
                <a:solidFill>
                  <a:schemeClr val="tx1">
                    <a:lumMod val="75000"/>
                    <a:lumOff val="25000"/>
                  </a:schemeClr>
                </a:solidFill>
                <a:latin typeface="汉仪旗黑-55简" panose="00020600040101010101" charset="-128"/>
                <a:ea typeface="汉仪旗黑-55简" panose="00020600040101010101" charset="-128"/>
              </a:rPr>
              <a:t>本</a:t>
            </a:r>
            <a:r>
              <a:rPr lang="zh-CN" altLang="en-US" sz="1335">
                <a:solidFill>
                  <a:schemeClr val="tx1">
                    <a:lumMod val="75000"/>
                    <a:lumOff val="25000"/>
                  </a:schemeClr>
                </a:solidFill>
                <a:latin typeface="汉仪旗黑-55简" panose="00020600040101010101" charset="-128"/>
                <a:ea typeface="汉仪旗黑-55简" panose="00020600040101010101" charset="-128"/>
              </a:rPr>
              <a:t>研究设计一种混合注意力机制以实现特征的自适应增强与融合。该机制包含四层注意力模块：一是BERT 自带的自注意力机制，二是通道注意力，三是序列注意力，四是门控注意力机制，实现多源特征的自适应整合，提升模型对情感关键信息的感知能力。</a:t>
            </a:r>
            <a:endParaRPr lang="zh-CN" altLang="en-US" sz="1400" dirty="0">
              <a:solidFill>
                <a:srgbClr val="000000"/>
              </a:solidFill>
              <a:latin typeface="微软雅黑" panose="020B050302020402020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进展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8" name="图片 7"/>
          <p:cNvPicPr>
            <a:picLocks noChangeAspect="1"/>
          </p:cNvPicPr>
          <p:nvPr/>
        </p:nvPicPr>
        <p:blipFill>
          <a:blip r:embed="rId1"/>
          <a:stretch>
            <a:fillRect/>
          </a:stretch>
        </p:blipFill>
        <p:spPr>
          <a:xfrm>
            <a:off x="417830" y="933450"/>
            <a:ext cx="5038725" cy="4448175"/>
          </a:xfrm>
          <a:prstGeom prst="rect">
            <a:avLst/>
          </a:prstGeom>
        </p:spPr>
      </p:pic>
      <p:sp>
        <p:nvSpPr>
          <p:cNvPr id="9" name="文本框 8"/>
          <p:cNvSpPr txBox="1"/>
          <p:nvPr/>
        </p:nvSpPr>
        <p:spPr>
          <a:xfrm>
            <a:off x="2052320" y="5509260"/>
            <a:ext cx="2174875"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中文情感分析模型架构图</a:t>
            </a:r>
            <a:endParaRPr lang="zh-CN" altLang="en-US">
              <a:latin typeface="微软雅黑" panose="020B0503020204020204" charset="-122"/>
              <a:ea typeface="微软雅黑" panose="020B0503020204020204" charset="-122"/>
            </a:endParaRPr>
          </a:p>
        </p:txBody>
      </p:sp>
      <p:graphicFrame>
        <p:nvGraphicFramePr>
          <p:cNvPr id="12" name="表格 11"/>
          <p:cNvGraphicFramePr/>
          <p:nvPr>
            <p:custDataLst>
              <p:tags r:id="rId2"/>
            </p:custDataLst>
          </p:nvPr>
        </p:nvGraphicFramePr>
        <p:xfrm>
          <a:off x="5809615" y="3032760"/>
          <a:ext cx="5547360" cy="2193925"/>
        </p:xfrm>
        <a:graphic>
          <a:graphicData uri="http://schemas.openxmlformats.org/drawingml/2006/table">
            <a:tbl>
              <a:tblPr/>
              <a:tblGrid>
                <a:gridCol w="792480"/>
                <a:gridCol w="792480"/>
                <a:gridCol w="792480"/>
                <a:gridCol w="792480"/>
                <a:gridCol w="792480"/>
                <a:gridCol w="792480"/>
                <a:gridCol w="792480"/>
              </a:tblGrid>
              <a:tr h="438785">
                <a:tc rowSpan="2">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数据集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a:noFill/>
                    </a:lnB>
                    <a:noFill/>
                  </a:tcPr>
                </a:tc>
                <a:tc gridSpan="6">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类别数目</a:t>
                      </a:r>
                      <a:endParaRPr lang="zh-CN" sz="1200" b="0">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c hMerge="1">
                  <a:tcPr>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tcPr>
                </a:tc>
              </a:tr>
              <a:tr h="438785">
                <a:tc vMerge="1">
                  <a:tcPr>
                    <a:lnL>
                      <a:noFill/>
                    </a:lnL>
                    <a:lnR>
                      <a:noFill/>
                    </a:lnR>
                    <a:lnB>
                      <a:noFill/>
                    </a:lnB>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angry</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neural</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happy</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sad</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surprise</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200" b="0">
                          <a:latin typeface="Times New Roman" panose="02020603050405020304"/>
                          <a:ea typeface="宋体" panose="02010600030101010101" pitchFamily="2" charset="-122"/>
                        </a:rPr>
                        <a:t>fear</a:t>
                      </a:r>
                      <a:endParaRPr lang="en-US" altLang="zh-CN" sz="1200" b="0">
                        <a:latin typeface="Times New Roman" panose="02020603050405020304"/>
                        <a:ea typeface="宋体" panose="02010600030101010101" pitchFamily="2" charset="-122"/>
                      </a:endParaRPr>
                    </a:p>
                  </a:txBody>
                  <a:tcPr marL="68580" marR="68580" marT="0" marB="0" anchor="ctr" anchorCtr="0">
                    <a:lnL>
                      <a:noFill/>
                    </a:lnL>
                    <a:lnR>
                      <a:noFill/>
                    </a:lnR>
                    <a:lnT w="9525" cap="flat" cmpd="sng">
                      <a:solidFill>
                        <a:srgbClr val="000008"/>
                      </a:solidFill>
                      <a:prstDash val="solid"/>
                      <a:headEnd type="none" w="med" len="med"/>
                      <a:tailEnd type="none" w="med" len="med"/>
                    </a:lnT>
                    <a:lnB>
                      <a:noFill/>
                    </a:lnB>
                    <a:noFill/>
                  </a:tcPr>
                </a:tc>
              </a:tr>
              <a:tr h="438785">
                <a:tc>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训练集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8344</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5749</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5379</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4990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2086</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1220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438785">
                <a:tc>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验证集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586</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420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391</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346</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170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87</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438785">
                <a:tc>
                  <a:txBody>
                    <a:bodyPr/>
                    <a:p>
                      <a:pPr marL="0" indent="0" algn="ctr">
                        <a:spcBef>
                          <a:spcPct val="0"/>
                        </a:spcBef>
                        <a:spcAft>
                          <a:spcPct val="0"/>
                        </a:spcAft>
                      </a:pPr>
                      <a:r>
                        <a:rPr lang="zh-CN" sz="1200">
                          <a:latin typeface="宋体" panose="02010600030101010101" pitchFamily="2" charset="-122"/>
                          <a:ea typeface="宋体" panose="02010600030101010101" pitchFamily="2" charset="-122"/>
                        </a:rPr>
                        <a:t>测试集</a:t>
                      </a:r>
                      <a:endParaRPr 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1508</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990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1018</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900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374</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b="0">
                          <a:latin typeface="Times New Roman" panose="02020603050405020304"/>
                          <a:ea typeface="Times New Roman" panose="02020603050405020304"/>
                        </a:rPr>
                        <a:t>210</a:t>
                      </a:r>
                      <a:endParaRPr lang="en-US" altLang="zh-CN" sz="1200" b="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13" name="文本框 12"/>
          <p:cNvSpPr txBox="1"/>
          <p:nvPr/>
        </p:nvSpPr>
        <p:spPr>
          <a:xfrm>
            <a:off x="6310630" y="5509260"/>
            <a:ext cx="4649470" cy="29718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rPr>
              <a:t>数据标签分布情况（</a:t>
            </a:r>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SMP2020-EWECT通用微博数据集</a:t>
            </a:r>
            <a:r>
              <a:rPr lang="zh-CN" altLang="en-US" sz="1335">
                <a:solidFill>
                  <a:schemeClr val="tx1">
                    <a:lumMod val="75000"/>
                    <a:lumOff val="25000"/>
                  </a:schemeClr>
                </a:solidFill>
                <a:latin typeface="汉仪旗黑-55简" panose="00020600040101010101" charset="-128"/>
                <a:ea typeface="汉仪旗黑-55简" panose="00020600040101010101" charset="-128"/>
              </a:rPr>
              <a:t>）</a:t>
            </a:r>
            <a:endParaRPr lang="zh-CN" altLang="en-US">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进展</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9" name="组合 38"/>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16" name="任意多边形 1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aphicFrame>
        <p:nvGraphicFramePr>
          <p:cNvPr id="2" name="表格 1"/>
          <p:cNvGraphicFramePr/>
          <p:nvPr>
            <p:custDataLst>
              <p:tags r:id="rId1"/>
            </p:custDataLst>
          </p:nvPr>
        </p:nvGraphicFramePr>
        <p:xfrm>
          <a:off x="450215" y="1243330"/>
          <a:ext cx="4293235" cy="3013710"/>
        </p:xfrm>
        <a:graphic>
          <a:graphicData uri="http://schemas.openxmlformats.org/drawingml/2006/table">
            <a:tbl>
              <a:tblPr/>
              <a:tblGrid>
                <a:gridCol w="2088515"/>
                <a:gridCol w="588010"/>
                <a:gridCol w="514350"/>
                <a:gridCol w="514350"/>
                <a:gridCol w="588010"/>
              </a:tblGrid>
              <a:tr h="43053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模型</a:t>
                      </a:r>
                      <a:endParaRPr lang="zh-CN" sz="1000">
                        <a:latin typeface="宋体" panose="02010600030101010101" pitchFamily="2" charset="-122"/>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ACC(%)</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P(%)</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R(%)</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F1(%)</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ERNIE-MLFF-DCTCN-Att</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78.85*</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76.50*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BERT-BiLSTM-Att</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78.16</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74.47</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76.24</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75.24</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BERT-Att</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74.3*</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BERT+CFEBLS</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76.3*</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72.4*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Qwen1.5-0.5B</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77.94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74.83</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75.89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75.09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430530">
                <a:tc>
                  <a:txBody>
                    <a:bodyPr/>
                    <a:p>
                      <a:pPr marL="0" indent="0" algn="ctr">
                        <a:spcBef>
                          <a:spcPct val="0"/>
                        </a:spcBef>
                        <a:spcAft>
                          <a:spcPct val="0"/>
                        </a:spcAft>
                      </a:pPr>
                      <a:r>
                        <a:rPr lang="en-US" altLang="zh-CN" sz="1000" b="0">
                          <a:latin typeface="Times New Roman" panose="02020603050405020304"/>
                          <a:ea typeface="宋体" panose="02010600030101010101" pitchFamily="2" charset="-122"/>
                        </a:rPr>
                        <a:t>MFHA-ECM(ours)</a:t>
                      </a:r>
                      <a:endParaRPr lang="en-US" altLang="zh-CN" sz="1000" b="0">
                        <a:latin typeface="Times New Roman" panose="02020603050405020304"/>
                        <a:ea typeface="宋体" panose="02010600030101010101" pitchFamily="2" charset="-122"/>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79.64</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76.76</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77.50</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1">
                          <a:latin typeface="Times New Roman" panose="02020603050405020304"/>
                          <a:ea typeface="Times New Roman" panose="02020603050405020304"/>
                        </a:rPr>
                        <a:t>77.06</a:t>
                      </a:r>
                      <a:endParaRPr lang="en-US" altLang="zh-CN" sz="1000" b="1">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graphicFrame>
        <p:nvGraphicFramePr>
          <p:cNvPr id="3" name="表格 2"/>
          <p:cNvGraphicFramePr/>
          <p:nvPr>
            <p:custDataLst>
              <p:tags r:id="rId2"/>
            </p:custDataLst>
          </p:nvPr>
        </p:nvGraphicFramePr>
        <p:xfrm>
          <a:off x="6005830" y="1240790"/>
          <a:ext cx="4999990" cy="3016250"/>
        </p:xfrm>
        <a:graphic>
          <a:graphicData uri="http://schemas.openxmlformats.org/drawingml/2006/table">
            <a:tbl>
              <a:tblPr/>
              <a:tblGrid>
                <a:gridCol w="2519045"/>
                <a:gridCol w="620395"/>
                <a:gridCol w="620395"/>
                <a:gridCol w="619760"/>
                <a:gridCol w="620395"/>
              </a:tblGrid>
              <a:tr h="603250">
                <a:tc>
                  <a:txBody>
                    <a:bodyPr/>
                    <a:p>
                      <a:pPr marL="0" indent="0" algn="ctr">
                        <a:spcBef>
                          <a:spcPct val="0"/>
                        </a:spcBef>
                        <a:spcAft>
                          <a:spcPct val="0"/>
                        </a:spcAft>
                      </a:pPr>
                      <a:r>
                        <a:rPr lang="zh-CN" sz="1000">
                          <a:latin typeface="Times New Roman" panose="02020603050405020304"/>
                          <a:ea typeface="宋体" panose="02010600030101010101" pitchFamily="2" charset="-122"/>
                        </a:rPr>
                        <a:t>模型</a:t>
                      </a:r>
                      <a:endParaRPr lang="zh-CN" sz="1000">
                        <a:latin typeface="Times New Roman" panose="02020603050405020304"/>
                        <a:ea typeface="宋体" panose="02010600030101010101" pitchFamily="2" charset="-122"/>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ACC</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P</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R</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a:latin typeface="Times New Roman" panose="02020603050405020304"/>
                          <a:ea typeface="Times New Roman" panose="02020603050405020304"/>
                        </a:rPr>
                        <a:t>F1</a:t>
                      </a:r>
                      <a:r>
                        <a:rPr lang="en-US" altLang="zh-CN" sz="1000">
                          <a:latin typeface="Times New Roman" panose="02020603050405020304"/>
                          <a:ea typeface="Times New Roman" panose="02020603050405020304"/>
                        </a:rPr>
                        <a:t>(%)</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0325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消融模型</a:t>
                      </a:r>
                      <a:r>
                        <a:rPr lang="en-US" altLang="zh-CN" sz="1000">
                          <a:latin typeface="Times New Roman" panose="02020603050405020304"/>
                          <a:ea typeface="Times New Roman" panose="02020603050405020304"/>
                        </a:rPr>
                        <a:t>1</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78.82</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75.96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76.20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76.00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w="6350" cap="flat" cmpd="sng">
                      <a:solidFill>
                        <a:srgbClr val="000008"/>
                      </a:solidFill>
                      <a:prstDash val="solid"/>
                      <a:headEnd type="none" w="med" len="med"/>
                      <a:tailEnd type="none" w="med" len="med"/>
                    </a:lnT>
                    <a:lnB>
                      <a:noFill/>
                    </a:lnB>
                    <a:noFill/>
                  </a:tcPr>
                </a:tc>
              </a:tr>
              <a:tr h="60325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消融模型</a:t>
                      </a:r>
                      <a:r>
                        <a:rPr lang="en-US" altLang="zh-CN" sz="1000">
                          <a:latin typeface="Times New Roman" panose="02020603050405020304"/>
                          <a:ea typeface="Times New Roman" panose="02020603050405020304"/>
                        </a:rPr>
                        <a:t>2</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79.02</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75.29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78.19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76.49</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603250">
                <a:tc>
                  <a:txBody>
                    <a:bodyPr/>
                    <a:p>
                      <a:pPr marL="0" indent="0" algn="ctr">
                        <a:spcBef>
                          <a:spcPct val="0"/>
                        </a:spcBef>
                        <a:spcAft>
                          <a:spcPct val="0"/>
                        </a:spcAft>
                      </a:pPr>
                      <a:r>
                        <a:rPr lang="zh-CN" sz="1000">
                          <a:latin typeface="宋体" panose="02010600030101010101" pitchFamily="2" charset="-122"/>
                          <a:ea typeface="宋体" panose="02010600030101010101" pitchFamily="2" charset="-122"/>
                        </a:rPr>
                        <a:t>消融模型</a:t>
                      </a:r>
                      <a:r>
                        <a:rPr lang="en-US" altLang="zh-CN" sz="1000">
                          <a:latin typeface="Times New Roman" panose="02020603050405020304"/>
                          <a:ea typeface="Times New Roman" panose="02020603050405020304"/>
                        </a:rPr>
                        <a:t>3</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79.56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76.37</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77.42</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76.84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a:noFill/>
                    </a:lnB>
                    <a:noFill/>
                  </a:tcPr>
                </a:tc>
              </a:tr>
              <a:tr h="603250">
                <a:tc>
                  <a:txBody>
                    <a:bodyPr/>
                    <a:p>
                      <a:pPr marL="0" indent="0" algn="ctr">
                        <a:spcBef>
                          <a:spcPct val="0"/>
                        </a:spcBef>
                        <a:spcAft>
                          <a:spcPct val="0"/>
                        </a:spcAft>
                      </a:pPr>
                      <a:r>
                        <a:rPr lang="zh-CN" sz="1000">
                          <a:latin typeface="Times New Roman" panose="02020603050405020304"/>
                          <a:ea typeface="宋体" panose="02010600030101010101" pitchFamily="2" charset="-122"/>
                        </a:rPr>
                        <a:t>消融模型</a:t>
                      </a:r>
                      <a:r>
                        <a:rPr lang="en-US" altLang="zh-CN" sz="1000">
                          <a:latin typeface="Times New Roman" panose="02020603050405020304"/>
                          <a:ea typeface="Times New Roman" panose="02020603050405020304"/>
                        </a:rPr>
                        <a:t>4</a:t>
                      </a:r>
                      <a:endParaRPr lang="en-US" altLang="zh-CN" sz="100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79.64</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76.76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77.50</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000" b="0">
                          <a:latin typeface="Times New Roman" panose="02020603050405020304"/>
                          <a:ea typeface="Times New Roman" panose="02020603050405020304"/>
                        </a:rPr>
                        <a:t>77.0</a:t>
                      </a:r>
                      <a:r>
                        <a:rPr lang="en-US" altLang="zh-CN" sz="1000" b="0">
                          <a:latin typeface="Times New Roman" panose="02020603050405020304"/>
                          <a:ea typeface="Times New Roman" panose="02020603050405020304"/>
                        </a:rPr>
                        <a:t>6</a:t>
                      </a:r>
                      <a:endParaRPr lang="en-US" altLang="zh-CN" sz="1000" b="0">
                        <a:latin typeface="Times New Roman" panose="02020603050405020304"/>
                        <a:ea typeface="Times New Roman" panose="02020603050405020304"/>
                      </a:endParaRPr>
                    </a:p>
                  </a:txBody>
                  <a:tcPr marL="60960" marR="60960" marT="35560" marB="3556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449580" y="4490720"/>
            <a:ext cx="4542155" cy="70866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在与5个基线模型进行对比实验的结果可以看到，经过本研究提出的多维度特征融合与混合注意力的社交媒体文本情感分类能达到最优的性能。</a:t>
            </a:r>
            <a:endParaRPr lang="zh-CN" altLang="en-US" sz="1335">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5" name="文本框 4"/>
          <p:cNvSpPr txBox="1"/>
          <p:nvPr/>
        </p:nvSpPr>
        <p:spPr>
          <a:xfrm>
            <a:off x="6005830" y="4490720"/>
            <a:ext cx="4999355" cy="708660"/>
          </a:xfrm>
          <a:prstGeom prst="rect">
            <a:avLst/>
          </a:prstGeom>
          <a:noFill/>
        </p:spPr>
        <p:txBody>
          <a:bodyPr wrap="square" rtlCol="0">
            <a:spAutoFit/>
          </a:bodyPr>
          <a:p>
            <a:r>
              <a:rPr lang="zh-CN" altLang="en-US" sz="1335">
                <a:solidFill>
                  <a:schemeClr val="tx1">
                    <a:lumMod val="75000"/>
                    <a:lumOff val="25000"/>
                  </a:schemeClr>
                </a:solidFill>
                <a:latin typeface="汉仪旗黑-55简" panose="00020600040101010101" charset="-128"/>
                <a:ea typeface="汉仪旗黑-55简" panose="00020600040101010101" charset="-128"/>
                <a:sym typeface="+mn-ea"/>
              </a:rPr>
              <a:t>经过消融实验分析发现，多尺度特征融合与混合注意力机制是解决社交媒体文本情感特征捕捉不全面、多源情感特征融合单一的重要架构。</a:t>
            </a:r>
            <a:endParaRPr lang="zh-CN" altLang="en-US">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11"/>
          <p:cNvSpPr txBox="1"/>
          <p:nvPr/>
        </p:nvSpPr>
        <p:spPr>
          <a:xfrm>
            <a:off x="3928269" y="1815928"/>
            <a:ext cx="4335463" cy="1076325"/>
          </a:xfrm>
          <a:prstGeom prst="rect">
            <a:avLst/>
          </a:prstGeom>
          <a:noFill/>
        </p:spPr>
        <p:txBody>
          <a:bodyPr wrap="square" lIns="91440" tIns="45720" rIns="91440" bIns="45720" rtlCol="0">
            <a:spAutoFit/>
          </a:bodyPr>
          <a:lstStyle/>
          <a:p>
            <a:pPr algn="ctr"/>
            <a:r>
              <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rPr>
              <a:t>PART 03</a:t>
            </a:r>
            <a:endParaRPr lang="en-US" altLang="zh-CN" sz="6400" b="1" dirty="0" smtClean="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 name="文本框 1"/>
          <p:cNvSpPr txBox="1"/>
          <p:nvPr/>
        </p:nvSpPr>
        <p:spPr>
          <a:xfrm>
            <a:off x="2437765" y="2739390"/>
            <a:ext cx="7317740" cy="1014730"/>
          </a:xfrm>
          <a:prstGeom prst="rect">
            <a:avLst/>
          </a:prstGeom>
          <a:noFill/>
        </p:spPr>
        <p:txBody>
          <a:bodyPr wrap="square" rtlCol="0">
            <a:spAutoFit/>
          </a:bodyPr>
          <a:p>
            <a:pPr algn="ctr">
              <a:lnSpc>
                <a:spcPct val="100000"/>
              </a:lnSpc>
            </a:pPr>
            <a:r>
              <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下一步研究计划</a:t>
            </a:r>
            <a:endParaRPr lang="zh-CN" altLang="en-US" sz="60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6" name="组合 35"/>
          <p:cNvGrpSpPr/>
          <p:nvPr/>
        </p:nvGrpSpPr>
        <p:grpSpPr>
          <a:xfrm>
            <a:off x="0" y="4085590"/>
            <a:ext cx="12192000" cy="2772410"/>
            <a:chOff x="0" y="5835"/>
            <a:chExt cx="19200" cy="4965"/>
          </a:xfrm>
        </p:grpSpPr>
        <p:sp>
          <p:nvSpPr>
            <p:cNvPr id="6" name="任意多边形 5"/>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任意多边形 11"/>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49" name="任意多边形 48"/>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pic>
        <p:nvPicPr>
          <p:cNvPr id="13" name="图片 12" descr="31393935333939383b31373432363535313bd1a7cebbc3b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7540" y="1036955"/>
            <a:ext cx="756920" cy="756920"/>
          </a:xfrm>
          <a:prstGeom prst="rect">
            <a:avLst/>
          </a:prstGeom>
        </p:spPr>
      </p:pic>
      <p:sp>
        <p:nvSpPr>
          <p:cNvPr id="14" name="圆角矩形 13"/>
          <p:cNvSpPr/>
          <p:nvPr/>
        </p:nvSpPr>
        <p:spPr>
          <a:xfrm>
            <a:off x="2406000" y="3763645"/>
            <a:ext cx="7380000" cy="28800"/>
          </a:xfrm>
          <a:prstGeom prst="roundRect">
            <a:avLst>
              <a:gd name="adj" fmla="val 50000"/>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下一步</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计划</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4" name="组合 3"/>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7" name="文本框 6"/>
          <p:cNvSpPr txBox="1"/>
          <p:nvPr>
            <p:custDataLst>
              <p:tags r:id="rId1"/>
            </p:custDataLst>
          </p:nvPr>
        </p:nvSpPr>
        <p:spPr>
          <a:xfrm>
            <a:off x="1459865" y="2386965"/>
            <a:ext cx="3187700" cy="737235"/>
          </a:xfrm>
          <a:prstGeom prst="rect">
            <a:avLst/>
          </a:prstGeom>
          <a:noFill/>
        </p:spPr>
        <p:txBody>
          <a:bodyPr wrap="square" rtlCol="0"/>
          <a:lstStyle/>
          <a:p>
            <a:pPr algn="just">
              <a:lnSpc>
                <a:spcPct val="110000"/>
              </a:lnSpc>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蒙文的词形变化和语义依赖捕捉能力不足</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8" name="文本框 7"/>
          <p:cNvSpPr txBox="1"/>
          <p:nvPr>
            <p:custDataLst>
              <p:tags r:id="rId2"/>
            </p:custDataLst>
          </p:nvPr>
        </p:nvSpPr>
        <p:spPr>
          <a:xfrm>
            <a:off x="6574155" y="2400300"/>
            <a:ext cx="3133725" cy="647065"/>
          </a:xfrm>
          <a:prstGeom prst="rect">
            <a:avLst/>
          </a:prstGeom>
          <a:noFill/>
        </p:spPr>
        <p:txBody>
          <a:bodyPr wrap="square" rtlCol="0"/>
          <a:lstStyle/>
          <a:p>
            <a:pPr lvl="0" algn="just" fontAlgn="auto">
              <a:lnSpc>
                <a:spcPct val="110000"/>
              </a:lnSpc>
              <a:spcBef>
                <a:spcPts val="0"/>
              </a:spcBef>
              <a:buClrTx/>
              <a:buSzTx/>
              <a:buFontTx/>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预训练模型在蒙文上泛化能力差</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18" name="椭圆 17"/>
          <p:cNvSpPr/>
          <p:nvPr>
            <p:custDataLst>
              <p:tags r:id="rId3"/>
            </p:custDataLst>
          </p:nvPr>
        </p:nvSpPr>
        <p:spPr>
          <a:xfrm>
            <a:off x="4978712" y="205025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9" name="椭圆 8"/>
          <p:cNvSpPr/>
          <p:nvPr>
            <p:custDataLst>
              <p:tags r:id="rId4"/>
            </p:custDataLst>
          </p:nvPr>
        </p:nvSpPr>
        <p:spPr>
          <a:xfrm>
            <a:off x="5021892" y="416290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4" name="文本框 23"/>
          <p:cNvSpPr txBox="1"/>
          <p:nvPr>
            <p:custDataLst>
              <p:tags r:id="rId5"/>
            </p:custDataLst>
          </p:nvPr>
        </p:nvSpPr>
        <p:spPr>
          <a:xfrm>
            <a:off x="1459230" y="4591050"/>
            <a:ext cx="3187700" cy="363220"/>
          </a:xfrm>
          <a:prstGeom prst="rect">
            <a:avLst/>
          </a:prstGeom>
          <a:noFill/>
        </p:spPr>
        <p:txBody>
          <a:bodyPr wrap="square" rtlCol="0"/>
          <a:p>
            <a:pPr algn="just">
              <a:lnSpc>
                <a:spcPct val="110000"/>
              </a:lnSpc>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提取蒙文词干、词缀等语言学形态学特征</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25" name="文本框 24"/>
          <p:cNvSpPr txBox="1"/>
          <p:nvPr>
            <p:custDataLst>
              <p:tags r:id="rId6"/>
            </p:custDataLst>
          </p:nvPr>
        </p:nvSpPr>
        <p:spPr>
          <a:xfrm>
            <a:off x="6573520" y="4535170"/>
            <a:ext cx="3125470" cy="397510"/>
          </a:xfrm>
          <a:prstGeom prst="rect">
            <a:avLst/>
          </a:prstGeom>
          <a:noFill/>
        </p:spPr>
        <p:txBody>
          <a:bodyPr wrap="square" rtlCol="0"/>
          <a:p>
            <a:pPr lvl="0" algn="just" fontAlgn="auto">
              <a:lnSpc>
                <a:spcPct val="110000"/>
              </a:lnSpc>
              <a:spcBef>
                <a:spcPts val="0"/>
              </a:spcBef>
              <a:buClrTx/>
              <a:buSzTx/>
              <a:buFontTx/>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引入适配少数民族语言的预训练模型</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11" name="下箭头 10"/>
          <p:cNvSpPr/>
          <p:nvPr/>
        </p:nvSpPr>
        <p:spPr>
          <a:xfrm>
            <a:off x="2877820" y="342900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下箭头 11"/>
          <p:cNvSpPr/>
          <p:nvPr/>
        </p:nvSpPr>
        <p:spPr>
          <a:xfrm>
            <a:off x="7966075" y="342900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3566795" y="946150"/>
            <a:ext cx="4064000" cy="368300"/>
          </a:xfrm>
          <a:prstGeom prst="rect">
            <a:avLst/>
          </a:prstGeom>
          <a:noFill/>
        </p:spPr>
        <p:txBody>
          <a:bodyPr wrap="square" rtlCol="0">
            <a:spAutoFit/>
          </a:bodyPr>
          <a:p>
            <a:pPr algn="ctr"/>
            <a:r>
              <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蒙文文本情感</a:t>
            </a:r>
            <a:r>
              <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分析</a:t>
            </a:r>
            <a:endPar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下一步</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计划</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4" name="组合 3"/>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3" name="图片 2"/>
          <p:cNvPicPr>
            <a:picLocks noChangeAspect="1"/>
          </p:cNvPicPr>
          <p:nvPr/>
        </p:nvPicPr>
        <p:blipFill>
          <a:blip r:embed="rId1"/>
          <a:stretch>
            <a:fillRect/>
          </a:stretch>
        </p:blipFill>
        <p:spPr>
          <a:xfrm>
            <a:off x="2762250" y="1147445"/>
            <a:ext cx="6667500" cy="44862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下一步</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计划</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4" name="组合 3"/>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6" name="文本框 5"/>
          <p:cNvSpPr txBox="1"/>
          <p:nvPr/>
        </p:nvSpPr>
        <p:spPr>
          <a:xfrm>
            <a:off x="3566795" y="946150"/>
            <a:ext cx="4064000" cy="368300"/>
          </a:xfrm>
          <a:prstGeom prst="rect">
            <a:avLst/>
          </a:prstGeom>
          <a:noFill/>
        </p:spPr>
        <p:txBody>
          <a:bodyPr wrap="square" rtlCol="0">
            <a:spAutoFit/>
          </a:bodyPr>
          <a:p>
            <a:pPr algn="ctr"/>
            <a:r>
              <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多语言文本情感</a:t>
            </a:r>
            <a:r>
              <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分析</a:t>
            </a:r>
            <a:endParaRPr lang="zh-CN" altLang="en-US" sz="1800" b="1" dirty="0" smtClean="0">
              <a:solidFill>
                <a:srgbClr val="5E7397"/>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7" name="文本框 6"/>
          <p:cNvSpPr txBox="1"/>
          <p:nvPr>
            <p:custDataLst>
              <p:tags r:id="rId1"/>
            </p:custDataLst>
          </p:nvPr>
        </p:nvSpPr>
        <p:spPr>
          <a:xfrm>
            <a:off x="1459865" y="2386965"/>
            <a:ext cx="3187700" cy="737235"/>
          </a:xfrm>
          <a:prstGeom prst="rect">
            <a:avLst/>
          </a:prstGeom>
          <a:noFill/>
        </p:spPr>
        <p:txBody>
          <a:bodyPr wrap="square" rtlCol="0"/>
          <a:lstStyle/>
          <a:p>
            <a:pPr algn="just">
              <a:lnSpc>
                <a:spcPct val="110000"/>
              </a:lnSpc>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差异</a:t>
            </a: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语言</a:t>
            </a: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适配性</a:t>
            </a: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较低，语义对齐精度不足</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8" name="文本框 7"/>
          <p:cNvSpPr txBox="1"/>
          <p:nvPr>
            <p:custDataLst>
              <p:tags r:id="rId2"/>
            </p:custDataLst>
          </p:nvPr>
        </p:nvSpPr>
        <p:spPr>
          <a:xfrm>
            <a:off x="7365365" y="2400300"/>
            <a:ext cx="2110740" cy="647065"/>
          </a:xfrm>
          <a:prstGeom prst="rect">
            <a:avLst/>
          </a:prstGeom>
          <a:noFill/>
        </p:spPr>
        <p:txBody>
          <a:bodyPr wrap="square" rtlCol="0"/>
          <a:lstStyle/>
          <a:p>
            <a:pPr lvl="0" algn="just" fontAlgn="auto">
              <a:lnSpc>
                <a:spcPct val="110000"/>
              </a:lnSpc>
              <a:spcBef>
                <a:spcPts val="0"/>
              </a:spcBef>
              <a:buClrTx/>
              <a:buSzTx/>
              <a:buFontTx/>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低资源语言建模困难</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18" name="椭圆 17"/>
          <p:cNvSpPr/>
          <p:nvPr>
            <p:custDataLst>
              <p:tags r:id="rId3"/>
            </p:custDataLst>
          </p:nvPr>
        </p:nvSpPr>
        <p:spPr>
          <a:xfrm>
            <a:off x="4978712" y="2050255"/>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问题</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9" name="椭圆 8"/>
          <p:cNvSpPr/>
          <p:nvPr>
            <p:custDataLst>
              <p:tags r:id="rId4"/>
            </p:custDataLst>
          </p:nvPr>
        </p:nvSpPr>
        <p:spPr>
          <a:xfrm>
            <a:off x="5021892" y="4162900"/>
            <a:ext cx="1264444" cy="1264444"/>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rPr>
              <a:t>解决方案</a:t>
            </a:r>
            <a:endParaRPr lang="zh-CN" altLang="en-US" sz="2100" b="1" spc="20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4" name="文本框 23"/>
          <p:cNvSpPr txBox="1"/>
          <p:nvPr>
            <p:custDataLst>
              <p:tags r:id="rId5"/>
            </p:custDataLst>
          </p:nvPr>
        </p:nvSpPr>
        <p:spPr>
          <a:xfrm>
            <a:off x="2306955" y="4591050"/>
            <a:ext cx="1493520" cy="363220"/>
          </a:xfrm>
          <a:prstGeom prst="rect">
            <a:avLst/>
          </a:prstGeom>
          <a:noFill/>
        </p:spPr>
        <p:txBody>
          <a:bodyPr wrap="square" rtlCol="0"/>
          <a:p>
            <a:pPr algn="just">
              <a:lnSpc>
                <a:spcPct val="110000"/>
              </a:lnSpc>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共享语义</a:t>
            </a: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空间</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25" name="文本框 24"/>
          <p:cNvSpPr txBox="1"/>
          <p:nvPr>
            <p:custDataLst>
              <p:tags r:id="rId6"/>
            </p:custDataLst>
          </p:nvPr>
        </p:nvSpPr>
        <p:spPr>
          <a:xfrm>
            <a:off x="7909560" y="4535170"/>
            <a:ext cx="1022350" cy="397510"/>
          </a:xfrm>
          <a:prstGeom prst="rect">
            <a:avLst/>
          </a:prstGeom>
          <a:noFill/>
        </p:spPr>
        <p:txBody>
          <a:bodyPr wrap="square" rtlCol="0"/>
          <a:p>
            <a:pPr lvl="0" algn="just" fontAlgn="auto">
              <a:lnSpc>
                <a:spcPct val="110000"/>
              </a:lnSpc>
              <a:spcBef>
                <a:spcPts val="0"/>
              </a:spcBef>
              <a:buClrTx/>
              <a:buSzTx/>
              <a:buFontTx/>
            </a:pP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联合</a:t>
            </a:r>
            <a:r>
              <a:rPr lang="zh-CN" altLang="en-US" sz="1600">
                <a:solidFill>
                  <a:schemeClr val="tx1">
                    <a:lumMod val="75000"/>
                    <a:lumOff val="25000"/>
                  </a:schemeClr>
                </a:solidFill>
                <a:latin typeface="汉仪旗黑-55简" panose="00020600040101010101" charset="-128"/>
                <a:ea typeface="汉仪旗黑-55简" panose="00020600040101010101" charset="-128"/>
                <a:sym typeface="+mn-ea"/>
              </a:rPr>
              <a:t>学习</a:t>
            </a:r>
            <a:endParaRPr lang="zh-CN" altLang="en-US" sz="1600">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11" name="下箭头 10"/>
          <p:cNvSpPr/>
          <p:nvPr/>
        </p:nvSpPr>
        <p:spPr>
          <a:xfrm>
            <a:off x="2877820" y="342900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下箭头 11"/>
          <p:cNvSpPr/>
          <p:nvPr/>
        </p:nvSpPr>
        <p:spPr>
          <a:xfrm>
            <a:off x="8245475" y="3429000"/>
            <a:ext cx="350520" cy="69342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下一步</a:t>
            </a: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计划</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4" name="组合 3"/>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5" name="任意多边形 4"/>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pic>
        <p:nvPicPr>
          <p:cNvPr id="2" name="图片 1"/>
          <p:cNvPicPr>
            <a:picLocks noChangeAspect="1"/>
          </p:cNvPicPr>
          <p:nvPr/>
        </p:nvPicPr>
        <p:blipFill>
          <a:blip r:embed="rId1"/>
          <a:stretch>
            <a:fillRect/>
          </a:stretch>
        </p:blipFill>
        <p:spPr>
          <a:xfrm>
            <a:off x="3089910" y="535940"/>
            <a:ext cx="6153785" cy="56667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椭圆 27"/>
          <p:cNvSpPr/>
          <p:nvPr>
            <p:custDataLst>
              <p:tags r:id="rId1"/>
            </p:custDataLst>
          </p:nvPr>
        </p:nvSpPr>
        <p:spPr>
          <a:xfrm>
            <a:off x="1825625" y="2903855"/>
            <a:ext cx="1347470" cy="1347470"/>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椭圆 28"/>
          <p:cNvSpPr/>
          <p:nvPr>
            <p:custDataLst>
              <p:tags r:id="rId2"/>
            </p:custDataLst>
          </p:nvPr>
        </p:nvSpPr>
        <p:spPr>
          <a:xfrm>
            <a:off x="4253865" y="2911475"/>
            <a:ext cx="1347470" cy="1347470"/>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椭圆 29"/>
          <p:cNvSpPr/>
          <p:nvPr>
            <p:custDataLst>
              <p:tags r:id="rId3"/>
            </p:custDataLst>
          </p:nvPr>
        </p:nvSpPr>
        <p:spPr>
          <a:xfrm>
            <a:off x="6682105" y="2911475"/>
            <a:ext cx="1347470" cy="1347470"/>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椭圆 30"/>
          <p:cNvSpPr/>
          <p:nvPr>
            <p:custDataLst>
              <p:tags r:id="rId4"/>
            </p:custDataLst>
          </p:nvPr>
        </p:nvSpPr>
        <p:spPr>
          <a:xfrm>
            <a:off x="9018905" y="2911475"/>
            <a:ext cx="1347470" cy="1347470"/>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3"/>
          <p:cNvSpPr txBox="1"/>
          <p:nvPr/>
        </p:nvSpPr>
        <p:spPr>
          <a:xfrm>
            <a:off x="925830" y="335598"/>
            <a:ext cx="3817620" cy="583565"/>
          </a:xfrm>
          <a:prstGeom prst="rect">
            <a:avLst/>
          </a:prstGeom>
          <a:noFill/>
        </p:spPr>
        <p:txBody>
          <a:bodyPr wrap="square" rtlCol="0">
            <a:spAutoFit/>
          </a:bodyPr>
          <a:p>
            <a:pPr algn="l">
              <a:lnSpc>
                <a:spcPct val="100000"/>
              </a:lnSpc>
            </a:pPr>
            <a:r>
              <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研究方法及过程</a:t>
            </a:r>
            <a:endParaRPr lang="zh-CN" altLang="en-US" sz="32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4" name="组合 3"/>
          <p:cNvGrpSpPr/>
          <p:nvPr/>
        </p:nvGrpSpPr>
        <p:grpSpPr>
          <a:xfrm>
            <a:off x="354965" y="450215"/>
            <a:ext cx="549275" cy="354330"/>
            <a:chOff x="559" y="541"/>
            <a:chExt cx="899" cy="580"/>
          </a:xfrm>
        </p:grpSpPr>
        <p:sp>
          <p:nvSpPr>
            <p:cNvPr id="15" name="椭圆 14"/>
            <p:cNvSpPr/>
            <p:nvPr/>
          </p:nvSpPr>
          <p:spPr>
            <a:xfrm>
              <a:off x="878" y="541"/>
              <a:ext cx="581" cy="581"/>
            </a:xfrm>
            <a:prstGeom prst="ellipse">
              <a:avLst/>
            </a:pr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椭圆 40"/>
            <p:cNvSpPr/>
            <p:nvPr/>
          </p:nvSpPr>
          <p:spPr>
            <a:xfrm>
              <a:off x="559" y="541"/>
              <a:ext cx="581" cy="581"/>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a:off x="0" y="5815965"/>
            <a:ext cx="12192000" cy="1042035"/>
            <a:chOff x="0" y="5835"/>
            <a:chExt cx="19200" cy="4965"/>
          </a:xfrm>
        </p:grpSpPr>
        <p:sp>
          <p:nvSpPr>
            <p:cNvPr id="7" name="任意多边形 6"/>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sp>
        <p:nvSpPr>
          <p:cNvPr id="33" name="燕尾形 32"/>
          <p:cNvSpPr/>
          <p:nvPr>
            <p:custDataLst>
              <p:tags r:id="rId5"/>
            </p:custDataLst>
          </p:nvPr>
        </p:nvSpPr>
        <p:spPr>
          <a:xfrm>
            <a:off x="3406140" y="3270250"/>
            <a:ext cx="614680" cy="614680"/>
          </a:xfrm>
          <a:prstGeom prst="chevron">
            <a:avLst/>
          </a:prstGeom>
          <a:gradFill>
            <a:gsLst>
              <a:gs pos="27000">
                <a:schemeClr val="accent1">
                  <a:lumMod val="5000"/>
                  <a:lumOff val="95000"/>
                </a:schemeClr>
              </a:gs>
              <a:gs pos="91000">
                <a:srgbClr val="ACAEC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燕尾形 33"/>
          <p:cNvSpPr/>
          <p:nvPr>
            <p:custDataLst>
              <p:tags r:id="rId6"/>
            </p:custDataLst>
          </p:nvPr>
        </p:nvSpPr>
        <p:spPr>
          <a:xfrm>
            <a:off x="5807710" y="3285490"/>
            <a:ext cx="614680" cy="614680"/>
          </a:xfrm>
          <a:prstGeom prst="chevron">
            <a:avLst/>
          </a:prstGeom>
          <a:gradFill>
            <a:gsLst>
              <a:gs pos="27000">
                <a:schemeClr val="accent1">
                  <a:lumMod val="5000"/>
                  <a:lumOff val="95000"/>
                </a:schemeClr>
              </a:gs>
              <a:gs pos="91000">
                <a:srgbClr val="ACAEC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燕尾形 34"/>
          <p:cNvSpPr/>
          <p:nvPr>
            <p:custDataLst>
              <p:tags r:id="rId7"/>
            </p:custDataLst>
          </p:nvPr>
        </p:nvSpPr>
        <p:spPr>
          <a:xfrm>
            <a:off x="8184515" y="3285490"/>
            <a:ext cx="614680" cy="614680"/>
          </a:xfrm>
          <a:prstGeom prst="chevron">
            <a:avLst/>
          </a:prstGeom>
          <a:gradFill>
            <a:gsLst>
              <a:gs pos="27000">
                <a:schemeClr val="accent1">
                  <a:lumMod val="5000"/>
                  <a:lumOff val="95000"/>
                </a:schemeClr>
              </a:gs>
              <a:gs pos="91000">
                <a:srgbClr val="ACAEC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AutoShape 59"/>
          <p:cNvSpPr/>
          <p:nvPr>
            <p:custDataLst>
              <p:tags r:id="rId8"/>
            </p:custDataLst>
          </p:nvPr>
        </p:nvSpPr>
        <p:spPr bwMode="auto">
          <a:xfrm>
            <a:off x="2319020" y="3422650"/>
            <a:ext cx="360045" cy="35877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lt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微软雅黑" panose="020B0503020204020204" charset="-122"/>
              <a:ea typeface="微软雅黑" panose="020B0503020204020204" charset="-122"/>
              <a:sym typeface="Gill Sans" charset="0"/>
            </a:endParaRPr>
          </a:p>
        </p:txBody>
      </p:sp>
      <p:grpSp>
        <p:nvGrpSpPr>
          <p:cNvPr id="2" name="组合 1"/>
          <p:cNvGrpSpPr/>
          <p:nvPr/>
        </p:nvGrpSpPr>
        <p:grpSpPr>
          <a:xfrm>
            <a:off x="4747895" y="3422015"/>
            <a:ext cx="358775" cy="359410"/>
            <a:chOff x="8078" y="3122"/>
            <a:chExt cx="565" cy="566"/>
          </a:xfrm>
        </p:grpSpPr>
        <p:sp>
          <p:nvSpPr>
            <p:cNvPr id="46" name="AutoShape 56"/>
            <p:cNvSpPr/>
            <p:nvPr>
              <p:custDataLst>
                <p:tags r:id="rId9"/>
              </p:custDataLst>
            </p:nvPr>
          </p:nvSpPr>
          <p:spPr bwMode="auto">
            <a:xfrm>
              <a:off x="8078" y="3122"/>
              <a:ext cx="177" cy="56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solidFill>
              <a:schemeClr val="lt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微软雅黑" panose="020B0503020204020204" charset="-122"/>
                <a:ea typeface="微软雅黑" panose="020B0503020204020204" charset="-122"/>
                <a:sym typeface="Gill Sans" charset="0"/>
              </a:endParaRPr>
            </a:p>
          </p:txBody>
        </p:sp>
        <p:sp>
          <p:nvSpPr>
            <p:cNvPr id="47" name="AutoShape 57"/>
            <p:cNvSpPr/>
            <p:nvPr>
              <p:custDataLst>
                <p:tags r:id="rId10"/>
              </p:custDataLst>
            </p:nvPr>
          </p:nvSpPr>
          <p:spPr bwMode="auto">
            <a:xfrm>
              <a:off x="8467" y="3122"/>
              <a:ext cx="177" cy="56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solidFill>
              <a:schemeClr val="lt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微软雅黑" panose="020B0503020204020204" charset="-122"/>
                <a:ea typeface="微软雅黑" panose="020B0503020204020204" charset="-122"/>
                <a:sym typeface="Gill Sans" charset="0"/>
              </a:endParaRPr>
            </a:p>
          </p:txBody>
        </p:sp>
        <p:sp>
          <p:nvSpPr>
            <p:cNvPr id="48" name="AutoShape 58"/>
            <p:cNvSpPr/>
            <p:nvPr>
              <p:custDataLst>
                <p:tags r:id="rId11"/>
              </p:custDataLst>
            </p:nvPr>
          </p:nvSpPr>
          <p:spPr bwMode="auto">
            <a:xfrm>
              <a:off x="8272" y="3122"/>
              <a:ext cx="177" cy="56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solidFill>
              <a:schemeClr val="lt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微软雅黑" panose="020B0503020204020204" charset="-122"/>
                <a:ea typeface="微软雅黑" panose="020B0503020204020204" charset="-122"/>
                <a:sym typeface="Gill Sans" charset="0"/>
              </a:endParaRPr>
            </a:p>
          </p:txBody>
        </p:sp>
      </p:grpSp>
      <p:sp>
        <p:nvSpPr>
          <p:cNvPr id="50" name="AutoShape 112"/>
          <p:cNvSpPr/>
          <p:nvPr>
            <p:custDataLst>
              <p:tags r:id="rId12"/>
            </p:custDataLst>
          </p:nvPr>
        </p:nvSpPr>
        <p:spPr bwMode="auto">
          <a:xfrm>
            <a:off x="7176135" y="3422015"/>
            <a:ext cx="360680" cy="35877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lt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微软雅黑" panose="020B0503020204020204" charset="-122"/>
              <a:ea typeface="微软雅黑" panose="020B0503020204020204" charset="-122"/>
              <a:sym typeface="Gill Sans" charset="0"/>
            </a:endParaRPr>
          </a:p>
        </p:txBody>
      </p:sp>
      <p:grpSp>
        <p:nvGrpSpPr>
          <p:cNvPr id="3" name="组合 2"/>
          <p:cNvGrpSpPr/>
          <p:nvPr/>
        </p:nvGrpSpPr>
        <p:grpSpPr>
          <a:xfrm>
            <a:off x="9551035" y="3420745"/>
            <a:ext cx="246380" cy="359410"/>
            <a:chOff x="8283" y="5688"/>
            <a:chExt cx="388" cy="566"/>
          </a:xfrm>
        </p:grpSpPr>
        <p:sp>
          <p:nvSpPr>
            <p:cNvPr id="52" name="AutoShape 113"/>
            <p:cNvSpPr/>
            <p:nvPr>
              <p:custDataLst>
                <p:tags r:id="rId13"/>
              </p:custDataLst>
            </p:nvPr>
          </p:nvSpPr>
          <p:spPr bwMode="auto">
            <a:xfrm>
              <a:off x="8283" y="5688"/>
              <a:ext cx="389" cy="5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chemeClr val="lt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微软雅黑" panose="020B0503020204020204" charset="-122"/>
                <a:ea typeface="微软雅黑" panose="020B0503020204020204" charset="-122"/>
                <a:sym typeface="Gill Sans" charset="0"/>
              </a:endParaRPr>
            </a:p>
          </p:txBody>
        </p:sp>
        <p:sp>
          <p:nvSpPr>
            <p:cNvPr id="53" name="AutoShape 114"/>
            <p:cNvSpPr/>
            <p:nvPr>
              <p:custDataLst>
                <p:tags r:id="rId14"/>
              </p:custDataLst>
            </p:nvPr>
          </p:nvSpPr>
          <p:spPr bwMode="auto">
            <a:xfrm>
              <a:off x="8371" y="5777"/>
              <a:ext cx="115" cy="1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solidFill>
              <a:schemeClr val="lt1"/>
            </a:solidFill>
            <a:ln>
              <a:no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微软雅黑" panose="020B0503020204020204" charset="-122"/>
                <a:ea typeface="微软雅黑" panose="020B0503020204020204" charset="-122"/>
                <a:sym typeface="Gill Sans" charset="0"/>
              </a:endParaRPr>
            </a:p>
          </p:txBody>
        </p:sp>
      </p:grpSp>
      <p:sp>
        <p:nvSpPr>
          <p:cNvPr id="6" name="文本框 5"/>
          <p:cNvSpPr txBox="1"/>
          <p:nvPr/>
        </p:nvSpPr>
        <p:spPr>
          <a:xfrm>
            <a:off x="1449070" y="4481830"/>
            <a:ext cx="2099945" cy="737235"/>
          </a:xfrm>
          <a:prstGeom prst="rect">
            <a:avLst/>
          </a:prstGeom>
          <a:noFill/>
        </p:spPr>
        <p:txBody>
          <a:bodyPr wrap="square" rtlCol="0">
            <a:spAutoFit/>
          </a:bodyPr>
          <a:p>
            <a:pPr algn="l">
              <a:buClrTx/>
              <a:buSzTx/>
              <a:buFontTx/>
            </a:pP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2024年12月-2025年1月 </a:t>
            </a:r>
            <a:br>
              <a:rPr lang="zh-CN" altLang="en-US">
                <a:solidFill>
                  <a:schemeClr val="tx1">
                    <a:lumMod val="75000"/>
                    <a:lumOff val="25000"/>
                  </a:schemeClr>
                </a:solidFill>
                <a:latin typeface="汉仪旗黑-55简" panose="00020600040101010101" charset="-128"/>
                <a:ea typeface="汉仪旗黑-55简" panose="00020600040101010101" charset="-128"/>
                <a:sym typeface="+mn-ea"/>
              </a:rPr>
            </a:b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补充第四章实验部分</a:t>
            </a:r>
            <a:endParaRPr lang="zh-CN" altLang="en-US">
              <a:solidFill>
                <a:schemeClr val="tx1">
                  <a:lumMod val="75000"/>
                  <a:lumOff val="25000"/>
                </a:schemeClr>
              </a:solidFill>
              <a:latin typeface="汉仪旗黑-55简" panose="00020600040101010101" charset="-128"/>
              <a:ea typeface="汉仪旗黑-55简" panose="00020600040101010101" charset="-128"/>
            </a:endParaRPr>
          </a:p>
          <a:p>
            <a:pPr algn="l">
              <a:buClrTx/>
              <a:buSzTx/>
              <a:buFontTx/>
            </a:pPr>
            <a:endParaRPr lang="zh-CN" altLang="en-US">
              <a:solidFill>
                <a:schemeClr val="tx1">
                  <a:lumMod val="75000"/>
                  <a:lumOff val="25000"/>
                </a:schemeClr>
              </a:solidFill>
              <a:latin typeface="汉仪旗黑-55简" panose="00020600040101010101" charset="-128"/>
              <a:ea typeface="汉仪旗黑-55简" panose="00020600040101010101" charset="-128"/>
            </a:endParaRPr>
          </a:p>
        </p:txBody>
      </p:sp>
      <p:sp>
        <p:nvSpPr>
          <p:cNvPr id="8" name="文本框 7"/>
          <p:cNvSpPr txBox="1"/>
          <p:nvPr/>
        </p:nvSpPr>
        <p:spPr>
          <a:xfrm>
            <a:off x="3869690" y="2058670"/>
            <a:ext cx="2114550" cy="737235"/>
          </a:xfrm>
          <a:prstGeom prst="rect">
            <a:avLst/>
          </a:prstGeom>
          <a:noFill/>
        </p:spPr>
        <p:txBody>
          <a:bodyPr wrap="square" rtlCol="0">
            <a:spAutoFit/>
          </a:bodyPr>
          <a:p>
            <a:pPr lvl="0" algn="l">
              <a:buClrTx/>
              <a:buSzTx/>
              <a:buFontTx/>
            </a:pP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202</a:t>
            </a:r>
            <a:r>
              <a:rPr lang="en-US" altLang="zh-CN">
                <a:solidFill>
                  <a:schemeClr val="tx1">
                    <a:lumMod val="75000"/>
                    <a:lumOff val="25000"/>
                  </a:schemeClr>
                </a:solidFill>
                <a:latin typeface="汉仪旗黑-55简" panose="00020600040101010101" charset="-128"/>
                <a:ea typeface="汉仪旗黑-55简" panose="00020600040101010101" charset="-128"/>
                <a:sym typeface="+mn-ea"/>
              </a:rPr>
              <a:t>5</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年</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1</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月</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-2025</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年</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2</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月</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 </a:t>
            </a:r>
            <a:br>
              <a:rPr lang="zh-CN" altLang="en-US">
                <a:solidFill>
                  <a:schemeClr val="tx1">
                    <a:lumMod val="75000"/>
                    <a:lumOff val="25000"/>
                  </a:schemeClr>
                </a:solidFill>
                <a:latin typeface="汉仪旗黑-55简" panose="00020600040101010101" charset="-128"/>
                <a:ea typeface="汉仪旗黑-55简" panose="00020600040101010101" charset="-128"/>
                <a:sym typeface="+mn-ea"/>
              </a:rPr>
            </a:b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完善大论文</a:t>
            </a:r>
            <a:endParaRPr lang="zh-CN" altLang="en-US">
              <a:solidFill>
                <a:schemeClr val="tx1">
                  <a:lumMod val="75000"/>
                  <a:lumOff val="25000"/>
                </a:schemeClr>
              </a:solidFill>
              <a:latin typeface="汉仪旗黑-55简" panose="00020600040101010101" charset="-128"/>
              <a:ea typeface="汉仪旗黑-55简" panose="00020600040101010101" charset="-128"/>
              <a:sym typeface="+mn-ea"/>
            </a:endParaRPr>
          </a:p>
          <a:p>
            <a:pPr lvl="0" algn="l">
              <a:buClrTx/>
              <a:buSzTx/>
              <a:buFontTx/>
            </a:pPr>
            <a:endParaRPr lang="zh-CN" altLang="en-US">
              <a:solidFill>
                <a:schemeClr val="tx1">
                  <a:lumMod val="75000"/>
                  <a:lumOff val="25000"/>
                </a:schemeClr>
              </a:solidFill>
              <a:latin typeface="汉仪旗黑-55简" panose="00020600040101010101" charset="-128"/>
              <a:ea typeface="汉仪旗黑-55简" panose="00020600040101010101" charset="-128"/>
              <a:sym typeface="+mn-ea"/>
            </a:endParaRPr>
          </a:p>
        </p:txBody>
      </p:sp>
      <p:sp>
        <p:nvSpPr>
          <p:cNvPr id="9" name="文本框 8"/>
          <p:cNvSpPr txBox="1"/>
          <p:nvPr/>
        </p:nvSpPr>
        <p:spPr>
          <a:xfrm>
            <a:off x="6605905" y="4489450"/>
            <a:ext cx="2044700" cy="737235"/>
          </a:xfrm>
          <a:prstGeom prst="rect">
            <a:avLst/>
          </a:prstGeom>
          <a:noFill/>
        </p:spPr>
        <p:txBody>
          <a:bodyPr wrap="square" rtlCol="0">
            <a:spAutoFit/>
          </a:bodyPr>
          <a:p>
            <a:r>
              <a:rPr lang="zh-CN" altLang="en-US">
                <a:solidFill>
                  <a:schemeClr val="tx1">
                    <a:lumMod val="75000"/>
                    <a:lumOff val="25000"/>
                  </a:schemeClr>
                </a:solidFill>
                <a:latin typeface="汉仪旗黑-55简" panose="00020600040101010101" charset="-128"/>
                <a:ea typeface="汉仪旗黑-55简" panose="00020600040101010101" charset="-128"/>
                <a:sym typeface="+mn-ea"/>
              </a:rPr>
              <a:t>202</a:t>
            </a:r>
            <a:r>
              <a:rPr lang="en-US" altLang="zh-CN">
                <a:solidFill>
                  <a:schemeClr val="tx1">
                    <a:lumMod val="75000"/>
                    <a:lumOff val="25000"/>
                  </a:schemeClr>
                </a:solidFill>
                <a:latin typeface="汉仪旗黑-55简" panose="00020600040101010101" charset="-128"/>
                <a:ea typeface="汉仪旗黑-55简" panose="00020600040101010101" charset="-128"/>
                <a:sym typeface="+mn-ea"/>
              </a:rPr>
              <a:t>5</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年2月-2025年3月 </a:t>
            </a:r>
            <a:br>
              <a:rPr lang="zh-CN" altLang="en-US">
                <a:solidFill>
                  <a:schemeClr val="tx1">
                    <a:lumMod val="75000"/>
                    <a:lumOff val="25000"/>
                  </a:schemeClr>
                </a:solidFill>
                <a:latin typeface="汉仪旗黑-55简" panose="00020600040101010101" charset="-128"/>
                <a:ea typeface="汉仪旗黑-55简" panose="00020600040101010101" charset="-128"/>
                <a:sym typeface="+mn-ea"/>
              </a:rPr>
            </a:b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定稿，准备盲审</a:t>
            </a:r>
            <a:endParaRPr lang="zh-CN" altLang="en-US">
              <a:solidFill>
                <a:schemeClr val="tx1">
                  <a:lumMod val="75000"/>
                  <a:lumOff val="25000"/>
                </a:schemeClr>
              </a:solidFill>
              <a:latin typeface="汉仪旗黑-55简" panose="00020600040101010101" charset="-128"/>
              <a:ea typeface="汉仪旗黑-55简" panose="00020600040101010101" charset="-128"/>
            </a:endParaRPr>
          </a:p>
          <a:p>
            <a:endParaRPr lang="zh-CN" altLang="en-US">
              <a:solidFill>
                <a:schemeClr val="tx1">
                  <a:lumMod val="75000"/>
                  <a:lumOff val="25000"/>
                </a:schemeClr>
              </a:solidFill>
              <a:latin typeface="汉仪旗黑-55简" panose="00020600040101010101" charset="-128"/>
              <a:ea typeface="汉仪旗黑-55简" panose="00020600040101010101" charset="-128"/>
            </a:endParaRPr>
          </a:p>
        </p:txBody>
      </p:sp>
      <p:sp>
        <p:nvSpPr>
          <p:cNvPr id="12" name="文本框 11"/>
          <p:cNvSpPr txBox="1"/>
          <p:nvPr/>
        </p:nvSpPr>
        <p:spPr>
          <a:xfrm>
            <a:off x="9018905" y="2058670"/>
            <a:ext cx="2032635" cy="737235"/>
          </a:xfrm>
          <a:prstGeom prst="rect">
            <a:avLst/>
          </a:prstGeom>
          <a:noFill/>
        </p:spPr>
        <p:txBody>
          <a:bodyPr wrap="square" rtlCol="0">
            <a:spAutoFit/>
          </a:bodyPr>
          <a:p>
            <a:pPr algn="l">
              <a:buClrTx/>
              <a:buSzTx/>
              <a:buNone/>
            </a:pP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202</a:t>
            </a:r>
            <a:r>
              <a:rPr lang="en-US" altLang="zh-CN">
                <a:solidFill>
                  <a:schemeClr val="tx1">
                    <a:lumMod val="75000"/>
                    <a:lumOff val="25000"/>
                  </a:schemeClr>
                </a:solidFill>
                <a:latin typeface="汉仪旗黑-55简" panose="00020600040101010101" charset="-128"/>
                <a:ea typeface="汉仪旗黑-55简" panose="00020600040101010101" charset="-128"/>
                <a:sym typeface="+mn-ea"/>
              </a:rPr>
              <a:t>5</a:t>
            </a: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年3月-2025年5月 </a:t>
            </a:r>
            <a:br>
              <a:rPr lang="zh-CN" altLang="en-US">
                <a:solidFill>
                  <a:schemeClr val="tx1">
                    <a:lumMod val="75000"/>
                    <a:lumOff val="25000"/>
                  </a:schemeClr>
                </a:solidFill>
                <a:latin typeface="汉仪旗黑-55简" panose="00020600040101010101" charset="-128"/>
                <a:ea typeface="汉仪旗黑-55简" panose="00020600040101010101" charset="-128"/>
                <a:sym typeface="+mn-ea"/>
              </a:rPr>
            </a:br>
            <a:r>
              <a:rPr lang="zh-CN" altLang="en-US">
                <a:solidFill>
                  <a:schemeClr val="tx1">
                    <a:lumMod val="75000"/>
                    <a:lumOff val="25000"/>
                  </a:schemeClr>
                </a:solidFill>
                <a:latin typeface="汉仪旗黑-55简" panose="00020600040101010101" charset="-128"/>
                <a:ea typeface="汉仪旗黑-55简" panose="00020600040101010101" charset="-128"/>
                <a:sym typeface="+mn-ea"/>
              </a:rPr>
              <a:t>答辩</a:t>
            </a:r>
            <a:endParaRPr lang="zh-CN" altLang="en-US">
              <a:solidFill>
                <a:schemeClr val="tx1">
                  <a:lumMod val="75000"/>
                  <a:lumOff val="25000"/>
                </a:schemeClr>
              </a:solidFill>
              <a:latin typeface="汉仪旗黑-55简" panose="00020600040101010101" charset="-128"/>
              <a:ea typeface="汉仪旗黑-55简" panose="00020600040101010101" charset="-128"/>
            </a:endParaRPr>
          </a:p>
          <a:p>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p:nvSpPr>
        <p:spPr>
          <a:xfrm>
            <a:off x="3048001" y="1431015"/>
            <a:ext cx="6096000" cy="1691640"/>
          </a:xfrm>
          <a:prstGeom prst="rect">
            <a:avLst/>
          </a:prstGeom>
          <a:noFill/>
        </p:spPr>
        <p:txBody>
          <a:bodyPr wrap="square" lIns="91440" tIns="45720" rIns="91440" bIns="45720" rtlCol="0">
            <a:spAutoFit/>
          </a:bodyPr>
          <a:lstStyle/>
          <a:p>
            <a:pPr algn="ctr">
              <a:defRPr/>
            </a:pPr>
            <a:r>
              <a:rPr lang="en-US" altLang="zh-CN" sz="10400"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THANKS</a:t>
            </a:r>
            <a:endParaRPr lang="en-US" altLang="zh-CN" sz="10400"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sp>
        <p:nvSpPr>
          <p:cNvPr id="2" name="文本框 1"/>
          <p:cNvSpPr txBox="1"/>
          <p:nvPr/>
        </p:nvSpPr>
        <p:spPr>
          <a:xfrm>
            <a:off x="3274033" y="2795742"/>
            <a:ext cx="5643936" cy="748030"/>
          </a:xfrm>
          <a:prstGeom prst="rect">
            <a:avLst/>
          </a:prstGeom>
          <a:noFill/>
        </p:spPr>
        <p:txBody>
          <a:bodyPr wrap="square" lIns="91440" tIns="45720" rIns="91440" bIns="45720" rtlCol="0">
            <a:spAutoFit/>
          </a:bodyPr>
          <a:lstStyle/>
          <a:p>
            <a:pPr algn="ctr">
              <a:defRPr/>
            </a:pPr>
            <a:r>
              <a:rPr lang="zh-CN" altLang="en-US" sz="4265"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请各位老师批评</a:t>
            </a:r>
            <a:r>
              <a:rPr lang="zh-CN" altLang="en-US" sz="4265" dirty="0">
                <a:solidFill>
                  <a:srgbClr val="5E7397"/>
                </a:solidFill>
                <a:latin typeface="汉仪旗黑-55简" panose="00020600040101010101" charset="-128"/>
                <a:ea typeface="汉仪旗黑-55简" panose="00020600040101010101" charset="-128"/>
                <a:cs typeface="汉仪旗黑-55简" panose="00020600040101010101" charset="-128"/>
                <a:sym typeface="+mn-ea"/>
              </a:rPr>
              <a:t>指正</a:t>
            </a:r>
            <a:endParaRPr lang="zh-CN" altLang="en-US" sz="4265" dirty="0">
              <a:solidFill>
                <a:srgbClr val="5E7397"/>
              </a:solidFill>
              <a:latin typeface="汉仪旗黑-55简" panose="00020600040101010101" charset="-128"/>
              <a:ea typeface="汉仪旗黑-55简" panose="00020600040101010101" charset="-128"/>
              <a:cs typeface="汉仪旗黑-55简" panose="00020600040101010101" charset="-128"/>
              <a:sym typeface="+mn-ea"/>
            </a:endParaRPr>
          </a:p>
        </p:txBody>
      </p:sp>
      <p:grpSp>
        <p:nvGrpSpPr>
          <p:cNvPr id="36" name="组合 35"/>
          <p:cNvGrpSpPr/>
          <p:nvPr/>
        </p:nvGrpSpPr>
        <p:grpSpPr>
          <a:xfrm>
            <a:off x="0" y="4085590"/>
            <a:ext cx="12192000" cy="2772410"/>
            <a:chOff x="0" y="5835"/>
            <a:chExt cx="19200" cy="4965"/>
          </a:xfrm>
        </p:grpSpPr>
        <p:sp>
          <p:nvSpPr>
            <p:cNvPr id="4" name="任意多边形 3"/>
            <p:cNvSpPr/>
            <p:nvPr/>
          </p:nvSpPr>
          <p:spPr>
            <a:xfrm>
              <a:off x="0" y="5835"/>
              <a:ext cx="19201" cy="4434"/>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 h="4434">
                  <a:moveTo>
                    <a:pt x="14525" y="0"/>
                  </a:moveTo>
                  <a:lnTo>
                    <a:pt x="14525" y="3166"/>
                  </a:lnTo>
                  <a:lnTo>
                    <a:pt x="14506" y="3176"/>
                  </a:lnTo>
                  <a:cubicBezTo>
                    <a:pt x="7083" y="5530"/>
                    <a:pt x="1867" y="4072"/>
                    <a:pt x="5" y="2899"/>
                  </a:cubicBezTo>
                  <a:lnTo>
                    <a:pt x="0" y="2896"/>
                  </a:lnTo>
                  <a:lnTo>
                    <a:pt x="0" y="2888"/>
                  </a:lnTo>
                  <a:lnTo>
                    <a:pt x="58" y="2913"/>
                  </a:lnTo>
                  <a:cubicBezTo>
                    <a:pt x="4092" y="4628"/>
                    <a:pt x="10283" y="3674"/>
                    <a:pt x="14464" y="53"/>
                  </a:cubicBezTo>
                  <a:lnTo>
                    <a:pt x="14525"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1" name="任意多边形 20"/>
            <p:cNvSpPr/>
            <p:nvPr/>
          </p:nvSpPr>
          <p:spPr>
            <a:xfrm>
              <a:off x="0" y="8716"/>
              <a:ext cx="19201" cy="2084"/>
            </a:xfrm>
            <a:custGeom>
              <a:avLst/>
              <a:gdLst/>
              <a:ahLst/>
              <a:cxnLst>
                <a:cxn ang="3">
                  <a:pos x="hc" y="t"/>
                </a:cxn>
                <a:cxn ang="cd2">
                  <a:pos x="l" y="vc"/>
                </a:cxn>
                <a:cxn ang="cd4">
                  <a:pos x="hc" y="b"/>
                </a:cxn>
                <a:cxn ang="0">
                  <a:pos x="r" y="vc"/>
                </a:cxn>
              </a:cxnLst>
              <a:rect l="l" t="t" r="r" b="b"/>
              <a:pathLst>
                <a:path w="14525" h="2084">
                  <a:moveTo>
                    <a:pt x="0" y="0"/>
                  </a:moveTo>
                  <a:lnTo>
                    <a:pt x="5" y="3"/>
                  </a:lnTo>
                  <a:cubicBezTo>
                    <a:pt x="1867" y="1176"/>
                    <a:pt x="7083" y="2634"/>
                    <a:pt x="14506" y="280"/>
                  </a:cubicBezTo>
                  <a:lnTo>
                    <a:pt x="14525" y="270"/>
                  </a:lnTo>
                  <a:lnTo>
                    <a:pt x="14525" y="2084"/>
                  </a:lnTo>
                  <a:lnTo>
                    <a:pt x="0" y="2084"/>
                  </a:lnTo>
                  <a:lnTo>
                    <a:pt x="0" y="0"/>
                  </a:lnTo>
                  <a:close/>
                </a:path>
              </a:pathLst>
            </a:cu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grpSp>
      <p:grpSp>
        <p:nvGrpSpPr>
          <p:cNvPr id="38" name="组合 37"/>
          <p:cNvGrpSpPr/>
          <p:nvPr/>
        </p:nvGrpSpPr>
        <p:grpSpPr>
          <a:xfrm>
            <a:off x="10673080" y="440690"/>
            <a:ext cx="990600" cy="396240"/>
            <a:chOff x="17095" y="476"/>
            <a:chExt cx="1560" cy="624"/>
          </a:xfrm>
          <a:solidFill>
            <a:srgbClr val="ACAECF"/>
          </a:solidFill>
        </p:grpSpPr>
        <p:sp>
          <p:nvSpPr>
            <p:cNvPr id="40" name="椭圆 39"/>
            <p:cNvSpPr/>
            <p:nvPr/>
          </p:nvSpPr>
          <p:spPr>
            <a:xfrm>
              <a:off x="17095"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2" name="椭圆 41"/>
            <p:cNvSpPr/>
            <p:nvPr/>
          </p:nvSpPr>
          <p:spPr>
            <a:xfrm>
              <a:off x="17537"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3" name="椭圆 42"/>
            <p:cNvSpPr/>
            <p:nvPr/>
          </p:nvSpPr>
          <p:spPr>
            <a:xfrm>
              <a:off x="18421" y="47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4" name="椭圆 43"/>
            <p:cNvSpPr/>
            <p:nvPr/>
          </p:nvSpPr>
          <p:spPr>
            <a:xfrm>
              <a:off x="17979" y="47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5" name="椭圆 44"/>
            <p:cNvSpPr/>
            <p:nvPr/>
          </p:nvSpPr>
          <p:spPr>
            <a:xfrm>
              <a:off x="17095"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6" name="椭圆 45"/>
            <p:cNvSpPr/>
            <p:nvPr/>
          </p:nvSpPr>
          <p:spPr>
            <a:xfrm>
              <a:off x="17537"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7" name="椭圆 46"/>
            <p:cNvSpPr/>
            <p:nvPr/>
          </p:nvSpPr>
          <p:spPr>
            <a:xfrm>
              <a:off x="18421" y="866"/>
              <a:ext cx="235" cy="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sp>
          <p:nvSpPr>
            <p:cNvPr id="48" name="椭圆 47"/>
            <p:cNvSpPr/>
            <p:nvPr/>
          </p:nvSpPr>
          <p:spPr>
            <a:xfrm>
              <a:off x="17979" y="866"/>
              <a:ext cx="235" cy="235"/>
            </a:xfrm>
            <a:prstGeom prst="ellipse">
              <a:avLst/>
            </a:prstGeom>
            <a:solidFill>
              <a:srgbClr val="5E7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汉仪旗黑-55简" panose="00020600040101010101" charset="-128"/>
              </a:endParaRPr>
            </a:p>
          </p:txBody>
        </p:sp>
      </p:grpSp>
      <p:sp>
        <p:nvSpPr>
          <p:cNvPr id="50" name="任意多边形 49"/>
          <p:cNvSpPr/>
          <p:nvPr/>
        </p:nvSpPr>
        <p:spPr>
          <a:xfrm flipH="1" flipV="1">
            <a:off x="0" y="0"/>
            <a:ext cx="3636010" cy="1015365"/>
          </a:xfrm>
          <a:custGeom>
            <a:avLst/>
            <a:gdLst>
              <a:gd name="connsiteX0" fmla="*/ 0 w 15190"/>
              <a:gd name="connsiteY0" fmla="*/ 2905 h 4467"/>
              <a:gd name="connsiteX1" fmla="*/ 14601 w 15190"/>
              <a:gd name="connsiteY1" fmla="*/ 0 h 4467"/>
              <a:gd name="connsiteX2" fmla="*/ 15190 w 15190"/>
              <a:gd name="connsiteY2" fmla="*/ 2886 h 4467"/>
              <a:gd name="connsiteX3" fmla="*/ 14544 w 15190"/>
              <a:gd name="connsiteY3" fmla="*/ 3209 h 4467"/>
              <a:gd name="connsiteX4" fmla="*/ 0 w 15190"/>
              <a:gd name="connsiteY4" fmla="*/ 2905 h 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2" h="1900">
                <a:moveTo>
                  <a:pt x="7742" y="0"/>
                </a:moveTo>
                <a:lnTo>
                  <a:pt x="7742" y="1900"/>
                </a:lnTo>
                <a:lnTo>
                  <a:pt x="0" y="1900"/>
                </a:lnTo>
                <a:lnTo>
                  <a:pt x="145" y="1881"/>
                </a:lnTo>
                <a:cubicBezTo>
                  <a:pt x="2818" y="1528"/>
                  <a:pt x="5425" y="917"/>
                  <a:pt x="7621" y="49"/>
                </a:cubicBezTo>
                <a:lnTo>
                  <a:pt x="7742" y="0"/>
                </a:lnTo>
                <a:close/>
              </a:path>
            </a:pathLst>
          </a:custGeom>
          <a:solidFill>
            <a:srgbClr val="ACAEC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56" name="文本框 55"/>
          <p:cNvSpPr txBox="1"/>
          <p:nvPr/>
        </p:nvSpPr>
        <p:spPr>
          <a:xfrm>
            <a:off x="3018155" y="5072380"/>
            <a:ext cx="6155690" cy="368300"/>
          </a:xfrm>
          <a:prstGeom prst="rect">
            <a:avLst/>
          </a:prstGeom>
          <a:noFill/>
        </p:spPr>
        <p:txBody>
          <a:bodyPr wrap="square" rtlCol="0">
            <a:spAutoFit/>
          </a:bodyPr>
          <a:p>
            <a:pPr algn="ctr"/>
            <a:r>
              <a:rPr 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计算机科学与技术学院</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altLang="zh-CN"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    </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专业：</a:t>
            </a:r>
            <a:r>
              <a:rPr lang="en-US" altLang="zh-CN" sz="1800" dirty="0">
                <a:solidFill>
                  <a:srgbClr val="5E7397"/>
                </a:solidFill>
                <a:latin typeface="汉仪旗黑-55简" panose="00020600040101010101" charset="-128"/>
                <a:ea typeface="汉仪旗黑-55简" panose="00020600040101010101" charset="-128"/>
                <a:cs typeface="汉仪旗黑-55简" panose="00020600040101010101" charset="-128"/>
              </a:rPr>
              <a:t> </a:t>
            </a:r>
            <a:r>
              <a:rPr 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23</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电子</a:t>
            </a:r>
            <a:r>
              <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rPr>
              <a:t>信息</a:t>
            </a:r>
            <a:endParaRPr lang="zh-CN" altLang="en-US" sz="1800" dirty="0" smtClean="0">
              <a:solidFill>
                <a:srgbClr val="5E7397"/>
              </a:solidFill>
              <a:latin typeface="汉仪旗黑-55简" panose="00020600040101010101" charset="-128"/>
              <a:ea typeface="汉仪旗黑-55简" panose="00020600040101010101" charset="-128"/>
              <a:cs typeface="汉仪旗黑-55简" panose="00020600040101010101" charset="-128"/>
            </a:endParaRPr>
          </a:p>
        </p:txBody>
      </p:sp>
      <p:grpSp>
        <p:nvGrpSpPr>
          <p:cNvPr id="57" name="组合 56"/>
          <p:cNvGrpSpPr/>
          <p:nvPr/>
        </p:nvGrpSpPr>
        <p:grpSpPr>
          <a:xfrm rot="0">
            <a:off x="3815080" y="4627245"/>
            <a:ext cx="4563110" cy="330835"/>
            <a:chOff x="5500" y="7882"/>
            <a:chExt cx="8221" cy="596"/>
          </a:xfrm>
          <a:solidFill>
            <a:srgbClr val="5E7397"/>
          </a:solidFill>
        </p:grpSpPr>
        <p:sp>
          <p:nvSpPr>
            <p:cNvPr id="58" name="矩形 26"/>
            <p:cNvSpPr/>
            <p:nvPr/>
          </p:nvSpPr>
          <p:spPr>
            <a:xfrm>
              <a:off x="5500" y="7882"/>
              <a:ext cx="3870"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答辩人</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rPr>
                <a:t>张浩</a:t>
              </a:r>
              <a:endPar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endParaRPr>
            </a:p>
          </p:txBody>
        </p:sp>
        <p:sp>
          <p:nvSpPr>
            <p:cNvPr id="59" name="矩形 27"/>
            <p:cNvSpPr/>
            <p:nvPr/>
          </p:nvSpPr>
          <p:spPr>
            <a:xfrm>
              <a:off x="9843" y="7882"/>
              <a:ext cx="3879" cy="596"/>
            </a:xfrm>
            <a:prstGeom prst="roundRect">
              <a:avLst>
                <a:gd name="adj" fmla="val 50000"/>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10000"/>
                </a:lnSpc>
                <a:spcBef>
                  <a:spcPts val="0"/>
                </a:spcBef>
                <a:spcAft>
                  <a:spcPts val="0"/>
                </a:spcAft>
              </a:pPr>
              <a:r>
                <a:rPr lang="zh-CN" altLang="en-US" sz="1800" dirty="0">
                  <a:solidFill>
                    <a:schemeClr val="bg1"/>
                  </a:solidFill>
                  <a:latin typeface="汉仪旗黑-55简" panose="00020600040101010101" charset="-128"/>
                  <a:ea typeface="汉仪旗黑-55简" panose="00020600040101010101" charset="-128"/>
                  <a:cs typeface="汉仪旗黑-55简" panose="00020600040101010101" charset="-128"/>
                </a:rPr>
                <a:t>导师</a:t>
              </a:r>
              <a:r>
                <a:rPr lang="zh-CN" altLang="en-US" sz="1800" dirty="0" smtClean="0">
                  <a:solidFill>
                    <a:schemeClr val="bg1"/>
                  </a:solidFill>
                  <a:latin typeface="汉仪旗黑-55简" panose="00020600040101010101" charset="-128"/>
                  <a:ea typeface="汉仪旗黑-55简" panose="00020600040101010101" charset="-128"/>
                  <a:cs typeface="汉仪旗黑-55简" panose="00020600040101010101" charset="-128"/>
                </a:rPr>
                <a:t>：</a:t>
              </a:r>
              <a:r>
                <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rPr>
                <a:t>刁宇峰</a:t>
              </a:r>
              <a:endParaRPr lang="zh-CN" altLang="en-US" sz="1800" dirty="0" err="1">
                <a:solidFill>
                  <a:schemeClr val="bg1"/>
                </a:solidFill>
                <a:latin typeface="汉仪旗黑-55简" panose="00020600040101010101" charset="-128"/>
                <a:ea typeface="汉仪旗黑-55简" panose="00020600040101010101" charset="-128"/>
                <a:cs typeface="汉仪旗黑-55简" panose="00020600040101010101" charset="-128"/>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209.9,&quot;left&quot;:126.1,&quot;top&quot;:212.2,&quot;width&quot;:688.7}"/>
</p:tagLst>
</file>

<file path=ppt/tags/tag2.xml><?xml version="1.0" encoding="utf-8"?>
<p:tagLst xmlns:p="http://schemas.openxmlformats.org/presentationml/2006/main">
  <p:tag name="KSO_WM_DIAGRAM_VIRTUALLY_FRAME" val="{&quot;height&quot;:209.9,&quot;left&quot;:126.1,&quot;top&quot;:212.2,&quot;width&quot;:688.7}"/>
</p:tagLst>
</file>

<file path=ppt/tags/tag3.xml><?xml version="1.0" encoding="utf-8"?>
<p:tagLst xmlns:p="http://schemas.openxmlformats.org/presentationml/2006/main">
  <p:tag name="KSO_WM_DIAGRAM_VIRTUALLY_FRAME" val="{&quot;height&quot;:209.9,&quot;left&quot;:126.1,&quot;top&quot;:212.2,&quot;width&quot;:688.7}"/>
</p:tagLst>
</file>

<file path=ppt/tags/tag4.xml><?xml version="1.0" encoding="utf-8"?>
<p:tagLst xmlns:p="http://schemas.openxmlformats.org/presentationml/2006/main">
  <p:tag name="KSO_WM_DIAGRAM_VIRTUALLY_FRAME" val="{&quot;height&quot;:209.9,&quot;left&quot;:126.1,&quot;top&quot;:212.2,&quot;width&quot;:688.7}"/>
</p:tagLst>
</file>

<file path=ppt/tags/tag5.xml><?xml version="1.0" encoding="utf-8"?>
<p:tagLst xmlns:p="http://schemas.openxmlformats.org/presentationml/2006/main">
  <p:tag name="KSO_WM_DIAGRAM_VIRTUALLY_FRAME" val="{&quot;height&quot;:209.9,&quot;left&quot;:126.1,&quot;top&quot;:212.2,&quot;width&quot;:688.7}"/>
</p:tagLst>
</file>

<file path=ppt/tags/tag6.xml><?xml version="1.0" encoding="utf-8"?>
<p:tagLst xmlns:p="http://schemas.openxmlformats.org/presentationml/2006/main">
  <p:tag name="KSO_WM_DIAGRAM_VIRTUALLY_FRAME" val="{&quot;height&quot;:209.9,&quot;left&quot;:126.1,&quot;top&quot;:212.2,&quot;width&quot;:688.7}"/>
</p:tagLst>
</file>

<file path=ppt/tags/tag7.xml><?xml version="1.0" encoding="utf-8"?>
<p:tagLst xmlns:p="http://schemas.openxmlformats.org/presentationml/2006/main">
  <p:tag name="KSO_WM_DIAGRAM_VIRTUALLY_FRAME" val="{&quot;height&quot;:209.9,&quot;left&quot;:126.1,&quot;top&quot;:212.2,&quot;width&quot;:688.7}"/>
</p:tagLst>
</file>

<file path=ppt/tags/tag8.xml><?xml version="1.0" encoding="utf-8"?>
<p:tagLst xmlns:p="http://schemas.openxmlformats.org/presentationml/2006/main">
  <p:tag name="KSO_WM_DIAGRAM_VIRTUALLY_FRAME" val="{&quot;height&quot;:209.9,&quot;left&quot;:126.1,&quot;top&quot;:212.2,&quot;width&quot;:688.7}"/>
</p:tagLst>
</file>

<file path=ppt/tags/tag9.xml><?xml version="1.0" encoding="utf-8"?>
<p:tagLst xmlns:p="http://schemas.openxmlformats.org/presentationml/2006/main">
  <p:tag name="KSO_WM_DIAGRAM_VIRTUALLY_FRAME" val="{&quot;height&quot;:209.9,&quot;left&quot;:126.1,&quot;top&quot;:212.2,&quot;width&quot;:688.7}"/>
</p:tagLst>
</file>

<file path=ppt/tags/tag10.xml><?xml version="1.0" encoding="utf-8"?>
<p:tagLst xmlns:p="http://schemas.openxmlformats.org/presentationml/2006/main">
  <p:tag name="KSO_WM_DIAGRAM_VIRTUALLY_FRAME" val="{&quot;height&quot;:209.9,&quot;left&quot;:126.1,&quot;top&quot;:212.2,&quot;width&quot;:688.7}"/>
</p:tagLst>
</file>

<file path=ppt/tags/tag11.xml><?xml version="1.0" encoding="utf-8"?>
<p:tagLst xmlns:p="http://schemas.openxmlformats.org/presentationml/2006/main">
  <p:tag name="KSO_WM_DIAGRAM_VIRTUALLY_FRAME" val="{&quot;height&quot;:209.9,&quot;left&quot;:126.1,&quot;top&quot;:212.2,&quot;width&quot;:688.7}"/>
</p:tagLst>
</file>

<file path=ppt/tags/tag12.xml><?xml version="1.0" encoding="utf-8"?>
<p:tagLst xmlns:p="http://schemas.openxmlformats.org/presentationml/2006/main">
  <p:tag name="KSO_WM_DIAGRAM_VIRTUALLY_FRAME" val="{&quot;height&quot;:209.9,&quot;left&quot;:126.1,&quot;top&quot;:212.2,&quot;width&quot;:688.7}"/>
</p:tagLst>
</file>

<file path=ppt/tags/tag13.xml><?xml version="1.0" encoding="utf-8"?>
<p:tagLst xmlns:p="http://schemas.openxmlformats.org/presentationml/2006/main">
  <p:tag name="KSO_WM_DIAGRAM_VIRTUALLY_FRAME" val="{&quot;height&quot;:318.6,&quot;left&quot;:125.3,&quot;top&quot;:129.1,&quot;width&quot;:709.4}"/>
</p:tagLst>
</file>

<file path=ppt/tags/tag14.xml><?xml version="1.0" encoding="utf-8"?>
<p:tagLst xmlns:p="http://schemas.openxmlformats.org/presentationml/2006/main">
  <p:tag name="KSO_WM_DIAGRAM_VIRTUALLY_FRAME" val="{&quot;height&quot;:318.6,&quot;left&quot;:125.3,&quot;top&quot;:129.1,&quot;width&quot;:709.4}"/>
</p:tagLst>
</file>

<file path=ppt/tags/tag15.xml><?xml version="1.0" encoding="utf-8"?>
<p:tagLst xmlns:p="http://schemas.openxmlformats.org/presentationml/2006/main">
  <p:tag name="KSO_WM_DIAGRAM_VIRTUALLY_FRAME" val="{&quot;height&quot;:318.6,&quot;left&quot;:125.3,&quot;top&quot;:129.1,&quot;width&quot;:709.4}"/>
</p:tagLst>
</file>

<file path=ppt/tags/tag16.xml><?xml version="1.0" encoding="utf-8"?>
<p:tagLst xmlns:p="http://schemas.openxmlformats.org/presentationml/2006/main">
  <p:tag name="KSO_WM_DIAGRAM_VIRTUALLY_FRAME" val="{&quot;height&quot;:318.6,&quot;left&quot;:125.3,&quot;top&quot;:129.1,&quot;width&quot;:709.4}"/>
</p:tagLst>
</file>

<file path=ppt/tags/tag17.xml><?xml version="1.0" encoding="utf-8"?>
<p:tagLst xmlns:p="http://schemas.openxmlformats.org/presentationml/2006/main">
  <p:tag name="KSO_WM_DIAGRAM_VIRTUALLY_FRAME" val="{&quot;height&quot;:318.6,&quot;left&quot;:125.3,&quot;top&quot;:129.1,&quot;width&quot;:709.4}"/>
</p:tagLst>
</file>

<file path=ppt/tags/tag18.xml><?xml version="1.0" encoding="utf-8"?>
<p:tagLst xmlns:p="http://schemas.openxmlformats.org/presentationml/2006/main">
  <p:tag name="KSO_WM_DIAGRAM_VIRTUALLY_FRAME" val="{&quot;height&quot;:318.6,&quot;left&quot;:125.3,&quot;top&quot;:129.1,&quot;width&quot;:709.4}"/>
</p:tagLst>
</file>

<file path=ppt/tags/tag19.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2.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3.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4.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7.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8.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29.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2.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3.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4.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36.xml><?xml version="1.0" encoding="utf-8"?>
<p:tagLst xmlns:p="http://schemas.openxmlformats.org/presentationml/2006/main">
  <p:tag name="KSO_WM_DIAGRAM_VIRTUALLY_FRAME" val="{&quot;height&quot;:332.6,&quot;left&quot;:471.6,&quot;top&quot;:115.75,&quot;width&quot;:420.35}"/>
</p:tagLst>
</file>

<file path=ppt/tags/tag37.xml><?xml version="1.0" encoding="utf-8"?>
<p:tagLst xmlns:p="http://schemas.openxmlformats.org/presentationml/2006/main">
  <p:tag name="KSO_WM_DIAGRAM_VIRTUALLY_FRAME" val="{&quot;height&quot;:332.6,&quot;left&quot;:471.6,&quot;top&quot;:115.75,&quot;width&quot;:420.35}"/>
</p:tagLst>
</file>

<file path=ppt/tags/tag38.xml><?xml version="1.0" encoding="utf-8"?>
<p:tagLst xmlns:p="http://schemas.openxmlformats.org/presentationml/2006/main">
  <p:tag name="KSO_WM_DIAGRAM_VIRTUALLY_FRAME" val="{&quot;height&quot;:332.6,&quot;left&quot;:471.6,&quot;top&quot;:115.75,&quot;width&quot;:420.35}"/>
</p:tagLst>
</file>

<file path=ppt/tags/tag39.xml><?xml version="1.0" encoding="utf-8"?>
<p:tagLst xmlns:p="http://schemas.openxmlformats.org/presentationml/2006/main">
  <p:tag name="KSO_WM_DIAGRAM_VIRTUALLY_FRAME" val="{&quot;height&quot;:332.6,&quot;left&quot;:471.6,&quot;top&quot;:115.75,&quot;width&quot;:420.35}"/>
</p:tagLst>
</file>

<file path=ppt/tags/tag40.xml><?xml version="1.0" encoding="utf-8"?>
<p:tagLst xmlns:p="http://schemas.openxmlformats.org/presentationml/2006/main">
  <p:tag name="KSO_WM_DIAGRAM_VIRTUALLY_FRAME" val="{&quot;height&quot;:332.6,&quot;left&quot;:471.6,&quot;top&quot;:115.75,&quot;width&quot;:420.35}"/>
</p:tagLst>
</file>

<file path=ppt/tags/tag41.xml><?xml version="1.0" encoding="utf-8"?>
<p:tagLst xmlns:p="http://schemas.openxmlformats.org/presentationml/2006/main">
  <p:tag name="KSO_WM_DIAGRAM_VIRTUALLY_FRAME" val="{&quot;height&quot;:332.6,&quot;left&quot;:471.6,&quot;top&quot;:115.75,&quot;width&quot;:420.35}"/>
</p:tagLst>
</file>

<file path=ppt/tags/tag42.xml><?xml version="1.0" encoding="utf-8"?>
<p:tagLst xmlns:p="http://schemas.openxmlformats.org/presentationml/2006/main">
  <p:tag name="KSO_WM_DIAGRAM_VIRTUALLY_FRAME" val="{&quot;height&quot;:332.6,&quot;left&quot;:471.6,&quot;top&quot;:115.75,&quot;width&quot;:420.35}"/>
</p:tagLst>
</file>

<file path=ppt/tags/tag43.xml><?xml version="1.0" encoding="utf-8"?>
<p:tagLst xmlns:p="http://schemas.openxmlformats.org/presentationml/2006/main">
  <p:tag name="KSO_WM_DIAGRAM_VIRTUALLY_FRAME" val="{&quot;height&quot;:332.6,&quot;left&quot;:471.6,&quot;top&quot;:115.75,&quot;width&quot;:420.35}"/>
</p:tagLst>
</file>

<file path=ppt/tags/tag44.xml><?xml version="1.0" encoding="utf-8"?>
<p:tagLst xmlns:p="http://schemas.openxmlformats.org/presentationml/2006/main">
  <p:tag name="KSO_WM_DIAGRAM_VIRTUALLY_FRAME" val="{&quot;height&quot;:332.6,&quot;left&quot;:471.6,&quot;top&quot;:115.75,&quot;width&quot;:420.35}"/>
</p:tagLst>
</file>

<file path=ppt/tags/tag45.xml><?xml version="1.0" encoding="utf-8"?>
<p:tagLst xmlns:p="http://schemas.openxmlformats.org/presentationml/2006/main">
  <p:tag name="KSO_WM_DIAGRAM_VIRTUALLY_FRAME" val="{&quot;height&quot;:332.6,&quot;left&quot;:471.6,&quot;top&quot;:115.75,&quot;width&quot;:420.35}"/>
</p:tagLst>
</file>

<file path=ppt/tags/tag46.xml><?xml version="1.0" encoding="utf-8"?>
<p:tagLst xmlns:p="http://schemas.openxmlformats.org/presentationml/2006/main">
  <p:tag name="KSO_WM_DIAGRAM_VIRTUALLY_FRAME" val="{&quot;height&quot;:332.6,&quot;left&quot;:471.6,&quot;top&quot;:115.75,&quot;width&quot;:420.35}"/>
</p:tagLst>
</file>

<file path=ppt/tags/tag47.xml><?xml version="1.0" encoding="utf-8"?>
<p:tagLst xmlns:p="http://schemas.openxmlformats.org/presentationml/2006/main">
  <p:tag name="KSO_WM_DIAGRAM_VIRTUALLY_FRAME" val="{&quot;height&quot;:332.6,&quot;left&quot;:471.6,&quot;top&quot;:115.75,&quot;width&quot;:420.35}"/>
</p:tagLst>
</file>

<file path=ppt/tags/tag48.xml><?xml version="1.0" encoding="utf-8"?>
<p:tagLst xmlns:p="http://schemas.openxmlformats.org/presentationml/2006/main">
  <p:tag name="KSO_WM_DIAGRAM_VIRTUALLY_FRAME" val="{&quot;height&quot;:332.6,&quot;left&quot;:471.6,&quot;top&quot;:115.75,&quot;width&quot;:420.35}"/>
</p:tagLst>
</file>

<file path=ppt/tags/tag49.xml><?xml version="1.0" encoding="utf-8"?>
<p:tagLst xmlns:p="http://schemas.openxmlformats.org/presentationml/2006/main">
  <p:tag name="KSO_WM_DIAGRAM_VIRTUALLY_FRAME" val="{&quot;height&quot;:332.6,&quot;left&quot;:471.6,&quot;top&quot;:115.75,&quot;width&quot;:420.35}"/>
</p:tagLst>
</file>

<file path=ppt/tags/tag50.xml><?xml version="1.0" encoding="utf-8"?>
<p:tagLst xmlns:p="http://schemas.openxmlformats.org/presentationml/2006/main">
  <p:tag name="KSO_WM_DIAGRAM_VIRTUALLY_FRAME" val="{&quot;height&quot;:332.6,&quot;left&quot;:471.6,&quot;top&quot;:115.75,&quot;width&quot;:420.35}"/>
</p:tagLst>
</file>

<file path=ppt/tags/tag51.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02.05}"/>
</p:tagLst>
</file>

<file path=ppt/tags/tag52.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02.05}"/>
</p:tagLst>
</file>

<file path=ppt/tags/tag53.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02.05}"/>
</p:tagLst>
</file>

<file path=ppt/tags/tag54.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02.05}"/>
</p:tagLst>
</file>

<file path=ppt/tags/tag55.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02.05}"/>
</p:tagLst>
</file>

<file path=ppt/tags/tag56.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02.05}"/>
</p:tagLst>
</file>

<file path=ppt/tags/tag57.xml><?xml version="1.0" encoding="utf-8"?>
<p:tagLst xmlns:p="http://schemas.openxmlformats.org/presentationml/2006/main">
  <p:tag name="KSO_WM_DIAGRAM_VIRTUALLY_FRAME" val="{&quot;height&quot;:348.85,&quot;left&quot;:119.75,&quot;top&quot;:106.75,&quot;width&quot;:720.55}"/>
</p:tagLst>
</file>

<file path=ppt/tags/tag58.xml><?xml version="1.0" encoding="utf-8"?>
<p:tagLst xmlns:p="http://schemas.openxmlformats.org/presentationml/2006/main">
  <p:tag name="KSO_WM_DIAGRAM_VIRTUALLY_FRAME" val="{&quot;height&quot;:348.85,&quot;left&quot;:119.75,&quot;top&quot;:106.75,&quot;width&quot;:720.55}"/>
</p:tagLst>
</file>

<file path=ppt/tags/tag59.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60.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61.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62.xml><?xml version="1.0" encoding="utf-8"?>
<p:tagLst xmlns:p="http://schemas.openxmlformats.org/presentationml/2006/main">
  <p:tag name="KSO_WM_UNIT_FILL_FORE_SCHEMECOLOR_INDEX_BRIGHTNESS" val="0.6"/>
  <p:tag name="KSO_WM_UNIT_FILL_FORE_SCHEMECOLOR_INDEX" val="8"/>
  <p:tag name="KSO_WM_UNIT_FILL_TYPE" val="1"/>
  <p:tag name="KSO_WM_UNIT_TEXT_FILL_FORE_SCHEMECOLOR_INDEX_BRIGHTNESS" val="0"/>
  <p:tag name="KSO_WM_UNIT_TEXT_FILL_FORE_SCHEMECOLOR_INDEX" val="14"/>
  <p:tag name="KSO_WM_UNIT_TEXT_FILL_TYPE" val="1"/>
</p:tagLst>
</file>

<file path=ppt/tags/tag63.xml><?xml version="1.0" encoding="utf-8"?>
<p:tagLst xmlns:p="http://schemas.openxmlformats.org/presentationml/2006/main">
  <p:tag name="KSO_WM_UNIT_FILL_FORE_SCHEMECOLOR_INDEX_BRIGHTNESS" val="0.6"/>
  <p:tag name="KSO_WM_UNIT_FILL_FORE_SCHEMECOLOR_INDEX" val="8"/>
  <p:tag name="KSO_WM_UNIT_FILL_TYPE" val="1"/>
</p:tagLst>
</file>

<file path=ppt/tags/tag64.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65.xml><?xml version="1.0" encoding="utf-8"?>
<p:tagLst xmlns:p="http://schemas.openxmlformats.org/presentationml/2006/main">
  <p:tag name="KSO_WM_UNIT_FILL_FORE_SCHEMECOLOR_INDEX_BRIGHTNESS" val="0.6"/>
  <p:tag name="KSO_WM_UNIT_FILL_FORE_SCHEMECOLOR_INDEX" val="8"/>
  <p:tag name="KSO_WM_UNIT_FILL_TYPE" val="1"/>
</p:tagLst>
</file>

<file path=ppt/tags/tag6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7.xml><?xml version="1.0" encoding="utf-8"?>
<p:tagLst xmlns:p="http://schemas.openxmlformats.org/presentationml/2006/main">
  <p:tag name="KSO_WM_DIAGRAM_VIRTUALLY_FRAME" val="{&quot;height&quot;:348.85,&quot;left&quot;:119.75,&quot;top&quot;:106.75,&quot;width&quot;:720.55}"/>
</p:tagLst>
</file>

<file path=ppt/tags/tag68.xml><?xml version="1.0" encoding="utf-8"?>
<p:tagLst xmlns:p="http://schemas.openxmlformats.org/presentationml/2006/main">
  <p:tag name="KSO_WM_DIAGRAM_VIRTUALLY_FRAME" val="{&quot;height&quot;:348.85,&quot;left&quot;:119.75,&quot;top&quot;:106.75,&quot;width&quot;:720.55}"/>
</p:tagLst>
</file>

<file path=ppt/tags/tag69.xml><?xml version="1.0" encoding="utf-8"?>
<p:tagLst xmlns:p="http://schemas.openxmlformats.org/presentationml/2006/main">
  <p:tag name="KSO_WM_UNIT_TABLE_BEAUTIFY" val="smartTable{ed0f1905-3d2d-41ac-97a1-9685d43e5b40}"/>
  <p:tag name="TABLE_ENDDRAG_ORIGIN_RECT" val="373*208"/>
  <p:tag name="TABLE_ENDDRAG_RECT" val="254*134*373*208"/>
  <p:tag name="TABLE_AUTOADJUST_FLAG" val="1"/>
</p:tagLst>
</file>

<file path=ppt/tags/tag70.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42.65}"/>
</p:tagLst>
</file>

<file path=ppt/tags/tag71.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42.65}"/>
</p:tagLst>
</file>

<file path=ppt/tags/tag72.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42.65}"/>
</p:tagLst>
</file>

<file path=ppt/tags/tag73.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42.65}"/>
</p:tagLst>
</file>

<file path=ppt/tags/tag74.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42.65}"/>
</p:tagLst>
</file>

<file path=ppt/tags/tag75.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42.65}"/>
</p:tagLst>
</file>

<file path=ppt/tags/tag76.xml><?xml version="1.0" encoding="utf-8"?>
<p:tagLst xmlns:p="http://schemas.openxmlformats.org/presentationml/2006/main">
  <p:tag name="KSO_WM_DIAGRAM_VIRTUALLY_FRAME" val="{&quot;height&quot;:348.85,&quot;left&quot;:119.75,&quot;top&quot;:106.75,&quot;width&quot;:720.55}"/>
</p:tagLst>
</file>

<file path=ppt/tags/tag77.xml><?xml version="1.0" encoding="utf-8"?>
<p:tagLst xmlns:p="http://schemas.openxmlformats.org/presentationml/2006/main">
  <p:tag name="KSO_WM_DIAGRAM_VIRTUALLY_FRAME" val="{&quot;height&quot;:348.85,&quot;left&quot;:119.75,&quot;top&quot;:106.75,&quot;width&quot;:720.55}"/>
</p:tagLst>
</file>

<file path=ppt/tags/tag78.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79.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80.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81.xml><?xml version="1.0" encoding="utf-8"?>
<p:tagLst xmlns:p="http://schemas.openxmlformats.org/presentationml/2006/main">
  <p:tag name="KSO_WM_UNIT_FILL_FORE_SCHEMECOLOR_INDEX_BRIGHTNESS" val="0.6"/>
  <p:tag name="KSO_WM_UNIT_FILL_FORE_SCHEMECOLOR_INDEX" val="8"/>
  <p:tag name="KSO_WM_UNIT_FILL_TYPE" val="1"/>
  <p:tag name="KSO_WM_UNIT_TEXT_FILL_FORE_SCHEMECOLOR_INDEX_BRIGHTNESS" val="0"/>
  <p:tag name="KSO_WM_UNIT_TEXT_FILL_FORE_SCHEMECOLOR_INDEX" val="14"/>
  <p:tag name="KSO_WM_UNIT_TEXT_FILL_TYPE" val="1"/>
</p:tagLst>
</file>

<file path=ppt/tags/tag82.xml><?xml version="1.0" encoding="utf-8"?>
<p:tagLst xmlns:p="http://schemas.openxmlformats.org/presentationml/2006/main">
  <p:tag name="KSO_WM_UNIT_FILL_FORE_SCHEMECOLOR_INDEX_BRIGHTNESS" val="0.6"/>
  <p:tag name="KSO_WM_UNIT_FILL_FORE_SCHEMECOLOR_INDEX" val="8"/>
  <p:tag name="KSO_WM_UNIT_FILL_TYPE" val="1"/>
</p:tagLst>
</file>

<file path=ppt/tags/tag83.xml><?xml version="1.0" encoding="utf-8"?>
<p:tagLst xmlns:p="http://schemas.openxmlformats.org/presentationml/2006/main">
  <p:tag name="KSO_WM_UNIT_LINE_FORE_SCHEMECOLOR_INDEX_BRIGHTNESS" val="-0.35"/>
  <p:tag name="KSO_WM_UNIT_LINE_FORE_SCHEMECOLOR_INDEX" val="14"/>
  <p:tag name="KSO_WM_UNIT_LINE_FILL_TYPE" val="2"/>
</p:tagLst>
</file>

<file path=ppt/tags/tag84.xml><?xml version="1.0" encoding="utf-8"?>
<p:tagLst xmlns:p="http://schemas.openxmlformats.org/presentationml/2006/main">
  <p:tag name="KSO_WM_UNIT_FILL_FORE_SCHEMECOLOR_INDEX_BRIGHTNESS" val="0.6"/>
  <p:tag name="KSO_WM_UNIT_FILL_FORE_SCHEMECOLOR_INDEX" val="8"/>
  <p:tag name="KSO_WM_UNIT_FILL_TYPE" val="1"/>
</p:tagLst>
</file>

<file path=ppt/tags/tag85.xml><?xml version="1.0" encoding="utf-8"?>
<p:tagLst xmlns:p="http://schemas.openxmlformats.org/presentationml/2006/main">
  <p:tag name="TABLE_ENDDRAG_ORIGIN_RECT" val="436*172"/>
  <p:tag name="TABLE_ENDDRAG_RECT" val="457*142*436*172"/>
</p:tagLst>
</file>

<file path=ppt/tags/tag86.xml><?xml version="1.0" encoding="utf-8"?>
<p:tagLst xmlns:p="http://schemas.openxmlformats.org/presentationml/2006/main">
  <p:tag name="TABLE_ENDDRAG_ORIGIN_RECT" val="338*237"/>
  <p:tag name="TABLE_ENDDRAG_RECT" val="35*104*338*237"/>
</p:tagLst>
</file>

<file path=ppt/tags/tag87.xml><?xml version="1.0" encoding="utf-8"?>
<p:tagLst xmlns:p="http://schemas.openxmlformats.org/presentationml/2006/main">
  <p:tag name="TABLE_ENDDRAG_ORIGIN_RECT" val="393*237"/>
  <p:tag name="TABLE_ENDDRAG_RECT" val="498*86*393*237"/>
</p:tagLst>
</file>

<file path=ppt/tags/tag88.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42.65}"/>
</p:tagLst>
</file>

<file path=ppt/tags/tag89.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42.65}"/>
</p:tagLst>
</file>

<file path=ppt/tags/tag90.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42.65}"/>
</p:tagLst>
</file>

<file path=ppt/tags/tag91.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42.65}"/>
</p:tagLst>
</file>

<file path=ppt/tags/tag92.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42.65}"/>
</p:tagLst>
</file>

<file path=ppt/tags/tag93.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42.65}"/>
</p:tagLst>
</file>

<file path=ppt/tags/tag94.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42.65}"/>
</p:tagLst>
</file>

<file path=ppt/tags/tag95.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42.65}"/>
</p:tagLst>
</file>

<file path=ppt/tags/tag96.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42.65}"/>
</p:tagLst>
</file>

<file path=ppt/tags/tag97.xml><?xml version="1.0" encoding="utf-8"?>
<p:tagLst xmlns:p="http://schemas.openxmlformats.org/presentationml/2006/main">
  <p:tag name="KSO_WM_UNIT_ISCONTENTSTITLE" val="0"/>
  <p:tag name="KSO_WM_UNIT_PRESET_TEXT" val="添加标题"/>
  <p:tag name="KSO_WM_UNIT_NOCLEAR" val="0"/>
  <p:tag name="KSO_WM_UNIT_VALUE" val="1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LAYERLEVEL" val="1_1_1"/>
  <p:tag name="KSO_WM_TAG_VERSION" val="1.0"/>
  <p:tag name="KSO_WM_BEAUTIFY_FLAG" val="#wm#"/>
  <p:tag name="KSO_WM_TEMPLATE_CATEGORY" val="custom"/>
  <p:tag name="KSO_WM_TEMPLATE_INDEX" val="20204328"/>
  <p:tag name="KSO_WM_UNIT_ID" val="custom20204328_36*n_h_a*1_1_1"/>
  <p:tag name="KSO_WM_UNIT_ISNUMDGMTITLE" val="0"/>
  <p:tag name="KSO_WM_UNIT_FILL_FORE_SCHEMECOLOR_INDEX" val="5"/>
  <p:tag name="KSO_WM_UNIT_FILL_TYPE" val="1"/>
  <p:tag name="KSO_WM_UNIT_TEXT_FILL_FORE_SCHEMECOLOR_INDEX" val="14"/>
  <p:tag name="KSO_WM_UNIT_TEXT_FILL_TYPE" val="1"/>
  <p:tag name="KSO_WM_UNIT_USESOURCEFORMAT_APPLY" val="1"/>
  <p:tag name="KSO_WM_DIAGRAM_VIRTUALLY_FRAME" val="{&quot;height&quot;:336.76251968503936,&quot;left&quot;:63,&quot;top&quot;:90.58740157480315,&quot;width&quot;:742.65}"/>
</p:tagLst>
</file>

<file path=ppt/tags/tag98.xml><?xml version="1.0" encoding="utf-8"?>
<p:tagLst xmlns:p="http://schemas.openxmlformats.org/presentationml/2006/main">
  <p:tag name="KSO_WM_UNIT_ISCONTENTSTITLE" val="0"/>
  <p:tag name="KSO_WM_UNIT_PRESET_TEXT" val="请添加标题"/>
  <p:tag name="KSO_WM_UNIT_NOCLEAR" val="0"/>
  <p:tag name="KSO_WM_UNIT_VALUE" val="9"/>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LAYERLEVEL" val="1_1_1_1"/>
  <p:tag name="KSO_WM_TAG_VERSION" val="1.0"/>
  <p:tag name="KSO_WM_BEAUTIFY_FLAG" val="#wm#"/>
  <p:tag name="KSO_WM_TEMPLATE_CATEGORY" val="custom"/>
  <p:tag name="KSO_WM_TEMPLATE_INDEX" val="20204328"/>
  <p:tag name="KSO_WM_UNIT_ID" val="custom20204328_36*n_h_h_a*1_1_1_1"/>
  <p:tag name="KSO_WM_UNIT_ISNUMDGMTITLE" val="0"/>
  <p:tag name="KSO_WM_UNIT_TEXT_FILL_FORE_SCHEMECOLOR_INDEX" val="5"/>
  <p:tag name="KSO_WM_UNIT_TEXT_FILL_TYPE" val="1"/>
  <p:tag name="KSO_WM_UNIT_USESOURCEFORMAT_APPLY" val="1"/>
  <p:tag name="KSO_WM_DIAGRAM_VIRTUALLY_FRAME" val="{&quot;height&quot;:336.76251968503936,&quot;left&quot;:63,&quot;top&quot;:90.58740157480315,&quot;width&quot;:742.65}"/>
</p:tagLst>
</file>

<file path=ppt/tags/tag99.xml><?xml version="1.0" encoding="utf-8"?>
<p:tagLst xmlns:p="http://schemas.openxmlformats.org/presentationml/2006/main">
  <p:tag name="KSO_WM_UNIT_ISCONTENTSTITLE" val="0"/>
  <p:tag name="KSO_WM_UNIT_PRESET_TEXT" val="请添加标题"/>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LAYERLEVEL" val="1_1_1_1"/>
  <p:tag name="KSO_WM_TAG_VERSION" val="1.0"/>
  <p:tag name="KSO_WM_BEAUTIFY_FLAG" val="#wm#"/>
  <p:tag name="KSO_WM_TEMPLATE_CATEGORY" val="custom"/>
  <p:tag name="KSO_WM_TEMPLATE_INDEX" val="20204328"/>
  <p:tag name="KSO_WM_UNIT_ID" val="custom20204328_36*n_h_h_a*1_1_2_1"/>
  <p:tag name="KSO_WM_UNIT_ISNUMDGMTITLE" val="0"/>
  <p:tag name="KSO_WM_UNIT_TEXT_FILL_FORE_SCHEMECOLOR_INDEX" val="6"/>
  <p:tag name="KSO_WM_UNIT_TEXT_FILL_TYPE" val="1"/>
  <p:tag name="KSO_WM_UNIT_USESOURCEFORMAT_APPLY" val="1"/>
  <p:tag name="KSO_WM_DIAGRAM_VIRTUALLY_FRAME" val="{&quot;height&quot;:336.76251968503936,&quot;left&quot;:63,&quot;top&quot;:90.58740157480315,&quot;width&quot;:742.65}"/>
</p:tagLst>
</file>

<file path=ppt/tags/tag100.xml><?xml version="1.0" encoding="utf-8"?>
<p:tagLst xmlns:p="http://schemas.openxmlformats.org/presentationml/2006/main">
  <p:tag name="KSO_WM_DIAGRAM_VIRTUALLY_FRAME" val="{&quot;height&quot;:353.65,&quot;left&quot;:66.85,&quot;top&quot;:107.35,&quot;width&quot;:826.3}"/>
</p:tagLst>
</file>

<file path=ppt/tags/tag101.xml><?xml version="1.0" encoding="utf-8"?>
<p:tagLst xmlns:p="http://schemas.openxmlformats.org/presentationml/2006/main">
  <p:tag name="KSO_WM_DIAGRAM_VIRTUALLY_FRAME" val="{&quot;height&quot;:353.65,&quot;left&quot;:66.85,&quot;top&quot;:107.35,&quot;width&quot;:826.3}"/>
</p:tagLst>
</file>

<file path=ppt/tags/tag102.xml><?xml version="1.0" encoding="utf-8"?>
<p:tagLst xmlns:p="http://schemas.openxmlformats.org/presentationml/2006/main">
  <p:tag name="KSO_WM_DIAGRAM_VIRTUALLY_FRAME" val="{&quot;height&quot;:353.65,&quot;left&quot;:66.85,&quot;top&quot;:107.35,&quot;width&quot;:826.3}"/>
</p:tagLst>
</file>

<file path=ppt/tags/tag103.xml><?xml version="1.0" encoding="utf-8"?>
<p:tagLst xmlns:p="http://schemas.openxmlformats.org/presentationml/2006/main">
  <p:tag name="KSO_WM_DIAGRAM_VIRTUALLY_FRAME" val="{&quot;height&quot;:353.65,&quot;left&quot;:66.85,&quot;top&quot;:107.35,&quot;width&quot;:826.3}"/>
</p:tagLst>
</file>

<file path=ppt/tags/tag104.xml><?xml version="1.0" encoding="utf-8"?>
<p:tagLst xmlns:p="http://schemas.openxmlformats.org/presentationml/2006/main">
  <p:tag name="KSO_WM_DIAGRAM_VIRTUALLY_FRAME" val="{&quot;height&quot;:353.65,&quot;left&quot;:66.85,&quot;top&quot;:107.35,&quot;width&quot;:826.3}"/>
</p:tagLst>
</file>

<file path=ppt/tags/tag105.xml><?xml version="1.0" encoding="utf-8"?>
<p:tagLst xmlns:p="http://schemas.openxmlformats.org/presentationml/2006/main">
  <p:tag name="KSO_WM_DIAGRAM_VIRTUALLY_FRAME" val="{&quot;height&quot;:353.65,&quot;left&quot;:66.85,&quot;top&quot;:107.35,&quot;width&quot;:826.3}"/>
</p:tagLst>
</file>

<file path=ppt/tags/tag106.xml><?xml version="1.0" encoding="utf-8"?>
<p:tagLst xmlns:p="http://schemas.openxmlformats.org/presentationml/2006/main">
  <p:tag name="KSO_WM_DIAGRAM_VIRTUALLY_FRAME" val="{&quot;height&quot;:353.65,&quot;left&quot;:66.85,&quot;top&quot;:107.35,&quot;width&quot;:826.3}"/>
</p:tagLst>
</file>

<file path=ppt/tags/tag107.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08.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09.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10.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11.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12.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13.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14.xml><?xml version="1.0" encoding="utf-8"?>
<p:tagLst xmlns:p="http://schemas.openxmlformats.org/presentationml/2006/main">
  <p:tag name="COMMONDATA" val="eyJoZGlkIjoiYjVmNWQ4YTZmMjI4MTg4ZmFiODFmYmNhODYxNzA4ZGIifQ=="/>
  <p:tag name="KSO_WPP_MARK_KEY" val="624fd6b1-57c0-4236-9737-ebde3cade67e"/>
</p:tagLst>
</file>

<file path=ppt/theme/theme1.xml><?xml version="1.0" encoding="utf-8"?>
<a:theme xmlns:a="http://schemas.openxmlformats.org/drawingml/2006/main" name="www.docer.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汉仪旗黑-55简"/>
        <a:ea typeface="汉仪旗黑-55简"/>
        <a:cs typeface=""/>
      </a:majorFont>
      <a:minorFont>
        <a:latin typeface="汉仪旗黑-55简"/>
        <a:ea typeface="汉仪旗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旗黑-55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旗黑-55简"/>
        <a:ea typeface=""/>
        <a:cs typeface=""/>
        <a:font script="Jpan" typeface="ＭＳ Ｐゴシック"/>
        <a:font script="Hang" typeface="맑은 고딕"/>
        <a:font script="Hans" typeface="汉仪旗黑-55简"/>
        <a:font script="Hant" typeface="新細明體"/>
        <a:font script="Arab" typeface="汉仪旗黑-55简"/>
        <a:font script="Hebr" typeface="汉仪旗黑-5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旗黑-55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旗黑-55简"/>
        <a:ea typeface=""/>
        <a:cs typeface=""/>
        <a:font script="Jpan" typeface="ＭＳ Ｐゴシック"/>
        <a:font script="Hang" typeface="맑은 고딕"/>
        <a:font script="Hans" typeface="汉仪旗黑-55简"/>
        <a:font script="Hant" typeface="新細明體"/>
        <a:font script="Arab" typeface="汉仪旗黑-55简"/>
        <a:font script="Hebr" typeface="汉仪旗黑-5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3198</Words>
  <Application>WPS 演示</Application>
  <PresentationFormat>全屏显示(16:9)</PresentationFormat>
  <Paragraphs>464</Paragraphs>
  <Slides>22</Slides>
  <Notes>17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22</vt:i4>
      </vt:variant>
    </vt:vector>
  </HeadingPairs>
  <TitlesOfParts>
    <vt:vector size="36" baseType="lpstr">
      <vt:lpstr>Arial</vt:lpstr>
      <vt:lpstr>宋体</vt:lpstr>
      <vt:lpstr>Wingdings</vt:lpstr>
      <vt:lpstr>汉仪旗黑-55简</vt:lpstr>
      <vt:lpstr>微软雅黑</vt:lpstr>
      <vt:lpstr>Arial</vt:lpstr>
      <vt:lpstr>Arial Unicode MS</vt:lpstr>
      <vt:lpstr>Times New Roman</vt:lpstr>
      <vt:lpstr>Times New Roman</vt:lpstr>
      <vt:lpstr>方正书宋简体</vt:lpstr>
      <vt:lpstr>Gill Sans</vt:lpstr>
      <vt:lpstr>Mongolian Baiti</vt:lpstr>
      <vt:lpstr>Gill Sans MT</vt:lpstr>
      <vt:lpstr>www.docer.com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qzuser;</dc:title>
  <dc:creator>qzuser</dc:creator>
  <cp:keywords>qzuser</cp:keywords>
  <dc:description>qzuser</dc:description>
  <cp:lastModifiedBy>天亮说晚安</cp:lastModifiedBy>
  <cp:revision>200</cp:revision>
  <dcterms:created xsi:type="dcterms:W3CDTF">2016-05-20T12:59:00Z</dcterms:created>
  <dcterms:modified xsi:type="dcterms:W3CDTF">2025-12-02T08:17:25Z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58736D44E8B74861A39E189B3FF7E015_13</vt:lpwstr>
  </property>
  <property fmtid="{D5CDD505-2E9C-101B-9397-08002B2CF9AE}" pid="4" name="KSOTemplateUUID">
    <vt:lpwstr>v1.0_mb_OrAy9h5Cez7z7VfEuebc7Q==</vt:lpwstr>
  </property>
</Properties>
</file>