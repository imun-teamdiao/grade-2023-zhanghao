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handoutMasters/handoutMaster1.xml" ContentType="application/vnd.openxmlformats-officedocument.presentationml.handoutMaster+xml"/>
  <Override PartName="/ppt/media/image11.svg" ContentType="image/svg+xml"/>
  <Override PartName="/ppt/media/image17.svg" ContentType="image/svg+xml"/>
  <Override PartName="/ppt/media/image2.svg" ContentType="image/svg+xml"/>
  <Override PartName="/ppt/media/image4.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29"/>
  </p:handoutMasterIdLst>
  <p:sldIdLst>
    <p:sldId id="256" r:id="rId3"/>
    <p:sldId id="259" r:id="rId5"/>
    <p:sldId id="284" r:id="rId6"/>
    <p:sldId id="260" r:id="rId7"/>
    <p:sldId id="274" r:id="rId8"/>
    <p:sldId id="273" r:id="rId9"/>
    <p:sldId id="285" r:id="rId10"/>
    <p:sldId id="291" r:id="rId11"/>
    <p:sldId id="289" r:id="rId12"/>
    <p:sldId id="304" r:id="rId13"/>
    <p:sldId id="305" r:id="rId14"/>
    <p:sldId id="306" r:id="rId15"/>
    <p:sldId id="308" r:id="rId16"/>
    <p:sldId id="311" r:id="rId17"/>
    <p:sldId id="312" r:id="rId18"/>
    <p:sldId id="313" r:id="rId19"/>
    <p:sldId id="314" r:id="rId20"/>
    <p:sldId id="315" r:id="rId21"/>
    <p:sldId id="316" r:id="rId22"/>
    <p:sldId id="317" r:id="rId23"/>
    <p:sldId id="318" r:id="rId24"/>
    <p:sldId id="321" r:id="rId25"/>
    <p:sldId id="319" r:id="rId26"/>
    <p:sldId id="320" r:id="rId27"/>
    <p:sldId id="288" r:id="rId28"/>
  </p:sldIdLst>
  <p:sldSz cx="12192000" cy="6858000"/>
  <p:notesSz cx="6858000" cy="9144000"/>
  <p:embeddedFontLst>
    <p:embeddedFont>
      <p:font typeface="汉仪旗黑-55简" panose="00020600040101010101" charset="-128"/>
      <p:regular r:id="rId33"/>
    </p:embeddedFont>
    <p:embeddedFont>
      <p:font typeface="微软雅黑" panose="020B0503020204020204" charset="-122"/>
      <p:regular r:id="rId34"/>
    </p:embeddedFont>
    <p:embeddedFont>
      <p:font typeface="方正书宋简体" panose="02000000000000000000" charset="-122"/>
      <p:regular r:id="rId35"/>
    </p:embeddedFont>
  </p:embeddedFontLst>
  <p:custDataLst>
    <p:tags r:id="rId36"/>
  </p:custDataLst>
  <p:defaultText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6" userDrawn="1">
          <p15:clr>
            <a:srgbClr val="A4A3A4"/>
          </p15:clr>
        </p15:guide>
        <p15:guide id="2" orient="horz" pos="2120" userDrawn="1">
          <p15:clr>
            <a:srgbClr val="A4A3A4"/>
          </p15:clr>
        </p15:guide>
        <p15:guide id="3" pos="41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A9BB6"/>
    <a:srgbClr val="788BAB"/>
    <a:srgbClr val="ACAECF"/>
    <a:srgbClr val="5E7397"/>
    <a:srgbClr val="92ACC3"/>
    <a:srgbClr val="FCB1A3"/>
    <a:srgbClr val="ED948B"/>
    <a:srgbClr val="5B657A"/>
    <a:srgbClr val="EB978A"/>
    <a:srgbClr val="2F4F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96" autoAdjust="0"/>
  </p:normalViewPr>
  <p:slideViewPr>
    <p:cSldViewPr snapToGrid="0" showGuides="1">
      <p:cViewPr>
        <p:scale>
          <a:sx n="80" d="100"/>
          <a:sy n="80" d="100"/>
        </p:scale>
        <p:origin x="1824" y="1230"/>
      </p:cViewPr>
      <p:guideLst>
        <p:guide orient="horz" pos="2846"/>
        <p:guide orient="horz" pos="2120"/>
        <p:guide pos="4188"/>
      </p:guideLst>
    </p:cSldViewPr>
  </p:slideViewPr>
  <p:notesTextViewPr>
    <p:cViewPr>
      <p:scale>
        <a:sx n="1" d="1"/>
        <a:sy n="1" d="1"/>
      </p:scale>
      <p:origin x="0" y="0"/>
    </p:cViewPr>
  </p:notesTextViewPr>
  <p:notesViewPr>
    <p:cSldViewPr snapToGrid="0">
      <p:cViewPr varScale="1">
        <p:scale>
          <a:sx n="84" d="100"/>
          <a:sy n="84" d="100"/>
        </p:scale>
        <p:origin x="-3888" y="-72"/>
      </p:cViewPr>
      <p:guideLst>
        <p:guide orient="horz" pos="2826"/>
        <p:guide pos="2267"/>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tags" Target="tags/tag78.xml"/><Relationship Id="rId35" Type="http://schemas.openxmlformats.org/officeDocument/2006/relationships/font" Target="fonts/font3.fntdata"/><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汉仪旗黑-55简" panose="00020600040101010101" charset="-128"/>
              <a:ea typeface="汉仪旗黑-55简" panose="00020600040101010101" charset="-128"/>
              <a:cs typeface="汉仪旗黑-55简" panose="00020600040101010101" charset="-128"/>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汉仪旗黑-55简" panose="00020600040101010101" charset="-128"/>
              </a:rPr>
            </a:fld>
            <a:endParaRPr lang="zh-CN" altLang="en-US">
              <a:cs typeface="汉仪旗黑-55简" panose="00020600040101010101" charset="-128"/>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汉仪旗黑-55简" panose="00020600040101010101" charset="-128"/>
              <a:ea typeface="汉仪旗黑-55简" panose="00020600040101010101" charset="-128"/>
              <a:cs typeface="汉仪旗黑-55简" panose="00020600040101010101" charset="-128"/>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汉仪旗黑-55简" panose="00020600040101010101" charset="-128"/>
              </a:rPr>
            </a:fld>
            <a:endParaRPr lang="zh-CN" altLang="en-US">
              <a:cs typeface="汉仪旗黑-55简" panose="00020600040101010101" charset="-128"/>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汉仪旗黑-55简" panose="00020600040101010101" charset="-128"/>
                <a:ea typeface="汉仪旗黑-55简" panose="00020600040101010101" charset="-128"/>
                <a:cs typeface="汉仪旗黑-55简" panose="00020600040101010101" charset="-128"/>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汉仪旗黑-55简" panose="00020600040101010101" charset="-128"/>
                <a:ea typeface="汉仪旗黑-55简" panose="00020600040101010101" charset="-128"/>
                <a:cs typeface="汉仪旗黑-55简" panose="00020600040101010101" charset="-128"/>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汉仪旗黑-55简" panose="00020600040101010101" charset="-128"/>
                <a:ea typeface="汉仪旗黑-55简" panose="00020600040101010101" charset="-128"/>
                <a:cs typeface="汉仪旗黑-55简" panose="00020600040101010101" charset="-128"/>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汉仪旗黑-55简" panose="00020600040101010101" charset="-128"/>
                <a:ea typeface="汉仪旗黑-55简" panose="00020600040101010101" charset="-128"/>
                <a:cs typeface="汉仪旗黑-55简" panose="00020600040101010101" charset="-128"/>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汉仪旗黑-55简" panose="00020600040101010101" charset="-128"/>
        <a:ea typeface="汉仪旗黑-55简" panose="00020600040101010101" charset="-128"/>
        <a:cs typeface="汉仪旗黑-55简" panose="00020600040101010101" charset="-128"/>
      </a:defRPr>
    </a:lvl1pPr>
    <a:lvl2pPr marL="342900" algn="l" defTabSz="685800" rtl="0" eaLnBrk="1" latinLnBrk="0" hangingPunct="1">
      <a:defRPr sz="900" kern="1200">
        <a:solidFill>
          <a:schemeClr val="tx1"/>
        </a:solidFill>
        <a:latin typeface="汉仪旗黑-55简" panose="00020600040101010101" charset="-128"/>
        <a:ea typeface="汉仪旗黑-55简" panose="00020600040101010101" charset="-128"/>
        <a:cs typeface="汉仪旗黑-55简" panose="00020600040101010101" charset="-128"/>
      </a:defRPr>
    </a:lvl2pPr>
    <a:lvl3pPr marL="685800" algn="l" defTabSz="685800" rtl="0" eaLnBrk="1" latinLnBrk="0" hangingPunct="1">
      <a:defRPr sz="900" kern="1200">
        <a:solidFill>
          <a:schemeClr val="tx1"/>
        </a:solidFill>
        <a:latin typeface="汉仪旗黑-55简" panose="00020600040101010101" charset="-128"/>
        <a:ea typeface="汉仪旗黑-55简" panose="00020600040101010101" charset="-128"/>
        <a:cs typeface="汉仪旗黑-55简" panose="00020600040101010101" charset="-128"/>
      </a:defRPr>
    </a:lvl3pPr>
    <a:lvl4pPr marL="1028700" algn="l" defTabSz="685800" rtl="0" eaLnBrk="1" latinLnBrk="0" hangingPunct="1">
      <a:defRPr sz="900" kern="1200">
        <a:solidFill>
          <a:schemeClr val="tx1"/>
        </a:solidFill>
        <a:latin typeface="汉仪旗黑-55简" panose="00020600040101010101" charset="-128"/>
        <a:ea typeface="汉仪旗黑-55简" panose="00020600040101010101" charset="-128"/>
        <a:cs typeface="汉仪旗黑-55简" panose="00020600040101010101" charset="-128"/>
      </a:defRPr>
    </a:lvl4pPr>
    <a:lvl5pPr marL="1371600" algn="l" defTabSz="685800" rtl="0" eaLnBrk="1" latinLnBrk="0" hangingPunct="1">
      <a:defRPr sz="900" kern="1200">
        <a:solidFill>
          <a:schemeClr val="tx1"/>
        </a:solidFill>
        <a:latin typeface="汉仪旗黑-55简" panose="00020600040101010101" charset="-128"/>
        <a:ea typeface="汉仪旗黑-55简" panose="00020600040101010101" charset="-128"/>
        <a:cs typeface="汉仪旗黑-55简" panose="00020600040101010101" charset="-128"/>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865"/>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65">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9"/>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9"/>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3" y="1778439"/>
            <a:ext cx="4873575"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65"/>
            </a:lvl4pPr>
            <a:lvl5pPr marL="1828800" indent="0">
              <a:buNone/>
              <a:defRPr sz="1865"/>
            </a:lvl5pPr>
            <a:lvl6pPr marL="2286000" indent="0">
              <a:buNone/>
              <a:defRPr sz="1865"/>
            </a:lvl6pPr>
            <a:lvl7pPr marL="2743200" indent="0">
              <a:buNone/>
              <a:defRPr sz="1865"/>
            </a:lvl7pPr>
            <a:lvl8pPr marL="3200400" indent="0">
              <a:buNone/>
              <a:defRPr sz="1865"/>
            </a:lvl8pPr>
            <a:lvl9pPr marL="3657600" indent="0">
              <a:buNone/>
              <a:defRPr sz="1865"/>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3" y="2665379"/>
            <a:ext cx="4873575"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9" y="1778439"/>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65"/>
            </a:lvl4pPr>
            <a:lvl5pPr marL="1828800" indent="0">
              <a:buNone/>
              <a:defRPr sz="1865"/>
            </a:lvl5pPr>
            <a:lvl6pPr marL="2286000" indent="0">
              <a:buNone/>
              <a:defRPr sz="1865"/>
            </a:lvl6pPr>
            <a:lvl7pPr marL="2743200" indent="0">
              <a:buNone/>
              <a:defRPr sz="1865"/>
            </a:lvl7pPr>
            <a:lvl8pPr marL="3200400" indent="0">
              <a:buNone/>
              <a:defRPr sz="1865"/>
            </a:lvl8pPr>
            <a:lvl9pPr marL="3657600" indent="0">
              <a:buNone/>
              <a:defRPr sz="1865"/>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9"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65"/>
            </a:lvl2pPr>
            <a:lvl3pPr marL="914400" indent="0">
              <a:buNone/>
              <a:defRPr sz="1600"/>
            </a:lvl3pPr>
            <a:lvl4pPr marL="1371600" indent="0">
              <a:buNone/>
              <a:defRPr sz="1465"/>
            </a:lvl4pPr>
            <a:lvl5pPr marL="1828800" indent="0">
              <a:buNone/>
              <a:defRPr sz="1465"/>
            </a:lvl5pPr>
            <a:lvl6pPr marL="2286000" indent="0">
              <a:buNone/>
              <a:defRPr sz="1465"/>
            </a:lvl6pPr>
            <a:lvl7pPr marL="2743200" indent="0">
              <a:buNone/>
              <a:defRPr sz="1465"/>
            </a:lvl7pPr>
            <a:lvl8pPr marL="3200400" indent="0">
              <a:buNone/>
              <a:defRPr sz="1465"/>
            </a:lvl8pPr>
            <a:lvl9pPr marL="3657600" indent="0">
              <a:buNone/>
              <a:defRPr sz="1465"/>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9"/>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9"/>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68580" tIns="34290" rIns="68580" bIns="3429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9"/>
          </a:xfrm>
          <a:prstGeom prst="rect">
            <a:avLst/>
          </a:prstGeom>
        </p:spPr>
        <p:txBody>
          <a:bodyPr vert="horz" lIns="68580" tIns="34290" rIns="68580" bIns="3429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1"/>
            <a:ext cx="2743200" cy="365125"/>
          </a:xfrm>
          <a:prstGeom prst="rect">
            <a:avLst/>
          </a:prstGeom>
        </p:spPr>
        <p:txBody>
          <a:bodyPr vert="horz" lIns="68580" tIns="34290" rIns="68580" bIns="34290" rtlCol="0" anchor="ctr"/>
          <a:lstStyle>
            <a:lvl1pPr algn="l">
              <a:defRPr sz="1200">
                <a:solidFill>
                  <a:schemeClr val="tx1">
                    <a:tint val="75000"/>
                  </a:schemeClr>
                </a:solidFill>
                <a:latin typeface="汉仪旗黑-55简" panose="00020600040101010101" charset="-128"/>
                <a:ea typeface="汉仪旗黑-55简" panose="00020600040101010101" charset="-128"/>
                <a:cs typeface="汉仪旗黑-55简" panose="00020600040101010101" charset="-128"/>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1"/>
            <a:ext cx="4114800" cy="365125"/>
          </a:xfrm>
          <a:prstGeom prst="rect">
            <a:avLst/>
          </a:prstGeom>
        </p:spPr>
        <p:txBody>
          <a:bodyPr vert="horz" lIns="68580" tIns="34290" rIns="68580" bIns="34290" rtlCol="0" anchor="ctr"/>
          <a:lstStyle>
            <a:lvl1pPr algn="ctr">
              <a:defRPr sz="1200">
                <a:solidFill>
                  <a:schemeClr val="tx1">
                    <a:tint val="75000"/>
                  </a:schemeClr>
                </a:solidFill>
                <a:latin typeface="汉仪旗黑-55简" panose="00020600040101010101" charset="-128"/>
                <a:ea typeface="汉仪旗黑-55简" panose="00020600040101010101" charset="-128"/>
                <a:cs typeface="汉仪旗黑-55简" panose="00020600040101010101" charset="-128"/>
              </a:defRPr>
            </a:lvl1pPr>
          </a:lstStyle>
          <a:p>
            <a:endParaRPr lang="zh-CN" altLang="en-US"/>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lIns="68580" tIns="34290" rIns="68580" bIns="34290" rtlCol="0" anchor="ctr"/>
          <a:lstStyle>
            <a:lvl1pPr algn="r">
              <a:defRPr sz="1200">
                <a:solidFill>
                  <a:schemeClr val="tx1">
                    <a:tint val="75000"/>
                  </a:schemeClr>
                </a:solidFill>
                <a:latin typeface="汉仪旗黑-55简" panose="00020600040101010101" charset="-128"/>
                <a:ea typeface="汉仪旗黑-55简" panose="00020600040101010101" charset="-128"/>
                <a:cs typeface="汉仪旗黑-55简" panose="00020600040101010101" charset="-128"/>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汉仪旗黑-55简" panose="00020600040101010101" charset="-128"/>
          <a:ea typeface="汉仪旗黑-55简" panose="00020600040101010101" charset="-128"/>
          <a:cs typeface="汉仪旗黑-55简" panose="00020600040101010101" charset="-128"/>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汉仪旗黑-55简" panose="00020600040101010101" charset="-128"/>
          <a:ea typeface="汉仪旗黑-55简" panose="00020600040101010101" charset="-128"/>
          <a:cs typeface="汉仪旗黑-55简" panose="00020600040101010101" charset="-12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汉仪旗黑-55简" panose="00020600040101010101" charset="-128"/>
          <a:ea typeface="汉仪旗黑-55简" panose="00020600040101010101" charset="-128"/>
          <a:cs typeface="汉仪旗黑-55简" panose="00020600040101010101" charset="-128"/>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汉仪旗黑-55简" panose="00020600040101010101" charset="-128"/>
          <a:ea typeface="汉仪旗黑-55简" panose="00020600040101010101" charset="-128"/>
          <a:cs typeface="汉仪旗黑-55简" panose="00020600040101010101" charset="-128"/>
        </a:defRPr>
      </a:lvl3pPr>
      <a:lvl4pPr marL="16002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汉仪旗黑-55简" panose="00020600040101010101" charset="-128"/>
          <a:ea typeface="汉仪旗黑-55简" panose="00020600040101010101" charset="-128"/>
          <a:cs typeface="汉仪旗黑-55简" panose="00020600040101010101" charset="-128"/>
        </a:defRPr>
      </a:lvl4pPr>
      <a:lvl5pPr marL="20574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汉仪旗黑-55简" panose="00020600040101010101" charset="-128"/>
          <a:ea typeface="汉仪旗黑-55简" panose="00020600040101010101" charset="-128"/>
          <a:cs typeface="汉仪旗黑-55简" panose="00020600040101010101" charset="-128"/>
        </a:defRPr>
      </a:lvl5pPr>
      <a:lvl6pPr marL="25146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9pPr>
    </p:bodyStyle>
    <p:otherStyle>
      <a:defPPr>
        <a:defRPr lang="zh-CN"/>
      </a:defPPr>
      <a:lvl1pPr marL="0" algn="l" defTabSz="914400" rtl="0" eaLnBrk="1" latinLnBrk="0" hangingPunct="1">
        <a:defRPr sz="1865" kern="1200">
          <a:solidFill>
            <a:schemeClr val="tx1"/>
          </a:solidFill>
          <a:latin typeface="+mn-lt"/>
          <a:ea typeface="+mn-ea"/>
          <a:cs typeface="+mn-cs"/>
        </a:defRPr>
      </a:lvl1pPr>
      <a:lvl2pPr marL="457200" algn="l" defTabSz="914400" rtl="0" eaLnBrk="1" latinLnBrk="0" hangingPunct="1">
        <a:defRPr sz="1865" kern="1200">
          <a:solidFill>
            <a:schemeClr val="tx1"/>
          </a:solidFill>
          <a:latin typeface="+mn-lt"/>
          <a:ea typeface="+mn-ea"/>
          <a:cs typeface="+mn-cs"/>
        </a:defRPr>
      </a:lvl2pPr>
      <a:lvl3pPr marL="914400" algn="l" defTabSz="914400" rtl="0" eaLnBrk="1" latinLnBrk="0" hangingPunct="1">
        <a:defRPr sz="1865" kern="1200">
          <a:solidFill>
            <a:schemeClr val="tx1"/>
          </a:solidFill>
          <a:latin typeface="+mn-lt"/>
          <a:ea typeface="+mn-ea"/>
          <a:cs typeface="+mn-cs"/>
        </a:defRPr>
      </a:lvl3pPr>
      <a:lvl4pPr marL="1371600" algn="l" defTabSz="914400" rtl="0" eaLnBrk="1" latinLnBrk="0" hangingPunct="1">
        <a:defRPr sz="1865" kern="1200">
          <a:solidFill>
            <a:schemeClr val="tx1"/>
          </a:solidFill>
          <a:latin typeface="+mn-lt"/>
          <a:ea typeface="+mn-ea"/>
          <a:cs typeface="+mn-cs"/>
        </a:defRPr>
      </a:lvl4pPr>
      <a:lvl5pPr marL="1828800" algn="l" defTabSz="914400" rtl="0" eaLnBrk="1" latinLnBrk="0" hangingPunct="1">
        <a:defRPr sz="1865" kern="1200">
          <a:solidFill>
            <a:schemeClr val="tx1"/>
          </a:solidFill>
          <a:latin typeface="+mn-lt"/>
          <a:ea typeface="+mn-ea"/>
          <a:cs typeface="+mn-cs"/>
        </a:defRPr>
      </a:lvl5pPr>
      <a:lvl6pPr marL="2286000" algn="l" defTabSz="914400" rtl="0" eaLnBrk="1" latinLnBrk="0" hangingPunct="1">
        <a:defRPr sz="1865" kern="1200">
          <a:solidFill>
            <a:schemeClr val="tx1"/>
          </a:solidFill>
          <a:latin typeface="+mn-lt"/>
          <a:ea typeface="+mn-ea"/>
          <a:cs typeface="+mn-cs"/>
        </a:defRPr>
      </a:lvl6pPr>
      <a:lvl7pPr marL="2743200" algn="l" defTabSz="914400" rtl="0" eaLnBrk="1" latinLnBrk="0" hangingPunct="1">
        <a:defRPr sz="1865" kern="1200">
          <a:solidFill>
            <a:schemeClr val="tx1"/>
          </a:solidFill>
          <a:latin typeface="+mn-lt"/>
          <a:ea typeface="+mn-ea"/>
          <a:cs typeface="+mn-cs"/>
        </a:defRPr>
      </a:lvl7pPr>
      <a:lvl8pPr marL="3200400" algn="l" defTabSz="914400" rtl="0" eaLnBrk="1" latinLnBrk="0" hangingPunct="1">
        <a:defRPr sz="1865" kern="1200">
          <a:solidFill>
            <a:schemeClr val="tx1"/>
          </a:solidFill>
          <a:latin typeface="+mn-lt"/>
          <a:ea typeface="+mn-ea"/>
          <a:cs typeface="+mn-cs"/>
        </a:defRPr>
      </a:lvl8pPr>
      <a:lvl9pPr marL="3657600" algn="l" defTabSz="914400" rtl="0" eaLnBrk="1" latinLnBrk="0" hangingPunct="1">
        <a:defRPr sz="18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2.xml"/><Relationship Id="rId13" Type="http://schemas.openxmlformats.org/officeDocument/2006/relationships/slideLayout" Target="../slideLayouts/slideLayout1.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2.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4.svg"/><Relationship Id="rId7" Type="http://schemas.openxmlformats.org/officeDocument/2006/relationships/image" Target="../media/image3.png"/><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2" Type="http://schemas.openxmlformats.org/officeDocument/2006/relationships/notesSlide" Target="../notesSlides/notesSlide5.xml"/><Relationship Id="rId11" Type="http://schemas.openxmlformats.org/officeDocument/2006/relationships/slideLayout" Target="../slideLayouts/slideLayout2.xml"/><Relationship Id="rId10" Type="http://schemas.openxmlformats.org/officeDocument/2006/relationships/image" Target="../media/image6.svg"/><Relationship Id="rId1" Type="http://schemas.openxmlformats.org/officeDocument/2006/relationships/tags" Target="../tags/tag13.xml"/></Relationships>
</file>

<file path=ppt/slides/_rels/slide6.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9" Type="http://schemas.openxmlformats.org/officeDocument/2006/relationships/notesSlide" Target="../notesSlides/notesSlide6.xml"/><Relationship Id="rId18" Type="http://schemas.openxmlformats.org/officeDocument/2006/relationships/slideLayout" Target="../slideLayouts/slideLayout2.xml"/><Relationship Id="rId17" Type="http://schemas.openxmlformats.org/officeDocument/2006/relationships/tags" Target="../tags/tag35.xml"/><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2.sv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5" Type="http://schemas.openxmlformats.org/officeDocument/2006/relationships/notesSlide" Target="../notesSlides/notesSlide8.xml"/><Relationship Id="rId14" Type="http://schemas.openxmlformats.org/officeDocument/2006/relationships/slideLayout" Target="../slideLayouts/slideLayout2.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image" Target="../media/image7.jpeg"/><Relationship Id="rId1" Type="http://schemas.openxmlformats.org/officeDocument/2006/relationships/tags" Target="../tags/tag36.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2.png"/><Relationship Id="rId7" Type="http://schemas.openxmlformats.org/officeDocument/2006/relationships/tags" Target="../tags/tag54.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tags" Target="../tags/tag53.xml"/><Relationship Id="rId3" Type="http://schemas.openxmlformats.org/officeDocument/2006/relationships/image" Target="../media/image9.svg"/><Relationship Id="rId2" Type="http://schemas.openxmlformats.org/officeDocument/2006/relationships/image" Target="../media/image8.png"/><Relationship Id="rId10" Type="http://schemas.openxmlformats.org/officeDocument/2006/relationships/notesSlide" Target="../notesSlides/notesSlide10.xml"/><Relationship Id="rId1" Type="http://schemas.openxmlformats.org/officeDocument/2006/relationships/tags" Target="../tags/tag52.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tags" Target="../tags/tag66.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2.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17.svg"/><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tags" Target="../tags/tag77.xml"/><Relationship Id="rId1" Type="http://schemas.openxmlformats.org/officeDocument/2006/relationships/tags" Target="../tags/tag7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6" name="组合 35"/>
          <p:cNvGrpSpPr/>
          <p:nvPr/>
        </p:nvGrpSpPr>
        <p:grpSpPr>
          <a:xfrm>
            <a:off x="0" y="4085590"/>
            <a:ext cx="12192000" cy="2772410"/>
            <a:chOff x="0" y="5835"/>
            <a:chExt cx="19200" cy="4965"/>
          </a:xfrm>
        </p:grpSpPr>
        <p:sp>
          <p:nvSpPr>
            <p:cNvPr id="4" name="任意多边形 3"/>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1" name="任意多边形 20"/>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pic>
        <p:nvPicPr>
          <p:cNvPr id="28" name="图片 27" descr="31393935333939383b31373432363535313bd1a7cebbc3b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7540" y="899795"/>
            <a:ext cx="756920" cy="756920"/>
          </a:xfrm>
          <a:prstGeom prst="rect">
            <a:avLst/>
          </a:prstGeom>
        </p:spPr>
      </p:pic>
      <p:sp>
        <p:nvSpPr>
          <p:cNvPr id="29" name="文本框 28"/>
          <p:cNvSpPr txBox="1"/>
          <p:nvPr/>
        </p:nvSpPr>
        <p:spPr>
          <a:xfrm>
            <a:off x="635" y="2148840"/>
            <a:ext cx="12192000" cy="557530"/>
          </a:xfrm>
          <a:prstGeom prst="rect">
            <a:avLst/>
          </a:prstGeom>
          <a:noFill/>
        </p:spPr>
        <p:txBody>
          <a:bodyPr wrap="square" lIns="121884" tIns="60941" rIns="121884" bIns="60941" rtlCol="0">
            <a:noAutofit/>
          </a:bodyPr>
          <a:lstStyle/>
          <a:p>
            <a:pPr algn="ctr"/>
            <a:r>
              <a:rPr lang="zh-CN" altLang="en-US" sz="3200" b="1" dirty="0" smtClean="0">
                <a:solidFill>
                  <a:srgbClr val="5E7397"/>
                </a:solidFill>
                <a:latin typeface="汉仪旗黑-55简" panose="00020600040101010101" charset="-128"/>
                <a:ea typeface="汉仪旗黑-55简" panose="00020600040101010101" charset="-128"/>
                <a:cs typeface="汉仪旗黑-55简" panose="00020600040101010101" charset="-128"/>
              </a:rPr>
              <a:t>面向社交媒体的多语言文本情感分析研究</a:t>
            </a:r>
            <a:endParaRPr lang="zh-CN" altLang="en-US" sz="3200" b="1" dirty="0" smtClean="0">
              <a:solidFill>
                <a:srgbClr val="5E7397"/>
              </a:solidFill>
              <a:latin typeface="汉仪旗黑-55简" panose="00020600040101010101" charset="-128"/>
              <a:ea typeface="汉仪旗黑-55简" panose="00020600040101010101" charset="-128"/>
              <a:cs typeface="汉仪旗黑-55简" panose="00020600040101010101" charset="-128"/>
            </a:endParaRPr>
          </a:p>
        </p:txBody>
      </p:sp>
      <p:grpSp>
        <p:nvGrpSpPr>
          <p:cNvPr id="38" name="组合 37"/>
          <p:cNvGrpSpPr/>
          <p:nvPr/>
        </p:nvGrpSpPr>
        <p:grpSpPr>
          <a:xfrm>
            <a:off x="10673080" y="440690"/>
            <a:ext cx="990600" cy="396240"/>
            <a:chOff x="17095" y="476"/>
            <a:chExt cx="1560" cy="624"/>
          </a:xfrm>
          <a:solidFill>
            <a:srgbClr val="ACAECF"/>
          </a:solidFill>
        </p:grpSpPr>
        <p:sp>
          <p:nvSpPr>
            <p:cNvPr id="40" name="椭圆 39"/>
            <p:cNvSpPr/>
            <p:nvPr/>
          </p:nvSpPr>
          <p:spPr>
            <a:xfrm>
              <a:off x="17095"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2" name="椭圆 41"/>
            <p:cNvSpPr/>
            <p:nvPr/>
          </p:nvSpPr>
          <p:spPr>
            <a:xfrm>
              <a:off x="17537"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3" name="椭圆 42"/>
            <p:cNvSpPr/>
            <p:nvPr/>
          </p:nvSpPr>
          <p:spPr>
            <a:xfrm>
              <a:off x="18421"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4" name="椭圆 43"/>
            <p:cNvSpPr/>
            <p:nvPr/>
          </p:nvSpPr>
          <p:spPr>
            <a:xfrm>
              <a:off x="17979"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5" name="椭圆 44"/>
            <p:cNvSpPr/>
            <p:nvPr/>
          </p:nvSpPr>
          <p:spPr>
            <a:xfrm>
              <a:off x="17095"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6" name="椭圆 45"/>
            <p:cNvSpPr/>
            <p:nvPr/>
          </p:nvSpPr>
          <p:spPr>
            <a:xfrm>
              <a:off x="17537"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7" name="椭圆 46"/>
            <p:cNvSpPr/>
            <p:nvPr/>
          </p:nvSpPr>
          <p:spPr>
            <a:xfrm>
              <a:off x="18421"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8" name="椭圆 47"/>
            <p:cNvSpPr/>
            <p:nvPr/>
          </p:nvSpPr>
          <p:spPr>
            <a:xfrm>
              <a:off x="17979"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grpSp>
      <p:sp>
        <p:nvSpPr>
          <p:cNvPr id="50" name="任意多边形 49"/>
          <p:cNvSpPr/>
          <p:nvPr/>
        </p:nvSpPr>
        <p:spPr>
          <a:xfrm flipH="1" flipV="1">
            <a:off x="0" y="0"/>
            <a:ext cx="3636010" cy="1015365"/>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2" h="1900">
                <a:moveTo>
                  <a:pt x="7742" y="0"/>
                </a:moveTo>
                <a:lnTo>
                  <a:pt x="7742" y="1900"/>
                </a:lnTo>
                <a:lnTo>
                  <a:pt x="0" y="1900"/>
                </a:lnTo>
                <a:lnTo>
                  <a:pt x="145" y="1881"/>
                </a:lnTo>
                <a:cubicBezTo>
                  <a:pt x="2818" y="1528"/>
                  <a:pt x="5425" y="917"/>
                  <a:pt x="7621" y="49"/>
                </a:cubicBezTo>
                <a:lnTo>
                  <a:pt x="7742"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56" name="文本框 55"/>
          <p:cNvSpPr txBox="1"/>
          <p:nvPr/>
        </p:nvSpPr>
        <p:spPr>
          <a:xfrm>
            <a:off x="3018155" y="4434205"/>
            <a:ext cx="6155690" cy="368300"/>
          </a:xfrm>
          <a:prstGeom prst="rect">
            <a:avLst/>
          </a:prstGeom>
          <a:noFill/>
        </p:spPr>
        <p:txBody>
          <a:bodyPr wrap="square" rtlCol="0">
            <a:spAutoFit/>
          </a:bodyPr>
          <a:p>
            <a:pPr algn="ctr"/>
            <a:r>
              <a:rPr lang="zh-CN"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计算机科学与技术学院</a:t>
            </a:r>
            <a:r>
              <a:rPr lang="zh-CN" alt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   </a:t>
            </a:r>
            <a:r>
              <a:rPr lang="en-US" altLang="zh-CN"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    </a:t>
            </a:r>
            <a:r>
              <a:rPr lang="zh-CN" alt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专业：</a:t>
            </a:r>
            <a:r>
              <a:rPr lang="en-US" altLang="zh-CN" sz="1800" dirty="0">
                <a:solidFill>
                  <a:srgbClr val="5E7397"/>
                </a:solidFill>
                <a:latin typeface="汉仪旗黑-55简" panose="00020600040101010101" charset="-128"/>
                <a:ea typeface="汉仪旗黑-55简" panose="00020600040101010101" charset="-128"/>
                <a:cs typeface="汉仪旗黑-55简" panose="00020600040101010101" charset="-128"/>
              </a:rPr>
              <a:t> </a:t>
            </a:r>
            <a:r>
              <a:rPr 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2023</a:t>
            </a:r>
            <a:r>
              <a:rPr lang="zh-CN" alt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电子信息</a:t>
            </a:r>
            <a:endParaRPr lang="zh-CN" alt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endParaRPr>
          </a:p>
        </p:txBody>
      </p:sp>
      <p:grpSp>
        <p:nvGrpSpPr>
          <p:cNvPr id="57" name="组合 56"/>
          <p:cNvGrpSpPr/>
          <p:nvPr/>
        </p:nvGrpSpPr>
        <p:grpSpPr>
          <a:xfrm rot="0">
            <a:off x="3815080" y="3989070"/>
            <a:ext cx="4563110" cy="330835"/>
            <a:chOff x="5500" y="7882"/>
            <a:chExt cx="8221" cy="596"/>
          </a:xfrm>
          <a:solidFill>
            <a:srgbClr val="5E7397"/>
          </a:solidFill>
        </p:grpSpPr>
        <p:sp>
          <p:nvSpPr>
            <p:cNvPr id="58" name="矩形 26"/>
            <p:cNvSpPr/>
            <p:nvPr/>
          </p:nvSpPr>
          <p:spPr>
            <a:xfrm>
              <a:off x="5500" y="7882"/>
              <a:ext cx="3870" cy="596"/>
            </a:xfrm>
            <a:prstGeom prst="roundRect">
              <a:avLst>
                <a:gd name="adj" fmla="val 50000"/>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10000"/>
                </a:lnSpc>
                <a:spcBef>
                  <a:spcPts val="0"/>
                </a:spcBef>
                <a:spcAft>
                  <a:spcPts val="0"/>
                </a:spcAft>
              </a:pPr>
              <a:r>
                <a:rPr lang="zh-CN" altLang="en-US" sz="1800" dirty="0">
                  <a:solidFill>
                    <a:schemeClr val="bg1"/>
                  </a:solidFill>
                  <a:latin typeface="汉仪旗黑-55简" panose="00020600040101010101" charset="-128"/>
                  <a:ea typeface="汉仪旗黑-55简" panose="00020600040101010101" charset="-128"/>
                  <a:cs typeface="汉仪旗黑-55简" panose="00020600040101010101" charset="-128"/>
                </a:rPr>
                <a:t>答辩人</a:t>
              </a:r>
              <a:r>
                <a:rPr lang="zh-CN" altLang="en-US" sz="1800" dirty="0" smtClean="0">
                  <a:solidFill>
                    <a:schemeClr val="bg1"/>
                  </a:solidFill>
                  <a:latin typeface="汉仪旗黑-55简" panose="00020600040101010101" charset="-128"/>
                  <a:ea typeface="汉仪旗黑-55简" panose="00020600040101010101" charset="-128"/>
                  <a:cs typeface="汉仪旗黑-55简" panose="00020600040101010101" charset="-128"/>
                </a:rPr>
                <a:t>：</a:t>
              </a:r>
              <a:r>
                <a:rPr lang="zh-CN" altLang="en-US" sz="1800" dirty="0" smtClean="0">
                  <a:solidFill>
                    <a:schemeClr val="bg1"/>
                  </a:solidFill>
                  <a:latin typeface="汉仪旗黑-55简" panose="00020600040101010101" charset="-128"/>
                  <a:ea typeface="汉仪旗黑-55简" panose="00020600040101010101" charset="-128"/>
                  <a:cs typeface="汉仪旗黑-55简" panose="00020600040101010101" charset="-128"/>
                </a:rPr>
                <a:t>张浩</a:t>
              </a:r>
              <a:endParaRPr lang="zh-CN" altLang="en-US" sz="1800" dirty="0" smtClean="0">
                <a:solidFill>
                  <a:schemeClr val="bg1"/>
                </a:solidFill>
                <a:latin typeface="汉仪旗黑-55简" panose="00020600040101010101" charset="-128"/>
                <a:ea typeface="汉仪旗黑-55简" panose="00020600040101010101" charset="-128"/>
                <a:cs typeface="汉仪旗黑-55简" panose="00020600040101010101" charset="-128"/>
              </a:endParaRPr>
            </a:p>
          </p:txBody>
        </p:sp>
        <p:sp>
          <p:nvSpPr>
            <p:cNvPr id="59" name="矩形 27"/>
            <p:cNvSpPr/>
            <p:nvPr/>
          </p:nvSpPr>
          <p:spPr>
            <a:xfrm>
              <a:off x="9843" y="7882"/>
              <a:ext cx="3879" cy="596"/>
            </a:xfrm>
            <a:prstGeom prst="roundRect">
              <a:avLst>
                <a:gd name="adj" fmla="val 50000"/>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10000"/>
                </a:lnSpc>
                <a:spcBef>
                  <a:spcPts val="0"/>
                </a:spcBef>
                <a:spcAft>
                  <a:spcPts val="0"/>
                </a:spcAft>
              </a:pPr>
              <a:r>
                <a:rPr lang="zh-CN" altLang="en-US" sz="1800" dirty="0">
                  <a:solidFill>
                    <a:schemeClr val="bg1"/>
                  </a:solidFill>
                  <a:latin typeface="汉仪旗黑-55简" panose="00020600040101010101" charset="-128"/>
                  <a:ea typeface="汉仪旗黑-55简" panose="00020600040101010101" charset="-128"/>
                  <a:cs typeface="汉仪旗黑-55简" panose="00020600040101010101" charset="-128"/>
                </a:rPr>
                <a:t>导师</a:t>
              </a:r>
              <a:r>
                <a:rPr lang="zh-CN" altLang="en-US" sz="1800" dirty="0" smtClean="0">
                  <a:solidFill>
                    <a:schemeClr val="bg1"/>
                  </a:solidFill>
                  <a:latin typeface="汉仪旗黑-55简" panose="00020600040101010101" charset="-128"/>
                  <a:ea typeface="汉仪旗黑-55简" panose="00020600040101010101" charset="-128"/>
                  <a:cs typeface="汉仪旗黑-55简" panose="00020600040101010101" charset="-128"/>
                </a:rPr>
                <a:t>：</a:t>
              </a:r>
              <a:r>
                <a:rPr lang="zh-CN" altLang="en-US" sz="1800" dirty="0" err="1">
                  <a:solidFill>
                    <a:schemeClr val="bg1"/>
                  </a:solidFill>
                  <a:latin typeface="汉仪旗黑-55简" panose="00020600040101010101" charset="-128"/>
                  <a:ea typeface="汉仪旗黑-55简" panose="00020600040101010101" charset="-128"/>
                  <a:cs typeface="汉仪旗黑-55简" panose="00020600040101010101" charset="-128"/>
                </a:rPr>
                <a:t>刁宇峰</a:t>
              </a:r>
              <a:endParaRPr lang="zh-CN" altLang="en-US" sz="1800" dirty="0" err="1">
                <a:solidFill>
                  <a:schemeClr val="bg1"/>
                </a:solidFill>
                <a:latin typeface="汉仪旗黑-55简" panose="00020600040101010101" charset="-128"/>
                <a:ea typeface="汉仪旗黑-55简" panose="00020600040101010101" charset="-128"/>
                <a:cs typeface="汉仪旗黑-55简" panose="00020600040101010101" charset="-128"/>
              </a:endParaRPr>
            </a:p>
          </p:txBody>
        </p:sp>
      </p:gr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文本框 19"/>
          <p:cNvSpPr txBox="1"/>
          <p:nvPr/>
        </p:nvSpPr>
        <p:spPr>
          <a:xfrm>
            <a:off x="4864418" y="699135"/>
            <a:ext cx="2463165" cy="1198880"/>
          </a:xfrm>
          <a:prstGeom prst="rect">
            <a:avLst/>
          </a:prstGeom>
          <a:noFill/>
        </p:spPr>
        <p:txBody>
          <a:bodyPr wrap="square" rtlCol="0">
            <a:spAutoFit/>
          </a:bodyPr>
          <a:p>
            <a:pPr algn="ctr"/>
            <a:r>
              <a:rPr lang="zh-CN" altLang="en-US" sz="7200" b="1" spc="-225" dirty="0" smtClean="0">
                <a:solidFill>
                  <a:srgbClr val="5E7397"/>
                </a:solidFill>
                <a:latin typeface="汉仪旗黑-55简" panose="00020600040101010101" charset="-128"/>
                <a:ea typeface="汉仪旗黑-55简" panose="00020600040101010101" charset="-128"/>
                <a:cs typeface="汉仪旗黑-55简" panose="00020600040101010101" charset="-128"/>
                <a:sym typeface="+mn-ea"/>
              </a:rPr>
              <a:t>目 录</a:t>
            </a:r>
            <a:endParaRPr lang="zh-CN" altLang="en-US" sz="7200" b="1" spc="-225" dirty="0" smtClean="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sp>
        <p:nvSpPr>
          <p:cNvPr id="21" name="文本框 20"/>
          <p:cNvSpPr txBox="1"/>
          <p:nvPr/>
        </p:nvSpPr>
        <p:spPr>
          <a:xfrm>
            <a:off x="4629785" y="1694815"/>
            <a:ext cx="2932430" cy="583565"/>
          </a:xfrm>
          <a:prstGeom prst="rect">
            <a:avLst/>
          </a:prstGeom>
          <a:noFill/>
        </p:spPr>
        <p:txBody>
          <a:bodyPr vert="horz" wrap="square" rtlCol="0">
            <a:spAutoFit/>
          </a:bodyPr>
          <a:p>
            <a:pPr algn="ctr"/>
            <a:r>
              <a:rPr lang="en-US" altLang="zh-CN" sz="3200" b="1" dirty="0">
                <a:solidFill>
                  <a:srgbClr val="5E7397"/>
                </a:solidFill>
                <a:latin typeface="汉仪旗黑-55简" panose="00020600040101010101" charset="-128"/>
                <a:ea typeface="汉仪旗黑-55简" panose="00020600040101010101" charset="-128"/>
                <a:cs typeface="汉仪旗黑-55简" panose="00020600040101010101" charset="-128"/>
              </a:rPr>
              <a:t>CONTENTS</a:t>
            </a:r>
            <a:endParaRPr lang="en-US" altLang="zh-CN" sz="3200" b="1" dirty="0">
              <a:solidFill>
                <a:srgbClr val="5E7397"/>
              </a:solidFill>
              <a:latin typeface="汉仪旗黑-55简" panose="00020600040101010101" charset="-128"/>
              <a:ea typeface="汉仪旗黑-55简" panose="00020600040101010101" charset="-128"/>
              <a:cs typeface="汉仪旗黑-55简" panose="00020600040101010101" charset="-128"/>
            </a:endParaRPr>
          </a:p>
        </p:txBody>
      </p:sp>
      <p:sp>
        <p:nvSpPr>
          <p:cNvPr id="91" name="圆角矩形 90"/>
          <p:cNvSpPr/>
          <p:nvPr/>
        </p:nvSpPr>
        <p:spPr>
          <a:xfrm>
            <a:off x="1866000" y="2346325"/>
            <a:ext cx="8460000" cy="28800"/>
          </a:xfrm>
          <a:prstGeom prst="roundRect">
            <a:avLst>
              <a:gd name="adj" fmla="val 50000"/>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36" name="组合 35"/>
          <p:cNvGrpSpPr/>
          <p:nvPr/>
        </p:nvGrpSpPr>
        <p:grpSpPr>
          <a:xfrm>
            <a:off x="0" y="4085590"/>
            <a:ext cx="12192000" cy="2772410"/>
            <a:chOff x="0" y="5835"/>
            <a:chExt cx="19200" cy="4965"/>
          </a:xfrm>
        </p:grpSpPr>
        <p:sp>
          <p:nvSpPr>
            <p:cNvPr id="3" name="任意多边形 2"/>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6" name="任意多边形 5"/>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grpSp>
        <p:nvGrpSpPr>
          <p:cNvPr id="38" name="组合 37"/>
          <p:cNvGrpSpPr/>
          <p:nvPr/>
        </p:nvGrpSpPr>
        <p:grpSpPr>
          <a:xfrm>
            <a:off x="10673080" y="440690"/>
            <a:ext cx="990600" cy="396240"/>
            <a:chOff x="17095" y="476"/>
            <a:chExt cx="1560" cy="624"/>
          </a:xfrm>
          <a:solidFill>
            <a:srgbClr val="ACAECF"/>
          </a:solidFill>
        </p:grpSpPr>
        <p:sp>
          <p:nvSpPr>
            <p:cNvPr id="40" name="椭圆 39"/>
            <p:cNvSpPr/>
            <p:nvPr/>
          </p:nvSpPr>
          <p:spPr>
            <a:xfrm>
              <a:off x="17095"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2" name="椭圆 41"/>
            <p:cNvSpPr/>
            <p:nvPr/>
          </p:nvSpPr>
          <p:spPr>
            <a:xfrm>
              <a:off x="17537"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3" name="椭圆 42"/>
            <p:cNvSpPr/>
            <p:nvPr/>
          </p:nvSpPr>
          <p:spPr>
            <a:xfrm>
              <a:off x="18421"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4" name="椭圆 43"/>
            <p:cNvSpPr/>
            <p:nvPr/>
          </p:nvSpPr>
          <p:spPr>
            <a:xfrm>
              <a:off x="17979"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5" name="椭圆 44"/>
            <p:cNvSpPr/>
            <p:nvPr/>
          </p:nvSpPr>
          <p:spPr>
            <a:xfrm>
              <a:off x="17095"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6" name="椭圆 45"/>
            <p:cNvSpPr/>
            <p:nvPr/>
          </p:nvSpPr>
          <p:spPr>
            <a:xfrm>
              <a:off x="17537"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7" name="椭圆 46"/>
            <p:cNvSpPr/>
            <p:nvPr/>
          </p:nvSpPr>
          <p:spPr>
            <a:xfrm>
              <a:off x="18421"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8" name="椭圆 47"/>
            <p:cNvSpPr/>
            <p:nvPr/>
          </p:nvSpPr>
          <p:spPr>
            <a:xfrm>
              <a:off x="17979"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grpSp>
      <p:sp>
        <p:nvSpPr>
          <p:cNvPr id="15" name="圆角矩形 14"/>
          <p:cNvSpPr/>
          <p:nvPr>
            <p:custDataLst>
              <p:tags r:id="rId1"/>
            </p:custDataLst>
          </p:nvPr>
        </p:nvSpPr>
        <p:spPr>
          <a:xfrm>
            <a:off x="4051300" y="2714625"/>
            <a:ext cx="586740" cy="586740"/>
          </a:xfrm>
          <a:prstGeom prst="roundRect">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文本框 18"/>
          <p:cNvSpPr txBox="1"/>
          <p:nvPr>
            <p:custDataLst>
              <p:tags r:id="rId2"/>
            </p:custDataLst>
          </p:nvPr>
        </p:nvSpPr>
        <p:spPr>
          <a:xfrm>
            <a:off x="4792345" y="2731770"/>
            <a:ext cx="3237230" cy="583565"/>
          </a:xfrm>
          <a:prstGeom prst="rect">
            <a:avLst/>
          </a:prstGeom>
          <a:noFill/>
        </p:spPr>
        <p:txBody>
          <a:bodyPr wrap="square" rtlCol="0" anchor="t" anchorCtr="0">
            <a:spAutoFit/>
          </a:bodyPr>
          <a:p>
            <a:pPr algn="ctr">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rPr>
              <a:t>研究背景</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与</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rPr>
              <a:t>意义</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endParaRPr>
          </a:p>
        </p:txBody>
      </p:sp>
      <p:sp>
        <p:nvSpPr>
          <p:cNvPr id="24" name="圆角矩形 23"/>
          <p:cNvSpPr/>
          <p:nvPr>
            <p:custDataLst>
              <p:tags r:id="rId3"/>
            </p:custDataLst>
          </p:nvPr>
        </p:nvSpPr>
        <p:spPr>
          <a:xfrm>
            <a:off x="4051300" y="3771900"/>
            <a:ext cx="586740" cy="586740"/>
          </a:xfrm>
          <a:prstGeom prst="roundRect">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文本框 24"/>
          <p:cNvSpPr txBox="1"/>
          <p:nvPr>
            <p:custDataLst>
              <p:tags r:id="rId4"/>
            </p:custDataLst>
          </p:nvPr>
        </p:nvSpPr>
        <p:spPr>
          <a:xfrm>
            <a:off x="4792345" y="3789045"/>
            <a:ext cx="3237230" cy="583565"/>
          </a:xfrm>
          <a:prstGeom prst="rect">
            <a:avLst/>
          </a:prstGeom>
          <a:noFill/>
        </p:spPr>
        <p:txBody>
          <a:bodyPr wrap="square" rtlCol="0" anchor="t" anchorCtr="0">
            <a:spAutoFit/>
          </a:bodyPr>
          <a:p>
            <a:pPr algn="ctr">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研究内容与</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方法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sp>
        <p:nvSpPr>
          <p:cNvPr id="31" name="圆角矩形 30"/>
          <p:cNvSpPr/>
          <p:nvPr>
            <p:custDataLst>
              <p:tags r:id="rId5"/>
            </p:custDataLst>
          </p:nvPr>
        </p:nvSpPr>
        <p:spPr>
          <a:xfrm>
            <a:off x="4714875" y="2714625"/>
            <a:ext cx="3458845" cy="586740"/>
          </a:xfrm>
          <a:prstGeom prst="roundRect">
            <a:avLst/>
          </a:prstGeom>
          <a:noFill/>
          <a:ln>
            <a:solidFill>
              <a:srgbClr val="5E7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 name="圆角矩形 31"/>
          <p:cNvSpPr/>
          <p:nvPr>
            <p:custDataLst>
              <p:tags r:id="rId6"/>
            </p:custDataLst>
          </p:nvPr>
        </p:nvSpPr>
        <p:spPr>
          <a:xfrm>
            <a:off x="4714875" y="3771900"/>
            <a:ext cx="3458845" cy="586740"/>
          </a:xfrm>
          <a:prstGeom prst="roundRect">
            <a:avLst/>
          </a:prstGeom>
          <a:noFill/>
          <a:ln>
            <a:solidFill>
              <a:srgbClr val="5E7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 name="文本框 34"/>
          <p:cNvSpPr txBox="1"/>
          <p:nvPr>
            <p:custDataLst>
              <p:tags r:id="rId7"/>
            </p:custDataLst>
          </p:nvPr>
        </p:nvSpPr>
        <p:spPr>
          <a:xfrm>
            <a:off x="3980180" y="2720340"/>
            <a:ext cx="727710" cy="575310"/>
          </a:xfrm>
          <a:prstGeom prst="rect">
            <a:avLst/>
          </a:prstGeom>
          <a:noFill/>
        </p:spPr>
        <p:txBody>
          <a:bodyPr vert="horz" wrap="square" rtlCol="0">
            <a:noAutofit/>
          </a:bodyPr>
          <a:p>
            <a:pPr algn="ctr"/>
            <a:r>
              <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rPr>
              <a:t>01</a:t>
            </a:r>
            <a:endPar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endParaRPr>
          </a:p>
        </p:txBody>
      </p:sp>
      <p:sp>
        <p:nvSpPr>
          <p:cNvPr id="37" name="文本框 36"/>
          <p:cNvSpPr txBox="1"/>
          <p:nvPr>
            <p:custDataLst>
              <p:tags r:id="rId8"/>
            </p:custDataLst>
          </p:nvPr>
        </p:nvSpPr>
        <p:spPr>
          <a:xfrm>
            <a:off x="3980180" y="3777615"/>
            <a:ext cx="727710" cy="575310"/>
          </a:xfrm>
          <a:prstGeom prst="rect">
            <a:avLst/>
          </a:prstGeom>
          <a:noFill/>
        </p:spPr>
        <p:txBody>
          <a:bodyPr vert="horz" wrap="square" rtlCol="0">
            <a:noAutofit/>
          </a:bodyPr>
          <a:p>
            <a:pPr algn="ctr"/>
            <a:r>
              <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rPr>
              <a:t>02</a:t>
            </a:r>
            <a:endPar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endParaRPr>
          </a:p>
        </p:txBody>
      </p:sp>
      <p:sp>
        <p:nvSpPr>
          <p:cNvPr id="49" name="任意多边形 48"/>
          <p:cNvSpPr/>
          <p:nvPr/>
        </p:nvSpPr>
        <p:spPr>
          <a:xfrm flipH="1" flipV="1">
            <a:off x="0" y="0"/>
            <a:ext cx="3636010" cy="1015365"/>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2" h="1900">
                <a:moveTo>
                  <a:pt x="7742" y="0"/>
                </a:moveTo>
                <a:lnTo>
                  <a:pt x="7742" y="1900"/>
                </a:lnTo>
                <a:lnTo>
                  <a:pt x="0" y="1900"/>
                </a:lnTo>
                <a:lnTo>
                  <a:pt x="145" y="1881"/>
                </a:lnTo>
                <a:cubicBezTo>
                  <a:pt x="2818" y="1528"/>
                  <a:pt x="5425" y="917"/>
                  <a:pt x="7621" y="49"/>
                </a:cubicBezTo>
                <a:lnTo>
                  <a:pt x="7742"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 name="圆角矩形 1"/>
          <p:cNvSpPr/>
          <p:nvPr>
            <p:custDataLst>
              <p:tags r:id="rId9"/>
            </p:custDataLst>
          </p:nvPr>
        </p:nvSpPr>
        <p:spPr>
          <a:xfrm>
            <a:off x="4054475" y="4775200"/>
            <a:ext cx="586740" cy="586740"/>
          </a:xfrm>
          <a:prstGeom prst="roundRect">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文本框 3"/>
          <p:cNvSpPr txBox="1"/>
          <p:nvPr>
            <p:custDataLst>
              <p:tags r:id="rId10"/>
            </p:custDataLst>
          </p:nvPr>
        </p:nvSpPr>
        <p:spPr>
          <a:xfrm>
            <a:off x="4795520" y="4792345"/>
            <a:ext cx="3237230" cy="583565"/>
          </a:xfrm>
          <a:prstGeom prst="rect">
            <a:avLst/>
          </a:prstGeom>
          <a:noFill/>
        </p:spPr>
        <p:txBody>
          <a:bodyPr wrap="square" rtlCol="0" anchor="t" anchorCtr="0">
            <a:spAutoFit/>
          </a:bodyPr>
          <a:p>
            <a:pPr algn="ctr">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总结与</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展望</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sp>
        <p:nvSpPr>
          <p:cNvPr id="5" name="圆角矩形 4"/>
          <p:cNvSpPr/>
          <p:nvPr>
            <p:custDataLst>
              <p:tags r:id="rId11"/>
            </p:custDataLst>
          </p:nvPr>
        </p:nvSpPr>
        <p:spPr>
          <a:xfrm>
            <a:off x="4718050" y="4775200"/>
            <a:ext cx="3458845" cy="586740"/>
          </a:xfrm>
          <a:prstGeom prst="roundRect">
            <a:avLst/>
          </a:prstGeom>
          <a:noFill/>
          <a:ln>
            <a:solidFill>
              <a:srgbClr val="5E7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custDataLst>
              <p:tags r:id="rId12"/>
            </p:custDataLst>
          </p:nvPr>
        </p:nvSpPr>
        <p:spPr>
          <a:xfrm>
            <a:off x="3983355" y="4780915"/>
            <a:ext cx="727710" cy="575310"/>
          </a:xfrm>
          <a:prstGeom prst="rect">
            <a:avLst/>
          </a:prstGeom>
          <a:noFill/>
        </p:spPr>
        <p:txBody>
          <a:bodyPr vert="horz" wrap="square" rtlCol="0">
            <a:noAutofit/>
          </a:bodyPr>
          <a:p>
            <a:pPr algn="ctr"/>
            <a:r>
              <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rPr>
              <a:t>03</a:t>
            </a:r>
            <a:endPar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文本框 11"/>
          <p:cNvSpPr txBox="1"/>
          <p:nvPr/>
        </p:nvSpPr>
        <p:spPr>
          <a:xfrm>
            <a:off x="3928269" y="1815928"/>
            <a:ext cx="4335463" cy="1076325"/>
          </a:xfrm>
          <a:prstGeom prst="rect">
            <a:avLst/>
          </a:prstGeom>
          <a:noFill/>
        </p:spPr>
        <p:txBody>
          <a:bodyPr wrap="square" lIns="91440" tIns="45720" rIns="91440" bIns="45720" rtlCol="0">
            <a:spAutoFit/>
          </a:bodyPr>
          <a:lstStyle/>
          <a:p>
            <a:pPr algn="ctr"/>
            <a:r>
              <a:rPr lang="en-US" altLang="zh-CN" sz="6400" b="1" dirty="0" smtClean="0">
                <a:solidFill>
                  <a:srgbClr val="5E7397"/>
                </a:solidFill>
                <a:latin typeface="汉仪旗黑-55简" panose="00020600040101010101" charset="-128"/>
                <a:ea typeface="汉仪旗黑-55简" panose="00020600040101010101" charset="-128"/>
                <a:cs typeface="汉仪旗黑-55简" panose="00020600040101010101" charset="-128"/>
                <a:sym typeface="+mn-ea"/>
              </a:rPr>
              <a:t>PART 01</a:t>
            </a:r>
            <a:endParaRPr lang="en-US" altLang="zh-CN" sz="6400" b="1" dirty="0" smtClean="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sp>
        <p:nvSpPr>
          <p:cNvPr id="80" name="文本框 79"/>
          <p:cNvSpPr txBox="1"/>
          <p:nvPr/>
        </p:nvSpPr>
        <p:spPr>
          <a:xfrm>
            <a:off x="2437765" y="2739390"/>
            <a:ext cx="7317740" cy="1014730"/>
          </a:xfrm>
          <a:prstGeom prst="rect">
            <a:avLst/>
          </a:prstGeom>
          <a:noFill/>
        </p:spPr>
        <p:txBody>
          <a:bodyPr wrap="square" rtlCol="0">
            <a:spAutoFit/>
          </a:bodyPr>
          <a:p>
            <a:pPr algn="ctr">
              <a:lnSpc>
                <a:spcPct val="100000"/>
              </a:lnSpc>
            </a:pPr>
            <a:r>
              <a:rPr lang="zh-CN" altLang="en-US" sz="6000" dirty="0">
                <a:solidFill>
                  <a:srgbClr val="5E7397"/>
                </a:solidFill>
                <a:latin typeface="汉仪旗黑-55简" panose="00020600040101010101" charset="-128"/>
                <a:ea typeface="汉仪旗黑-55简" panose="00020600040101010101" charset="-128"/>
                <a:cs typeface="汉仪旗黑-55简" panose="00020600040101010101" charset="-128"/>
              </a:rPr>
              <a:t>选题背景</a:t>
            </a:r>
            <a:r>
              <a:rPr lang="zh-CN" altLang="en-US" sz="60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与</a:t>
            </a:r>
            <a:r>
              <a:rPr lang="zh-CN" altLang="en-US" sz="6000" dirty="0">
                <a:solidFill>
                  <a:srgbClr val="5E7397"/>
                </a:solidFill>
                <a:latin typeface="汉仪旗黑-55简" panose="00020600040101010101" charset="-128"/>
                <a:ea typeface="汉仪旗黑-55简" panose="00020600040101010101" charset="-128"/>
                <a:cs typeface="汉仪旗黑-55简" panose="00020600040101010101" charset="-128"/>
              </a:rPr>
              <a:t>意义</a:t>
            </a:r>
            <a:endParaRPr lang="zh-CN" altLang="en-US" sz="6000" dirty="0">
              <a:solidFill>
                <a:srgbClr val="5E7397"/>
              </a:solidFill>
              <a:latin typeface="汉仪旗黑-55简" panose="00020600040101010101" charset="-128"/>
              <a:ea typeface="汉仪旗黑-55简" panose="00020600040101010101" charset="-128"/>
              <a:cs typeface="汉仪旗黑-55简" panose="00020600040101010101" charset="-128"/>
            </a:endParaRPr>
          </a:p>
        </p:txBody>
      </p:sp>
      <p:grpSp>
        <p:nvGrpSpPr>
          <p:cNvPr id="36" name="组合 35"/>
          <p:cNvGrpSpPr/>
          <p:nvPr/>
        </p:nvGrpSpPr>
        <p:grpSpPr>
          <a:xfrm>
            <a:off x="0" y="4085590"/>
            <a:ext cx="12192000" cy="2772410"/>
            <a:chOff x="0" y="5835"/>
            <a:chExt cx="19200" cy="4965"/>
          </a:xfrm>
        </p:grpSpPr>
        <p:sp>
          <p:nvSpPr>
            <p:cNvPr id="3" name="任意多边形 2"/>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 name="任意多边形 1"/>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grpSp>
        <p:nvGrpSpPr>
          <p:cNvPr id="38" name="组合 37"/>
          <p:cNvGrpSpPr/>
          <p:nvPr/>
        </p:nvGrpSpPr>
        <p:grpSpPr>
          <a:xfrm>
            <a:off x="10673080" y="440690"/>
            <a:ext cx="990600" cy="396240"/>
            <a:chOff x="17095" y="476"/>
            <a:chExt cx="1560" cy="624"/>
          </a:xfrm>
          <a:solidFill>
            <a:srgbClr val="ACAECF"/>
          </a:solidFill>
        </p:grpSpPr>
        <p:sp>
          <p:nvSpPr>
            <p:cNvPr id="40" name="椭圆 39"/>
            <p:cNvSpPr/>
            <p:nvPr/>
          </p:nvSpPr>
          <p:spPr>
            <a:xfrm>
              <a:off x="17095"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2" name="椭圆 41"/>
            <p:cNvSpPr/>
            <p:nvPr/>
          </p:nvSpPr>
          <p:spPr>
            <a:xfrm>
              <a:off x="17537"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3" name="椭圆 42"/>
            <p:cNvSpPr/>
            <p:nvPr/>
          </p:nvSpPr>
          <p:spPr>
            <a:xfrm>
              <a:off x="18421"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4" name="椭圆 43"/>
            <p:cNvSpPr/>
            <p:nvPr/>
          </p:nvSpPr>
          <p:spPr>
            <a:xfrm>
              <a:off x="17979"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5" name="椭圆 44"/>
            <p:cNvSpPr/>
            <p:nvPr/>
          </p:nvSpPr>
          <p:spPr>
            <a:xfrm>
              <a:off x="17095"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6" name="椭圆 45"/>
            <p:cNvSpPr/>
            <p:nvPr/>
          </p:nvSpPr>
          <p:spPr>
            <a:xfrm>
              <a:off x="17537"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7" name="椭圆 46"/>
            <p:cNvSpPr/>
            <p:nvPr/>
          </p:nvSpPr>
          <p:spPr>
            <a:xfrm>
              <a:off x="18421"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8" name="椭圆 47"/>
            <p:cNvSpPr/>
            <p:nvPr/>
          </p:nvSpPr>
          <p:spPr>
            <a:xfrm>
              <a:off x="17979"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grpSp>
      <p:sp>
        <p:nvSpPr>
          <p:cNvPr id="49" name="任意多边形 48"/>
          <p:cNvSpPr/>
          <p:nvPr/>
        </p:nvSpPr>
        <p:spPr>
          <a:xfrm flipH="1" flipV="1">
            <a:off x="0" y="0"/>
            <a:ext cx="3636010" cy="1015365"/>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2" h="1900">
                <a:moveTo>
                  <a:pt x="7742" y="0"/>
                </a:moveTo>
                <a:lnTo>
                  <a:pt x="7742" y="1900"/>
                </a:lnTo>
                <a:lnTo>
                  <a:pt x="0" y="1900"/>
                </a:lnTo>
                <a:lnTo>
                  <a:pt x="145" y="1881"/>
                </a:lnTo>
                <a:cubicBezTo>
                  <a:pt x="2818" y="1528"/>
                  <a:pt x="5425" y="917"/>
                  <a:pt x="7621" y="49"/>
                </a:cubicBezTo>
                <a:lnTo>
                  <a:pt x="7742"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pic>
        <p:nvPicPr>
          <p:cNvPr id="9" name="图片 8" descr="31393935333939383b31373432363535313bd1a7cebbc3b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7540" y="1036955"/>
            <a:ext cx="756920" cy="756920"/>
          </a:xfrm>
          <a:prstGeom prst="rect">
            <a:avLst/>
          </a:prstGeom>
        </p:spPr>
      </p:pic>
      <p:sp>
        <p:nvSpPr>
          <p:cNvPr id="12" name="圆角矩形 11"/>
          <p:cNvSpPr/>
          <p:nvPr/>
        </p:nvSpPr>
        <p:spPr>
          <a:xfrm>
            <a:off x="2406000" y="3763645"/>
            <a:ext cx="7380000" cy="28800"/>
          </a:xfrm>
          <a:prstGeom prst="roundRect">
            <a:avLst>
              <a:gd name="adj" fmla="val 50000"/>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rPr>
              <a:t>选题背景</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endParaRPr>
          </a:p>
        </p:txBody>
      </p:sp>
      <p:grpSp>
        <p:nvGrpSpPr>
          <p:cNvPr id="2" name="组合 1"/>
          <p:cNvGrpSpPr/>
          <p:nvPr/>
        </p:nvGrpSpPr>
        <p:grpSpPr>
          <a:xfrm>
            <a:off x="0" y="5999480"/>
            <a:ext cx="12192000" cy="858520"/>
            <a:chOff x="0" y="5835"/>
            <a:chExt cx="19200" cy="4965"/>
          </a:xfrm>
        </p:grpSpPr>
        <p:sp>
          <p:nvSpPr>
            <p:cNvPr id="3" name="任意多边形 2"/>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7" name="任意多边形 6"/>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grpSp>
        <p:nvGrpSpPr>
          <p:cNvPr id="10" name="组合 9"/>
          <p:cNvGrpSpPr/>
          <p:nvPr/>
        </p:nvGrpSpPr>
        <p:grpSpPr>
          <a:xfrm>
            <a:off x="354965" y="450215"/>
            <a:ext cx="549275" cy="354330"/>
            <a:chOff x="559" y="541"/>
            <a:chExt cx="899" cy="580"/>
          </a:xfrm>
        </p:grpSpPr>
        <p:sp>
          <p:nvSpPr>
            <p:cNvPr id="9" name="椭圆 8"/>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椭圆 7"/>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34" name="文本框_1"/>
          <p:cNvSpPr txBox="1"/>
          <p:nvPr/>
        </p:nvSpPr>
        <p:spPr>
          <a:xfrm>
            <a:off x="1632585" y="1289050"/>
            <a:ext cx="10055225" cy="1544955"/>
          </a:xfrm>
          <a:prstGeom prst="rect">
            <a:avLst/>
          </a:prstGeom>
          <a:noFill/>
        </p:spPr>
        <p:txBody>
          <a:bodyPr lIns="91440" tIns="45720" rIns="91440" bIns="45720" anchor="t" anchorCtr="0"/>
          <a:p>
            <a:pPr marL="285750" indent="-285750" algn="just">
              <a:lnSpc>
                <a:spcPct val="150000"/>
              </a:lnSpc>
              <a:spcBef>
                <a:spcPts val="0"/>
              </a:spcBef>
              <a:spcAft>
                <a:spcPts val="0"/>
              </a:spcAft>
              <a:buClr>
                <a:srgbClr val="5E7397"/>
              </a:buClr>
              <a:buFont typeface="Arial" panose="020B0604020202020204" pitchFamily="34" charset="0"/>
              <a:buChar char="•"/>
            </a:pP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语言是人类相互理解与情感交流的重要桥梁。蒙古国作为中国拥有最长陆地边界的邻国，其官方语言为新蒙文。同时，在中国境内，蒙古族作为重要的少数民族之一，广泛使用传统蒙文。随着“一带一路”倡议的持续推进，中蒙两国在贸易、投资和人文交流等领域的合作日益深入，对语言交流和情感理解的需求不断提升。在这一背景下，研究中文、传统蒙文及新蒙文的情感表达，能够深化中蒙两国关系，促进双边合作的可持续发展。</a:t>
            </a:r>
            <a:endParaRPr lang="zh-CN" altLang="en-US" sz="1600">
              <a:solidFill>
                <a:schemeClr val="tx1">
                  <a:lumMod val="75000"/>
                  <a:lumOff val="25000"/>
                </a:schemeClr>
              </a:solidFill>
              <a:latin typeface="汉仪旗黑-55简" panose="00020600040101010101" charset="-128"/>
              <a:ea typeface="汉仪旗黑-55简" panose="00020600040101010101" charset="-128"/>
              <a:sym typeface="+mn-ea"/>
            </a:endParaRPr>
          </a:p>
        </p:txBody>
      </p:sp>
      <p:sp>
        <p:nvSpPr>
          <p:cNvPr id="13" name="文本框_1"/>
          <p:cNvSpPr txBox="1"/>
          <p:nvPr/>
        </p:nvSpPr>
        <p:spPr>
          <a:xfrm>
            <a:off x="1631950" y="3510915"/>
            <a:ext cx="9931400" cy="1311275"/>
          </a:xfrm>
          <a:prstGeom prst="rect">
            <a:avLst/>
          </a:prstGeom>
          <a:noFill/>
        </p:spPr>
        <p:txBody>
          <a:bodyPr lIns="91440" tIns="45720" rIns="91440" bIns="45720" anchor="t" anchorCtr="0"/>
          <a:p>
            <a:pPr marL="285750" indent="-285750" algn="just">
              <a:lnSpc>
                <a:spcPct val="150000"/>
              </a:lnSpc>
              <a:spcBef>
                <a:spcPts val="0"/>
              </a:spcBef>
              <a:spcAft>
                <a:spcPts val="0"/>
              </a:spcAft>
              <a:buClr>
                <a:srgbClr val="5E7397"/>
              </a:buClr>
              <a:buSzTx/>
              <a:buFont typeface="Arial" panose="020B0604020202020204" pitchFamily="34" charset="0"/>
              <a:buChar char="•"/>
            </a:pP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另一方面，随着互联网的迅猛发展，社交媒体平台如Twitter、Reddit、新浪微博等，已成为用户表达观点、分享情感的重要载体。这些平台承载了海量的多语言文本数据，成为捕捉用户思维、情绪及社交行为属性的关键工具。</a:t>
            </a:r>
            <a:endParaRPr lang="zh-CN" altLang="en-US" sz="1600">
              <a:solidFill>
                <a:schemeClr val="tx1">
                  <a:lumMod val="75000"/>
                  <a:lumOff val="25000"/>
                </a:schemeClr>
              </a:solidFill>
              <a:latin typeface="汉仪旗黑-55简" panose="00020600040101010101" charset="-128"/>
              <a:ea typeface="汉仪旗黑-55简" panose="00020600040101010101" charset="-128"/>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rPr>
              <a:t>选题背景</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endParaRPr>
          </a:p>
        </p:txBody>
      </p:sp>
      <p:grpSp>
        <p:nvGrpSpPr>
          <p:cNvPr id="3" name="组合 2"/>
          <p:cNvGrpSpPr/>
          <p:nvPr/>
        </p:nvGrpSpPr>
        <p:grpSpPr>
          <a:xfrm>
            <a:off x="354965" y="450215"/>
            <a:ext cx="549275" cy="354330"/>
            <a:chOff x="559" y="541"/>
            <a:chExt cx="899" cy="580"/>
          </a:xfrm>
        </p:grpSpPr>
        <p:sp>
          <p:nvSpPr>
            <p:cNvPr id="4" name="椭圆 3"/>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椭圆 5"/>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1" name="组合 10"/>
          <p:cNvGrpSpPr/>
          <p:nvPr/>
        </p:nvGrpSpPr>
        <p:grpSpPr>
          <a:xfrm>
            <a:off x="0" y="5815965"/>
            <a:ext cx="12192000" cy="1042035"/>
            <a:chOff x="0" y="5835"/>
            <a:chExt cx="19200" cy="4965"/>
          </a:xfrm>
        </p:grpSpPr>
        <p:sp>
          <p:nvSpPr>
            <p:cNvPr id="14" name="任意多边形 13"/>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9" name="任意多边形 18"/>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22" name="圆角矩形 21"/>
          <p:cNvSpPr/>
          <p:nvPr>
            <p:custDataLst>
              <p:tags r:id="rId1"/>
            </p:custDataLst>
          </p:nvPr>
        </p:nvSpPr>
        <p:spPr>
          <a:xfrm>
            <a:off x="1591310" y="1639570"/>
            <a:ext cx="9009380" cy="1828165"/>
          </a:xfrm>
          <a:prstGeom prst="roundRect">
            <a:avLst>
              <a:gd name="adj" fmla="val 12655"/>
            </a:avLst>
          </a:prstGeom>
          <a:noFill/>
          <a:ln>
            <a:solidFill>
              <a:srgbClr val="5E7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圆角矩形 22"/>
          <p:cNvSpPr/>
          <p:nvPr>
            <p:custDataLst>
              <p:tags r:id="rId2"/>
            </p:custDataLst>
          </p:nvPr>
        </p:nvSpPr>
        <p:spPr>
          <a:xfrm>
            <a:off x="1591310" y="1639570"/>
            <a:ext cx="1817370" cy="1828165"/>
          </a:xfrm>
          <a:prstGeom prst="roundRect">
            <a:avLst>
              <a:gd name="adj" fmla="val 12655"/>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圆角矩形 26"/>
          <p:cNvSpPr/>
          <p:nvPr>
            <p:custDataLst>
              <p:tags r:id="rId3"/>
            </p:custDataLst>
          </p:nvPr>
        </p:nvSpPr>
        <p:spPr>
          <a:xfrm>
            <a:off x="1591310" y="3857625"/>
            <a:ext cx="9009380" cy="1828165"/>
          </a:xfrm>
          <a:prstGeom prst="roundRect">
            <a:avLst>
              <a:gd name="adj" fmla="val 12655"/>
            </a:avLst>
          </a:prstGeom>
          <a:noFill/>
          <a:ln>
            <a:solidFill>
              <a:srgbClr val="ACAE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 name="圆角矩形 30"/>
          <p:cNvSpPr/>
          <p:nvPr>
            <p:custDataLst>
              <p:tags r:id="rId4"/>
            </p:custDataLst>
          </p:nvPr>
        </p:nvSpPr>
        <p:spPr>
          <a:xfrm>
            <a:off x="8783320" y="3857625"/>
            <a:ext cx="1817370" cy="1828165"/>
          </a:xfrm>
          <a:prstGeom prst="roundRect">
            <a:avLst>
              <a:gd name="adj" fmla="val 12655"/>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 name="文本框_1"/>
          <p:cNvSpPr txBox="1"/>
          <p:nvPr>
            <p:custDataLst>
              <p:tags r:id="rId5"/>
            </p:custDataLst>
          </p:nvPr>
        </p:nvSpPr>
        <p:spPr>
          <a:xfrm>
            <a:off x="3542665" y="1876425"/>
            <a:ext cx="6696075" cy="1354455"/>
          </a:xfrm>
          <a:prstGeom prst="rect">
            <a:avLst/>
          </a:prstGeom>
          <a:noFill/>
        </p:spPr>
        <p:txBody>
          <a:bodyPr lIns="91440" tIns="45720" rIns="91440" bIns="45720" anchor="t" anchorCtr="0"/>
          <a:p>
            <a:pPr indent="0" algn="just">
              <a:lnSpc>
                <a:spcPct val="150000"/>
              </a:lnSpc>
              <a:spcBef>
                <a:spcPts val="0"/>
              </a:spcBef>
              <a:spcAft>
                <a:spcPts val="0"/>
              </a:spcAft>
              <a:buClr>
                <a:srgbClr val="5E7397"/>
              </a:buClr>
              <a:buFont typeface="Arial" panose="020B0604020202020204" pitchFamily="34" charset="0"/>
              <a:buNone/>
            </a:pPr>
            <a:r>
              <a:rPr lang="zh-CN" altLang="en-US" sz="1335">
                <a:solidFill>
                  <a:schemeClr val="tx1">
                    <a:lumMod val="75000"/>
                    <a:lumOff val="25000"/>
                  </a:schemeClr>
                </a:solidFill>
                <a:latin typeface="汉仪旗黑-55简" panose="00020600040101010101" charset="-128"/>
                <a:ea typeface="汉仪旗黑-55简" panose="00020600040101010101" charset="-128"/>
                <a:sym typeface="+mn-ea"/>
              </a:rPr>
              <a:t>情感分析作为自然语言处理的核心任务之一，越来越受到学术界和工业界的关注。以社交媒体为载体进行情感分析具有重要意义。它能够辅助政府和机构及时洞察公众对政策或社会事件的态度。然而，目前的大部分研究和应用主要集中于单一语言的语料库，跨语言和多语言情感分析领域仍处于相对初步的发展阶段。</a:t>
            </a:r>
            <a:endParaRPr lang="zh-CN" altLang="en-US" sz="1335">
              <a:solidFill>
                <a:schemeClr val="tx1">
                  <a:lumMod val="75000"/>
                  <a:lumOff val="25000"/>
                </a:schemeClr>
              </a:solidFill>
              <a:latin typeface="汉仪旗黑-55简" panose="00020600040101010101" charset="-128"/>
              <a:ea typeface="汉仪旗黑-55简" panose="00020600040101010101" charset="-128"/>
              <a:sym typeface="+mn-ea"/>
            </a:endParaRPr>
          </a:p>
        </p:txBody>
      </p:sp>
      <p:sp>
        <p:nvSpPr>
          <p:cNvPr id="39" name="文本框_1"/>
          <p:cNvSpPr txBox="1"/>
          <p:nvPr>
            <p:custDataLst>
              <p:tags r:id="rId6"/>
            </p:custDataLst>
          </p:nvPr>
        </p:nvSpPr>
        <p:spPr>
          <a:xfrm>
            <a:off x="1912620" y="3978910"/>
            <a:ext cx="6696075" cy="1354455"/>
          </a:xfrm>
          <a:prstGeom prst="rect">
            <a:avLst/>
          </a:prstGeom>
          <a:noFill/>
        </p:spPr>
        <p:txBody>
          <a:bodyPr lIns="91440" tIns="45720" rIns="91440" bIns="45720" anchor="t" anchorCtr="0"/>
          <a:p>
            <a:pPr algn="just">
              <a:lnSpc>
                <a:spcPct val="150000"/>
              </a:lnSpc>
              <a:spcBef>
                <a:spcPts val="0"/>
              </a:spcBef>
              <a:spcAft>
                <a:spcPts val="0"/>
              </a:spcAft>
              <a:buClr>
                <a:srgbClr val="5E7397"/>
              </a:buClr>
              <a:buSzTx/>
              <a:buFont typeface="Arial" panose="020B0604020202020204" pitchFamily="34" charset="0"/>
              <a:buNone/>
            </a:pPr>
            <a:r>
              <a:rPr lang="zh-CN" altLang="en-US" sz="1335">
                <a:solidFill>
                  <a:schemeClr val="tx1">
                    <a:lumMod val="75000"/>
                    <a:lumOff val="25000"/>
                  </a:schemeClr>
                </a:solidFill>
                <a:latin typeface="汉仪旗黑-55简" panose="00020600040101010101" charset="-128"/>
                <a:ea typeface="汉仪旗黑-55简" panose="00020600040101010101" charset="-128"/>
                <a:sym typeface="+mn-ea"/>
              </a:rPr>
              <a:t>本课题聚焦于多语言情感分析的关键问题，以社交媒体为主要研究载体，系统分析多语言文本中的情感信息，尤其针对资源匮乏的蒙文进行深入研究。通过挖掘社交媒体中用户对热门事件的情感倾向性与态度，不仅为蒙古族文化的传承与发展提供基础支持，也为中蒙关系的进一步深化及“一带一路”倡议下的多语言合作提供数据支撑和技术保障。</a:t>
            </a:r>
            <a:endParaRPr lang="zh-CN" altLang="en-US" sz="1335">
              <a:solidFill>
                <a:schemeClr val="tx1">
                  <a:lumMod val="75000"/>
                  <a:lumOff val="25000"/>
                </a:schemeClr>
              </a:solidFill>
              <a:latin typeface="汉仪旗黑-55简" panose="00020600040101010101" charset="-128"/>
              <a:ea typeface="汉仪旗黑-55简" panose="00020600040101010101" charset="-128"/>
              <a:sym typeface="+mn-ea"/>
            </a:endParaRPr>
          </a:p>
        </p:txBody>
      </p:sp>
      <p:pic>
        <p:nvPicPr>
          <p:cNvPr id="54" name="图片 53" descr="templates\docerresourceshop\icons\\32303038313138363b32303039303531393bcbd1cbf7"/>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32635" y="2075180"/>
            <a:ext cx="957580" cy="957580"/>
          </a:xfrm>
          <a:prstGeom prst="rect">
            <a:avLst/>
          </a:prstGeom>
        </p:spPr>
      </p:pic>
      <p:pic>
        <p:nvPicPr>
          <p:cNvPr id="55" name="图片 54" descr="templates\docerresourceshop\icons\\32303038313138363b32303039303531383bb1a8d6bd"/>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246870" y="4329430"/>
            <a:ext cx="991870" cy="99187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rPr>
              <a:t>选题意义</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endParaRPr>
          </a:p>
        </p:txBody>
      </p:sp>
      <p:grpSp>
        <p:nvGrpSpPr>
          <p:cNvPr id="10" name="组合 9"/>
          <p:cNvGrpSpPr/>
          <p:nvPr/>
        </p:nvGrpSpPr>
        <p:grpSpPr>
          <a:xfrm>
            <a:off x="354965" y="450215"/>
            <a:ext cx="549275" cy="354330"/>
            <a:chOff x="559" y="541"/>
            <a:chExt cx="899" cy="580"/>
          </a:xfrm>
        </p:grpSpPr>
        <p:sp>
          <p:nvSpPr>
            <p:cNvPr id="9" name="椭圆 8"/>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椭圆 7"/>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 name="组合 1"/>
          <p:cNvGrpSpPr/>
          <p:nvPr/>
        </p:nvGrpSpPr>
        <p:grpSpPr>
          <a:xfrm>
            <a:off x="0" y="5815965"/>
            <a:ext cx="12192000" cy="1042035"/>
            <a:chOff x="0" y="5835"/>
            <a:chExt cx="19200" cy="4965"/>
          </a:xfrm>
        </p:grpSpPr>
        <p:sp>
          <p:nvSpPr>
            <p:cNvPr id="3" name="任意多边形 2"/>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7" name="任意多边形 6"/>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23" name="任意多边形 22"/>
          <p:cNvSpPr/>
          <p:nvPr/>
        </p:nvSpPr>
        <p:spPr>
          <a:xfrm rot="10800000">
            <a:off x="4918075" y="1534795"/>
            <a:ext cx="2249805" cy="224790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145" h="3142">
                <a:moveTo>
                  <a:pt x="1667" y="0"/>
                </a:moveTo>
                <a:lnTo>
                  <a:pt x="1693" y="2"/>
                </a:lnTo>
                <a:cubicBezTo>
                  <a:pt x="2505" y="63"/>
                  <a:pt x="3145" y="742"/>
                  <a:pt x="3145" y="1570"/>
                </a:cubicBezTo>
                <a:cubicBezTo>
                  <a:pt x="3145" y="2438"/>
                  <a:pt x="2441" y="3142"/>
                  <a:pt x="1573" y="3142"/>
                </a:cubicBezTo>
                <a:cubicBezTo>
                  <a:pt x="704" y="3142"/>
                  <a:pt x="0" y="2438"/>
                  <a:pt x="0" y="1570"/>
                </a:cubicBezTo>
                <a:cubicBezTo>
                  <a:pt x="0" y="1298"/>
                  <a:pt x="69" y="1043"/>
                  <a:pt x="190" y="820"/>
                </a:cubicBezTo>
                <a:lnTo>
                  <a:pt x="192" y="815"/>
                </a:lnTo>
                <a:lnTo>
                  <a:pt x="206" y="816"/>
                </a:lnTo>
                <a:cubicBezTo>
                  <a:pt x="232" y="817"/>
                  <a:pt x="259" y="818"/>
                  <a:pt x="287" y="818"/>
                </a:cubicBezTo>
                <a:cubicBezTo>
                  <a:pt x="870" y="818"/>
                  <a:pt x="1379" y="500"/>
                  <a:pt x="1651" y="28"/>
                </a:cubicBezTo>
                <a:lnTo>
                  <a:pt x="1667"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7" name="任意多边形 26"/>
          <p:cNvSpPr/>
          <p:nvPr/>
        </p:nvSpPr>
        <p:spPr>
          <a:xfrm rot="10800000">
            <a:off x="6173470" y="3328035"/>
            <a:ext cx="2095500" cy="224917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930" h="3145">
                <a:moveTo>
                  <a:pt x="1573" y="0"/>
                </a:moveTo>
                <a:cubicBezTo>
                  <a:pt x="2129" y="0"/>
                  <a:pt x="2618" y="289"/>
                  <a:pt x="2897" y="725"/>
                </a:cubicBezTo>
                <a:lnTo>
                  <a:pt x="2899" y="728"/>
                </a:lnTo>
                <a:lnTo>
                  <a:pt x="2892" y="740"/>
                </a:lnTo>
                <a:cubicBezTo>
                  <a:pt x="2760" y="970"/>
                  <a:pt x="2684" y="1238"/>
                  <a:pt x="2684" y="1523"/>
                </a:cubicBezTo>
                <a:cubicBezTo>
                  <a:pt x="2684" y="1821"/>
                  <a:pt x="2767" y="2100"/>
                  <a:pt x="2912" y="2338"/>
                </a:cubicBezTo>
                <a:lnTo>
                  <a:pt x="2930" y="2367"/>
                </a:lnTo>
                <a:lnTo>
                  <a:pt x="2917" y="2388"/>
                </a:lnTo>
                <a:cubicBezTo>
                  <a:pt x="2642" y="2842"/>
                  <a:pt x="2142" y="3145"/>
                  <a:pt x="1573" y="3145"/>
                </a:cubicBezTo>
                <a:cubicBezTo>
                  <a:pt x="704" y="3145"/>
                  <a:pt x="0" y="2441"/>
                  <a:pt x="0" y="1573"/>
                </a:cubicBezTo>
                <a:cubicBezTo>
                  <a:pt x="0" y="704"/>
                  <a:pt x="704" y="0"/>
                  <a:pt x="1573" y="0"/>
                </a:cubicBez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9" name="任意多边形 28"/>
          <p:cNvSpPr/>
          <p:nvPr/>
        </p:nvSpPr>
        <p:spPr>
          <a:xfrm rot="10800000">
            <a:off x="3923665" y="3334385"/>
            <a:ext cx="2249805" cy="224853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145" h="3144">
                <a:moveTo>
                  <a:pt x="1573" y="0"/>
                </a:moveTo>
                <a:cubicBezTo>
                  <a:pt x="2441" y="0"/>
                  <a:pt x="3145" y="704"/>
                  <a:pt x="3145" y="1573"/>
                </a:cubicBezTo>
                <a:cubicBezTo>
                  <a:pt x="3145" y="2414"/>
                  <a:pt x="2484" y="3101"/>
                  <a:pt x="1653" y="3143"/>
                </a:cubicBezTo>
                <a:lnTo>
                  <a:pt x="1638" y="3144"/>
                </a:lnTo>
                <a:lnTo>
                  <a:pt x="1637" y="3142"/>
                </a:lnTo>
                <a:cubicBezTo>
                  <a:pt x="1376" y="2633"/>
                  <a:pt x="847" y="2285"/>
                  <a:pt x="237" y="2285"/>
                </a:cubicBezTo>
                <a:cubicBezTo>
                  <a:pt x="223" y="2285"/>
                  <a:pt x="209" y="2285"/>
                  <a:pt x="196" y="2286"/>
                </a:cubicBezTo>
                <a:lnTo>
                  <a:pt x="171" y="2286"/>
                </a:lnTo>
                <a:lnTo>
                  <a:pt x="155" y="2254"/>
                </a:lnTo>
                <a:cubicBezTo>
                  <a:pt x="56" y="2048"/>
                  <a:pt x="0" y="1817"/>
                  <a:pt x="0" y="1573"/>
                </a:cubicBezTo>
                <a:cubicBezTo>
                  <a:pt x="0" y="704"/>
                  <a:pt x="704" y="0"/>
                  <a:pt x="1573" y="0"/>
                </a:cubicBezTo>
                <a:close/>
              </a:path>
            </a:pathLst>
          </a:custGeom>
          <a:solidFill>
            <a:srgbClr val="FCB1A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nvGrpSpPr>
          <p:cNvPr id="44" name="组合 43"/>
          <p:cNvGrpSpPr/>
          <p:nvPr/>
        </p:nvGrpSpPr>
        <p:grpSpPr>
          <a:xfrm>
            <a:off x="5850890" y="2291080"/>
            <a:ext cx="395605" cy="582295"/>
            <a:chOff x="9319" y="3837"/>
            <a:chExt cx="394" cy="643"/>
          </a:xfrm>
        </p:grpSpPr>
        <p:sp>
          <p:nvSpPr>
            <p:cNvPr id="20" name="Freeform 13"/>
            <p:cNvSpPr/>
            <p:nvPr>
              <p:custDataLst>
                <p:tags r:id="rId1"/>
              </p:custDataLst>
            </p:nvPr>
          </p:nvSpPr>
          <p:spPr bwMode="auto">
            <a:xfrm>
              <a:off x="9467" y="4456"/>
              <a:ext cx="102" cy="24"/>
            </a:xfrm>
            <a:custGeom>
              <a:avLst/>
              <a:gdLst>
                <a:gd name="T0" fmla="*/ 33 w 33"/>
                <a:gd name="T1" fmla="*/ 4 h 8"/>
                <a:gd name="T2" fmla="*/ 29 w 33"/>
                <a:gd name="T3" fmla="*/ 8 h 8"/>
                <a:gd name="T4" fmla="*/ 4 w 33"/>
                <a:gd name="T5" fmla="*/ 8 h 8"/>
                <a:gd name="T6" fmla="*/ 0 w 33"/>
                <a:gd name="T7" fmla="*/ 4 h 8"/>
                <a:gd name="T8" fmla="*/ 0 w 33"/>
                <a:gd name="T9" fmla="*/ 4 h 8"/>
                <a:gd name="T10" fmla="*/ 4 w 33"/>
                <a:gd name="T11" fmla="*/ 0 h 8"/>
                <a:gd name="T12" fmla="*/ 29 w 33"/>
                <a:gd name="T13" fmla="*/ 0 h 8"/>
                <a:gd name="T14" fmla="*/ 33 w 33"/>
                <a:gd name="T15" fmla="*/ 4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8">
                  <a:moveTo>
                    <a:pt x="33" y="4"/>
                  </a:moveTo>
                  <a:cubicBezTo>
                    <a:pt x="33" y="6"/>
                    <a:pt x="31" y="8"/>
                    <a:pt x="29" y="8"/>
                  </a:cubicBezTo>
                  <a:cubicBezTo>
                    <a:pt x="4" y="8"/>
                    <a:pt x="4" y="8"/>
                    <a:pt x="4" y="8"/>
                  </a:cubicBezTo>
                  <a:cubicBezTo>
                    <a:pt x="2" y="8"/>
                    <a:pt x="0" y="6"/>
                    <a:pt x="0" y="4"/>
                  </a:cubicBezTo>
                  <a:cubicBezTo>
                    <a:pt x="0" y="4"/>
                    <a:pt x="0" y="4"/>
                    <a:pt x="0" y="4"/>
                  </a:cubicBezTo>
                  <a:cubicBezTo>
                    <a:pt x="0" y="2"/>
                    <a:pt x="2" y="0"/>
                    <a:pt x="4" y="0"/>
                  </a:cubicBezTo>
                  <a:cubicBezTo>
                    <a:pt x="29" y="0"/>
                    <a:pt x="29" y="0"/>
                    <a:pt x="29" y="0"/>
                  </a:cubicBezTo>
                  <a:cubicBezTo>
                    <a:pt x="31" y="0"/>
                    <a:pt x="33" y="2"/>
                    <a:pt x="33" y="4"/>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21" name="Freeform 14"/>
            <p:cNvSpPr/>
            <p:nvPr>
              <p:custDataLst>
                <p:tags r:id="rId2"/>
              </p:custDataLst>
            </p:nvPr>
          </p:nvSpPr>
          <p:spPr bwMode="auto">
            <a:xfrm>
              <a:off x="9443" y="4444"/>
              <a:ext cx="151" cy="24"/>
            </a:xfrm>
            <a:custGeom>
              <a:avLst/>
              <a:gdLst>
                <a:gd name="T0" fmla="*/ 6 w 49"/>
                <a:gd name="T1" fmla="*/ 8 h 8"/>
                <a:gd name="T2" fmla="*/ 43 w 49"/>
                <a:gd name="T3" fmla="*/ 8 h 8"/>
                <a:gd name="T4" fmla="*/ 46 w 49"/>
                <a:gd name="T5" fmla="*/ 5 h 8"/>
                <a:gd name="T6" fmla="*/ 49 w 49"/>
                <a:gd name="T7" fmla="*/ 0 h 8"/>
                <a:gd name="T8" fmla="*/ 0 w 49"/>
                <a:gd name="T9" fmla="*/ 0 h 8"/>
                <a:gd name="T10" fmla="*/ 0 w 49"/>
                <a:gd name="T11" fmla="*/ 1 h 8"/>
                <a:gd name="T12" fmla="*/ 6 w 49"/>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49" h="8">
                  <a:moveTo>
                    <a:pt x="6" y="8"/>
                  </a:moveTo>
                  <a:cubicBezTo>
                    <a:pt x="43" y="8"/>
                    <a:pt x="43" y="8"/>
                    <a:pt x="43" y="8"/>
                  </a:cubicBezTo>
                  <a:cubicBezTo>
                    <a:pt x="43" y="7"/>
                    <a:pt x="44" y="6"/>
                    <a:pt x="46" y="5"/>
                  </a:cubicBezTo>
                  <a:cubicBezTo>
                    <a:pt x="48" y="3"/>
                    <a:pt x="49" y="1"/>
                    <a:pt x="49" y="0"/>
                  </a:cubicBezTo>
                  <a:cubicBezTo>
                    <a:pt x="0" y="0"/>
                    <a:pt x="0" y="0"/>
                    <a:pt x="0" y="0"/>
                  </a:cubicBezTo>
                  <a:cubicBezTo>
                    <a:pt x="0" y="0"/>
                    <a:pt x="0" y="1"/>
                    <a:pt x="0" y="1"/>
                  </a:cubicBezTo>
                  <a:cubicBezTo>
                    <a:pt x="0" y="2"/>
                    <a:pt x="5" y="6"/>
                    <a:pt x="6" y="8"/>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30" name="Freeform 15"/>
            <p:cNvSpPr/>
            <p:nvPr>
              <p:custDataLst>
                <p:tags r:id="rId3"/>
              </p:custDataLst>
            </p:nvPr>
          </p:nvSpPr>
          <p:spPr bwMode="auto">
            <a:xfrm>
              <a:off x="9436" y="4369"/>
              <a:ext cx="164" cy="16"/>
            </a:xfrm>
            <a:custGeom>
              <a:avLst/>
              <a:gdLst>
                <a:gd name="T0" fmla="*/ 53 w 53"/>
                <a:gd name="T1" fmla="*/ 2 h 5"/>
                <a:gd name="T2" fmla="*/ 51 w 53"/>
                <a:gd name="T3" fmla="*/ 5 h 5"/>
                <a:gd name="T4" fmla="*/ 2 w 53"/>
                <a:gd name="T5" fmla="*/ 5 h 5"/>
                <a:gd name="T6" fmla="*/ 0 w 53"/>
                <a:gd name="T7" fmla="*/ 2 h 5"/>
                <a:gd name="T8" fmla="*/ 0 w 53"/>
                <a:gd name="T9" fmla="*/ 2 h 5"/>
                <a:gd name="T10" fmla="*/ 2 w 53"/>
                <a:gd name="T11" fmla="*/ 0 h 5"/>
                <a:gd name="T12" fmla="*/ 51 w 53"/>
                <a:gd name="T13" fmla="*/ 0 h 5"/>
                <a:gd name="T14" fmla="*/ 53 w 53"/>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5">
                  <a:moveTo>
                    <a:pt x="53" y="2"/>
                  </a:moveTo>
                  <a:cubicBezTo>
                    <a:pt x="53" y="4"/>
                    <a:pt x="52" y="5"/>
                    <a:pt x="51" y="5"/>
                  </a:cubicBezTo>
                  <a:cubicBezTo>
                    <a:pt x="2" y="5"/>
                    <a:pt x="2" y="5"/>
                    <a:pt x="2" y="5"/>
                  </a:cubicBezTo>
                  <a:cubicBezTo>
                    <a:pt x="1" y="5"/>
                    <a:pt x="0" y="4"/>
                    <a:pt x="0" y="2"/>
                  </a:cubicBezTo>
                  <a:cubicBezTo>
                    <a:pt x="0" y="2"/>
                    <a:pt x="0" y="2"/>
                    <a:pt x="0" y="2"/>
                  </a:cubicBezTo>
                  <a:cubicBezTo>
                    <a:pt x="0" y="1"/>
                    <a:pt x="1" y="0"/>
                    <a:pt x="2" y="0"/>
                  </a:cubicBezTo>
                  <a:cubicBezTo>
                    <a:pt x="51" y="0"/>
                    <a:pt x="51" y="0"/>
                    <a:pt x="51" y="0"/>
                  </a:cubicBezTo>
                  <a:cubicBezTo>
                    <a:pt x="52" y="0"/>
                    <a:pt x="53" y="1"/>
                    <a:pt x="53" y="2"/>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31" name="Freeform 16"/>
            <p:cNvSpPr/>
            <p:nvPr>
              <p:custDataLst>
                <p:tags r:id="rId4"/>
              </p:custDataLst>
            </p:nvPr>
          </p:nvSpPr>
          <p:spPr bwMode="auto">
            <a:xfrm>
              <a:off x="9436" y="4390"/>
              <a:ext cx="164" cy="16"/>
            </a:xfrm>
            <a:custGeom>
              <a:avLst/>
              <a:gdLst>
                <a:gd name="T0" fmla="*/ 53 w 53"/>
                <a:gd name="T1" fmla="*/ 3 h 5"/>
                <a:gd name="T2" fmla="*/ 51 w 53"/>
                <a:gd name="T3" fmla="*/ 5 h 5"/>
                <a:gd name="T4" fmla="*/ 2 w 53"/>
                <a:gd name="T5" fmla="*/ 5 h 5"/>
                <a:gd name="T6" fmla="*/ 0 w 53"/>
                <a:gd name="T7" fmla="*/ 3 h 5"/>
                <a:gd name="T8" fmla="*/ 0 w 53"/>
                <a:gd name="T9" fmla="*/ 3 h 5"/>
                <a:gd name="T10" fmla="*/ 2 w 53"/>
                <a:gd name="T11" fmla="*/ 0 h 5"/>
                <a:gd name="T12" fmla="*/ 51 w 53"/>
                <a:gd name="T13" fmla="*/ 0 h 5"/>
                <a:gd name="T14" fmla="*/ 53 w 53"/>
                <a:gd name="T15" fmla="*/ 3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5">
                  <a:moveTo>
                    <a:pt x="53" y="3"/>
                  </a:moveTo>
                  <a:cubicBezTo>
                    <a:pt x="53" y="4"/>
                    <a:pt x="52" y="5"/>
                    <a:pt x="51" y="5"/>
                  </a:cubicBezTo>
                  <a:cubicBezTo>
                    <a:pt x="2" y="5"/>
                    <a:pt x="2" y="5"/>
                    <a:pt x="2" y="5"/>
                  </a:cubicBezTo>
                  <a:cubicBezTo>
                    <a:pt x="1" y="5"/>
                    <a:pt x="0" y="4"/>
                    <a:pt x="0" y="3"/>
                  </a:cubicBezTo>
                  <a:cubicBezTo>
                    <a:pt x="0" y="3"/>
                    <a:pt x="0" y="3"/>
                    <a:pt x="0" y="3"/>
                  </a:cubicBezTo>
                  <a:cubicBezTo>
                    <a:pt x="0" y="1"/>
                    <a:pt x="1" y="0"/>
                    <a:pt x="2" y="0"/>
                  </a:cubicBezTo>
                  <a:cubicBezTo>
                    <a:pt x="51" y="0"/>
                    <a:pt x="51" y="0"/>
                    <a:pt x="51" y="0"/>
                  </a:cubicBezTo>
                  <a:cubicBezTo>
                    <a:pt x="52" y="0"/>
                    <a:pt x="53" y="1"/>
                    <a:pt x="53" y="3"/>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34" name="Freeform 17"/>
            <p:cNvSpPr/>
            <p:nvPr>
              <p:custDataLst>
                <p:tags r:id="rId5"/>
              </p:custDataLst>
            </p:nvPr>
          </p:nvSpPr>
          <p:spPr bwMode="auto">
            <a:xfrm>
              <a:off x="9436" y="4417"/>
              <a:ext cx="164" cy="15"/>
            </a:xfrm>
            <a:custGeom>
              <a:avLst/>
              <a:gdLst>
                <a:gd name="T0" fmla="*/ 53 w 53"/>
                <a:gd name="T1" fmla="*/ 2 h 5"/>
                <a:gd name="T2" fmla="*/ 51 w 53"/>
                <a:gd name="T3" fmla="*/ 5 h 5"/>
                <a:gd name="T4" fmla="*/ 2 w 53"/>
                <a:gd name="T5" fmla="*/ 5 h 5"/>
                <a:gd name="T6" fmla="*/ 0 w 53"/>
                <a:gd name="T7" fmla="*/ 2 h 5"/>
                <a:gd name="T8" fmla="*/ 0 w 53"/>
                <a:gd name="T9" fmla="*/ 2 h 5"/>
                <a:gd name="T10" fmla="*/ 2 w 53"/>
                <a:gd name="T11" fmla="*/ 0 h 5"/>
                <a:gd name="T12" fmla="*/ 51 w 53"/>
                <a:gd name="T13" fmla="*/ 0 h 5"/>
                <a:gd name="T14" fmla="*/ 53 w 53"/>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5">
                  <a:moveTo>
                    <a:pt x="53" y="2"/>
                  </a:moveTo>
                  <a:cubicBezTo>
                    <a:pt x="53" y="4"/>
                    <a:pt x="52" y="5"/>
                    <a:pt x="51" y="5"/>
                  </a:cubicBezTo>
                  <a:cubicBezTo>
                    <a:pt x="2" y="5"/>
                    <a:pt x="2" y="5"/>
                    <a:pt x="2" y="5"/>
                  </a:cubicBezTo>
                  <a:cubicBezTo>
                    <a:pt x="1" y="5"/>
                    <a:pt x="0" y="4"/>
                    <a:pt x="0" y="2"/>
                  </a:cubicBezTo>
                  <a:cubicBezTo>
                    <a:pt x="0" y="2"/>
                    <a:pt x="0" y="2"/>
                    <a:pt x="0" y="2"/>
                  </a:cubicBezTo>
                  <a:cubicBezTo>
                    <a:pt x="0" y="1"/>
                    <a:pt x="1" y="0"/>
                    <a:pt x="2" y="0"/>
                  </a:cubicBezTo>
                  <a:cubicBezTo>
                    <a:pt x="51" y="0"/>
                    <a:pt x="51" y="0"/>
                    <a:pt x="51" y="0"/>
                  </a:cubicBezTo>
                  <a:cubicBezTo>
                    <a:pt x="52" y="0"/>
                    <a:pt x="53" y="1"/>
                    <a:pt x="53" y="2"/>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37" name="Freeform 18"/>
            <p:cNvSpPr/>
            <p:nvPr>
              <p:custDataLst>
                <p:tags r:id="rId6"/>
              </p:custDataLst>
            </p:nvPr>
          </p:nvSpPr>
          <p:spPr bwMode="auto">
            <a:xfrm>
              <a:off x="9436" y="4434"/>
              <a:ext cx="164" cy="13"/>
            </a:xfrm>
            <a:custGeom>
              <a:avLst/>
              <a:gdLst>
                <a:gd name="T0" fmla="*/ 53 w 53"/>
                <a:gd name="T1" fmla="*/ 2 h 4"/>
                <a:gd name="T2" fmla="*/ 51 w 53"/>
                <a:gd name="T3" fmla="*/ 4 h 4"/>
                <a:gd name="T4" fmla="*/ 2 w 53"/>
                <a:gd name="T5" fmla="*/ 4 h 4"/>
                <a:gd name="T6" fmla="*/ 0 w 53"/>
                <a:gd name="T7" fmla="*/ 2 h 4"/>
                <a:gd name="T8" fmla="*/ 0 w 53"/>
                <a:gd name="T9" fmla="*/ 2 h 4"/>
                <a:gd name="T10" fmla="*/ 2 w 53"/>
                <a:gd name="T11" fmla="*/ 0 h 4"/>
                <a:gd name="T12" fmla="*/ 51 w 53"/>
                <a:gd name="T13" fmla="*/ 0 h 4"/>
                <a:gd name="T14" fmla="*/ 53 w 53"/>
                <a:gd name="T15" fmla="*/ 2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4">
                  <a:moveTo>
                    <a:pt x="53" y="2"/>
                  </a:moveTo>
                  <a:cubicBezTo>
                    <a:pt x="53" y="3"/>
                    <a:pt x="52" y="4"/>
                    <a:pt x="51" y="4"/>
                  </a:cubicBezTo>
                  <a:cubicBezTo>
                    <a:pt x="2" y="4"/>
                    <a:pt x="2" y="4"/>
                    <a:pt x="2" y="4"/>
                  </a:cubicBezTo>
                  <a:cubicBezTo>
                    <a:pt x="1" y="4"/>
                    <a:pt x="0" y="3"/>
                    <a:pt x="0" y="2"/>
                  </a:cubicBezTo>
                  <a:cubicBezTo>
                    <a:pt x="0" y="2"/>
                    <a:pt x="0" y="2"/>
                    <a:pt x="0" y="2"/>
                  </a:cubicBezTo>
                  <a:cubicBezTo>
                    <a:pt x="0" y="1"/>
                    <a:pt x="1" y="0"/>
                    <a:pt x="2" y="0"/>
                  </a:cubicBezTo>
                  <a:cubicBezTo>
                    <a:pt x="51" y="0"/>
                    <a:pt x="51" y="0"/>
                    <a:pt x="51" y="0"/>
                  </a:cubicBezTo>
                  <a:cubicBezTo>
                    <a:pt x="52" y="0"/>
                    <a:pt x="53" y="1"/>
                    <a:pt x="53" y="2"/>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39" name="Freeform 19"/>
            <p:cNvSpPr/>
            <p:nvPr>
              <p:custDataLst>
                <p:tags r:id="rId7"/>
              </p:custDataLst>
            </p:nvPr>
          </p:nvSpPr>
          <p:spPr bwMode="auto">
            <a:xfrm>
              <a:off x="9434" y="4345"/>
              <a:ext cx="169" cy="15"/>
            </a:xfrm>
            <a:custGeom>
              <a:avLst/>
              <a:gdLst>
                <a:gd name="T0" fmla="*/ 55 w 55"/>
                <a:gd name="T1" fmla="*/ 3 h 5"/>
                <a:gd name="T2" fmla="*/ 52 w 55"/>
                <a:gd name="T3" fmla="*/ 5 h 5"/>
                <a:gd name="T4" fmla="*/ 3 w 55"/>
                <a:gd name="T5" fmla="*/ 5 h 5"/>
                <a:gd name="T6" fmla="*/ 0 w 55"/>
                <a:gd name="T7" fmla="*/ 3 h 5"/>
                <a:gd name="T8" fmla="*/ 0 w 55"/>
                <a:gd name="T9" fmla="*/ 3 h 5"/>
                <a:gd name="T10" fmla="*/ 3 w 55"/>
                <a:gd name="T11" fmla="*/ 0 h 5"/>
                <a:gd name="T12" fmla="*/ 52 w 55"/>
                <a:gd name="T13" fmla="*/ 0 h 5"/>
                <a:gd name="T14" fmla="*/ 55 w 55"/>
                <a:gd name="T15" fmla="*/ 3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 h="5">
                  <a:moveTo>
                    <a:pt x="55" y="3"/>
                  </a:moveTo>
                  <a:cubicBezTo>
                    <a:pt x="55" y="4"/>
                    <a:pt x="54" y="5"/>
                    <a:pt x="52" y="5"/>
                  </a:cubicBezTo>
                  <a:cubicBezTo>
                    <a:pt x="3" y="5"/>
                    <a:pt x="3" y="5"/>
                    <a:pt x="3" y="5"/>
                  </a:cubicBezTo>
                  <a:cubicBezTo>
                    <a:pt x="1" y="5"/>
                    <a:pt x="0" y="4"/>
                    <a:pt x="0" y="3"/>
                  </a:cubicBezTo>
                  <a:cubicBezTo>
                    <a:pt x="0" y="3"/>
                    <a:pt x="0" y="3"/>
                    <a:pt x="0" y="3"/>
                  </a:cubicBezTo>
                  <a:cubicBezTo>
                    <a:pt x="0" y="1"/>
                    <a:pt x="1" y="0"/>
                    <a:pt x="3" y="0"/>
                  </a:cubicBezTo>
                  <a:cubicBezTo>
                    <a:pt x="52" y="0"/>
                    <a:pt x="52" y="0"/>
                    <a:pt x="52" y="0"/>
                  </a:cubicBezTo>
                  <a:cubicBezTo>
                    <a:pt x="54" y="0"/>
                    <a:pt x="55" y="1"/>
                    <a:pt x="55" y="3"/>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40" name="Freeform 20"/>
            <p:cNvSpPr>
              <a:spLocks noEditPoints="1"/>
            </p:cNvSpPr>
            <p:nvPr>
              <p:custDataLst>
                <p:tags r:id="rId8"/>
              </p:custDataLst>
            </p:nvPr>
          </p:nvSpPr>
          <p:spPr bwMode="auto">
            <a:xfrm>
              <a:off x="9319" y="3837"/>
              <a:ext cx="395" cy="492"/>
            </a:xfrm>
            <a:custGeom>
              <a:avLst/>
              <a:gdLst>
                <a:gd name="T0" fmla="*/ 41 w 128"/>
                <a:gd name="T1" fmla="*/ 159 h 159"/>
                <a:gd name="T2" fmla="*/ 39 w 128"/>
                <a:gd name="T3" fmla="*/ 159 h 159"/>
                <a:gd name="T4" fmla="*/ 37 w 128"/>
                <a:gd name="T5" fmla="*/ 158 h 159"/>
                <a:gd name="T6" fmla="*/ 29 w 128"/>
                <a:gd name="T7" fmla="*/ 145 h 159"/>
                <a:gd name="T8" fmla="*/ 28 w 128"/>
                <a:gd name="T9" fmla="*/ 139 h 159"/>
                <a:gd name="T10" fmla="*/ 27 w 128"/>
                <a:gd name="T11" fmla="*/ 132 h 159"/>
                <a:gd name="T12" fmla="*/ 19 w 128"/>
                <a:gd name="T13" fmla="*/ 116 h 159"/>
                <a:gd name="T14" fmla="*/ 17 w 128"/>
                <a:gd name="T15" fmla="*/ 112 h 159"/>
                <a:gd name="T16" fmla="*/ 16 w 128"/>
                <a:gd name="T17" fmla="*/ 110 h 159"/>
                <a:gd name="T18" fmla="*/ 6 w 128"/>
                <a:gd name="T19" fmla="*/ 92 h 159"/>
                <a:gd name="T20" fmla="*/ 0 w 128"/>
                <a:gd name="T21" fmla="*/ 64 h 159"/>
                <a:gd name="T22" fmla="*/ 0 w 128"/>
                <a:gd name="T23" fmla="*/ 60 h 159"/>
                <a:gd name="T24" fmla="*/ 6 w 128"/>
                <a:gd name="T25" fmla="*/ 35 h 159"/>
                <a:gd name="T26" fmla="*/ 19 w 128"/>
                <a:gd name="T27" fmla="*/ 18 h 159"/>
                <a:gd name="T28" fmla="*/ 60 w 128"/>
                <a:gd name="T29" fmla="*/ 0 h 159"/>
                <a:gd name="T30" fmla="*/ 65 w 128"/>
                <a:gd name="T31" fmla="*/ 0 h 159"/>
                <a:gd name="T32" fmla="*/ 109 w 128"/>
                <a:gd name="T33" fmla="*/ 18 h 159"/>
                <a:gd name="T34" fmla="*/ 128 w 128"/>
                <a:gd name="T35" fmla="*/ 62 h 159"/>
                <a:gd name="T36" fmla="*/ 128 w 128"/>
                <a:gd name="T37" fmla="*/ 64 h 159"/>
                <a:gd name="T38" fmla="*/ 114 w 128"/>
                <a:gd name="T39" fmla="*/ 107 h 159"/>
                <a:gd name="T40" fmla="*/ 111 w 128"/>
                <a:gd name="T41" fmla="*/ 112 h 159"/>
                <a:gd name="T42" fmla="*/ 109 w 128"/>
                <a:gd name="T43" fmla="*/ 116 h 159"/>
                <a:gd name="T44" fmla="*/ 101 w 128"/>
                <a:gd name="T45" fmla="*/ 132 h 159"/>
                <a:gd name="T46" fmla="*/ 100 w 128"/>
                <a:gd name="T47" fmla="*/ 139 h 159"/>
                <a:gd name="T48" fmla="*/ 92 w 128"/>
                <a:gd name="T49" fmla="*/ 158 h 159"/>
                <a:gd name="T50" fmla="*/ 90 w 128"/>
                <a:gd name="T51" fmla="*/ 159 h 159"/>
                <a:gd name="T52" fmla="*/ 86 w 128"/>
                <a:gd name="T53" fmla="*/ 159 h 159"/>
                <a:gd name="T54" fmla="*/ 73 w 128"/>
                <a:gd name="T55" fmla="*/ 159 h 159"/>
                <a:gd name="T56" fmla="*/ 60 w 128"/>
                <a:gd name="T57" fmla="*/ 159 h 159"/>
                <a:gd name="T58" fmla="*/ 41 w 128"/>
                <a:gd name="T59" fmla="*/ 159 h 159"/>
                <a:gd name="T60" fmla="*/ 65 w 128"/>
                <a:gd name="T61" fmla="*/ 11 h 159"/>
                <a:gd name="T62" fmla="*/ 61 w 128"/>
                <a:gd name="T63" fmla="*/ 11 h 159"/>
                <a:gd name="T64" fmla="*/ 27 w 128"/>
                <a:gd name="T65" fmla="*/ 26 h 159"/>
                <a:gd name="T66" fmla="*/ 16 w 128"/>
                <a:gd name="T67" fmla="*/ 40 h 159"/>
                <a:gd name="T68" fmla="*/ 11 w 128"/>
                <a:gd name="T69" fmla="*/ 60 h 159"/>
                <a:gd name="T70" fmla="*/ 11 w 128"/>
                <a:gd name="T71" fmla="*/ 64 h 159"/>
                <a:gd name="T72" fmla="*/ 16 w 128"/>
                <a:gd name="T73" fmla="*/ 87 h 159"/>
                <a:gd name="T74" fmla="*/ 25 w 128"/>
                <a:gd name="T75" fmla="*/ 105 h 159"/>
                <a:gd name="T76" fmla="*/ 27 w 128"/>
                <a:gd name="T77" fmla="*/ 107 h 159"/>
                <a:gd name="T78" fmla="*/ 29 w 128"/>
                <a:gd name="T79" fmla="*/ 111 h 159"/>
                <a:gd name="T80" fmla="*/ 37 w 128"/>
                <a:gd name="T81" fmla="*/ 129 h 159"/>
                <a:gd name="T82" fmla="*/ 39 w 128"/>
                <a:gd name="T83" fmla="*/ 138 h 159"/>
                <a:gd name="T84" fmla="*/ 40 w 128"/>
                <a:gd name="T85" fmla="*/ 143 h 159"/>
                <a:gd name="T86" fmla="*/ 43 w 128"/>
                <a:gd name="T87" fmla="*/ 148 h 159"/>
                <a:gd name="T88" fmla="*/ 60 w 128"/>
                <a:gd name="T89" fmla="*/ 148 h 159"/>
                <a:gd name="T90" fmla="*/ 73 w 128"/>
                <a:gd name="T91" fmla="*/ 148 h 159"/>
                <a:gd name="T92" fmla="*/ 86 w 128"/>
                <a:gd name="T93" fmla="*/ 148 h 159"/>
                <a:gd name="T94" fmla="*/ 89 w 128"/>
                <a:gd name="T95" fmla="*/ 138 h 159"/>
                <a:gd name="T96" fmla="*/ 91 w 128"/>
                <a:gd name="T97" fmla="*/ 128 h 159"/>
                <a:gd name="T98" fmla="*/ 99 w 128"/>
                <a:gd name="T99" fmla="*/ 111 h 159"/>
                <a:gd name="T100" fmla="*/ 101 w 128"/>
                <a:gd name="T101" fmla="*/ 107 h 159"/>
                <a:gd name="T102" fmla="*/ 104 w 128"/>
                <a:gd name="T103" fmla="*/ 101 h 159"/>
                <a:gd name="T104" fmla="*/ 117 w 128"/>
                <a:gd name="T105" fmla="*/ 63 h 159"/>
                <a:gd name="T106" fmla="*/ 117 w 128"/>
                <a:gd name="T107" fmla="*/ 62 h 159"/>
                <a:gd name="T108" fmla="*/ 102 w 128"/>
                <a:gd name="T109" fmla="*/ 26 h 159"/>
                <a:gd name="T110" fmla="*/ 65 w 128"/>
                <a:gd name="T111" fmla="*/ 11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8" h="159">
                  <a:moveTo>
                    <a:pt x="41" y="159"/>
                  </a:moveTo>
                  <a:cubicBezTo>
                    <a:pt x="39" y="159"/>
                    <a:pt x="39" y="159"/>
                    <a:pt x="39" y="159"/>
                  </a:cubicBezTo>
                  <a:cubicBezTo>
                    <a:pt x="37" y="158"/>
                    <a:pt x="37" y="158"/>
                    <a:pt x="37" y="158"/>
                  </a:cubicBezTo>
                  <a:cubicBezTo>
                    <a:pt x="33" y="155"/>
                    <a:pt x="29" y="151"/>
                    <a:pt x="29" y="145"/>
                  </a:cubicBezTo>
                  <a:cubicBezTo>
                    <a:pt x="28" y="143"/>
                    <a:pt x="28" y="141"/>
                    <a:pt x="28" y="139"/>
                  </a:cubicBezTo>
                  <a:cubicBezTo>
                    <a:pt x="28" y="137"/>
                    <a:pt x="27" y="134"/>
                    <a:pt x="27" y="132"/>
                  </a:cubicBezTo>
                  <a:cubicBezTo>
                    <a:pt x="25" y="126"/>
                    <a:pt x="22" y="121"/>
                    <a:pt x="19" y="116"/>
                  </a:cubicBezTo>
                  <a:cubicBezTo>
                    <a:pt x="19" y="115"/>
                    <a:pt x="18" y="114"/>
                    <a:pt x="17" y="112"/>
                  </a:cubicBezTo>
                  <a:cubicBezTo>
                    <a:pt x="16" y="110"/>
                    <a:pt x="16" y="110"/>
                    <a:pt x="16" y="110"/>
                  </a:cubicBezTo>
                  <a:cubicBezTo>
                    <a:pt x="12" y="104"/>
                    <a:pt x="9" y="98"/>
                    <a:pt x="6" y="92"/>
                  </a:cubicBezTo>
                  <a:cubicBezTo>
                    <a:pt x="3" y="84"/>
                    <a:pt x="1" y="76"/>
                    <a:pt x="0" y="64"/>
                  </a:cubicBezTo>
                  <a:cubicBezTo>
                    <a:pt x="0" y="60"/>
                    <a:pt x="0" y="60"/>
                    <a:pt x="0" y="60"/>
                  </a:cubicBezTo>
                  <a:cubicBezTo>
                    <a:pt x="0" y="51"/>
                    <a:pt x="2" y="43"/>
                    <a:pt x="6" y="35"/>
                  </a:cubicBezTo>
                  <a:cubicBezTo>
                    <a:pt x="9" y="28"/>
                    <a:pt x="14" y="23"/>
                    <a:pt x="19" y="18"/>
                  </a:cubicBezTo>
                  <a:cubicBezTo>
                    <a:pt x="30" y="6"/>
                    <a:pt x="44" y="0"/>
                    <a:pt x="60" y="0"/>
                  </a:cubicBezTo>
                  <a:cubicBezTo>
                    <a:pt x="65" y="0"/>
                    <a:pt x="65" y="0"/>
                    <a:pt x="65" y="0"/>
                  </a:cubicBezTo>
                  <a:cubicBezTo>
                    <a:pt x="83" y="1"/>
                    <a:pt x="98" y="7"/>
                    <a:pt x="109" y="18"/>
                  </a:cubicBezTo>
                  <a:cubicBezTo>
                    <a:pt x="121" y="30"/>
                    <a:pt x="128" y="44"/>
                    <a:pt x="128" y="62"/>
                  </a:cubicBezTo>
                  <a:cubicBezTo>
                    <a:pt x="128" y="64"/>
                    <a:pt x="128" y="64"/>
                    <a:pt x="128" y="64"/>
                  </a:cubicBezTo>
                  <a:cubicBezTo>
                    <a:pt x="127" y="82"/>
                    <a:pt x="120" y="95"/>
                    <a:pt x="114" y="107"/>
                  </a:cubicBezTo>
                  <a:cubicBezTo>
                    <a:pt x="113" y="108"/>
                    <a:pt x="112" y="110"/>
                    <a:pt x="111" y="112"/>
                  </a:cubicBezTo>
                  <a:cubicBezTo>
                    <a:pt x="110" y="113"/>
                    <a:pt x="110" y="114"/>
                    <a:pt x="109" y="116"/>
                  </a:cubicBezTo>
                  <a:cubicBezTo>
                    <a:pt x="106" y="121"/>
                    <a:pt x="103" y="126"/>
                    <a:pt x="101" y="132"/>
                  </a:cubicBezTo>
                  <a:cubicBezTo>
                    <a:pt x="101" y="134"/>
                    <a:pt x="100" y="137"/>
                    <a:pt x="100" y="139"/>
                  </a:cubicBezTo>
                  <a:cubicBezTo>
                    <a:pt x="99" y="146"/>
                    <a:pt x="98" y="154"/>
                    <a:pt x="92" y="158"/>
                  </a:cubicBezTo>
                  <a:cubicBezTo>
                    <a:pt x="90" y="159"/>
                    <a:pt x="90" y="159"/>
                    <a:pt x="90" y="159"/>
                  </a:cubicBezTo>
                  <a:cubicBezTo>
                    <a:pt x="86" y="159"/>
                    <a:pt x="86" y="159"/>
                    <a:pt x="86" y="159"/>
                  </a:cubicBezTo>
                  <a:cubicBezTo>
                    <a:pt x="82" y="159"/>
                    <a:pt x="77" y="159"/>
                    <a:pt x="73" y="159"/>
                  </a:cubicBezTo>
                  <a:cubicBezTo>
                    <a:pt x="69" y="159"/>
                    <a:pt x="64" y="159"/>
                    <a:pt x="60" y="159"/>
                  </a:cubicBezTo>
                  <a:cubicBezTo>
                    <a:pt x="53" y="159"/>
                    <a:pt x="47" y="159"/>
                    <a:pt x="41" y="159"/>
                  </a:cubicBezTo>
                  <a:close/>
                  <a:moveTo>
                    <a:pt x="65" y="11"/>
                  </a:moveTo>
                  <a:cubicBezTo>
                    <a:pt x="61" y="11"/>
                    <a:pt x="61" y="11"/>
                    <a:pt x="61" y="11"/>
                  </a:cubicBezTo>
                  <a:cubicBezTo>
                    <a:pt x="47" y="11"/>
                    <a:pt x="36" y="16"/>
                    <a:pt x="27" y="26"/>
                  </a:cubicBezTo>
                  <a:cubicBezTo>
                    <a:pt x="23" y="30"/>
                    <a:pt x="19" y="34"/>
                    <a:pt x="16" y="40"/>
                  </a:cubicBezTo>
                  <a:cubicBezTo>
                    <a:pt x="13" y="47"/>
                    <a:pt x="12" y="53"/>
                    <a:pt x="11" y="60"/>
                  </a:cubicBezTo>
                  <a:cubicBezTo>
                    <a:pt x="11" y="64"/>
                    <a:pt x="11" y="64"/>
                    <a:pt x="11" y="64"/>
                  </a:cubicBezTo>
                  <a:cubicBezTo>
                    <a:pt x="12" y="74"/>
                    <a:pt x="13" y="81"/>
                    <a:pt x="16" y="87"/>
                  </a:cubicBezTo>
                  <a:cubicBezTo>
                    <a:pt x="19" y="93"/>
                    <a:pt x="22" y="99"/>
                    <a:pt x="25" y="105"/>
                  </a:cubicBezTo>
                  <a:cubicBezTo>
                    <a:pt x="27" y="107"/>
                    <a:pt x="27" y="107"/>
                    <a:pt x="27" y="107"/>
                  </a:cubicBezTo>
                  <a:cubicBezTo>
                    <a:pt x="27" y="108"/>
                    <a:pt x="28" y="109"/>
                    <a:pt x="29" y="111"/>
                  </a:cubicBezTo>
                  <a:cubicBezTo>
                    <a:pt x="32" y="116"/>
                    <a:pt x="36" y="122"/>
                    <a:pt x="37" y="129"/>
                  </a:cubicBezTo>
                  <a:cubicBezTo>
                    <a:pt x="38" y="132"/>
                    <a:pt x="39" y="135"/>
                    <a:pt x="39" y="138"/>
                  </a:cubicBezTo>
                  <a:cubicBezTo>
                    <a:pt x="39" y="140"/>
                    <a:pt x="39" y="141"/>
                    <a:pt x="40" y="143"/>
                  </a:cubicBezTo>
                  <a:cubicBezTo>
                    <a:pt x="40" y="145"/>
                    <a:pt x="41" y="147"/>
                    <a:pt x="43" y="148"/>
                  </a:cubicBezTo>
                  <a:cubicBezTo>
                    <a:pt x="48" y="148"/>
                    <a:pt x="54" y="148"/>
                    <a:pt x="60" y="148"/>
                  </a:cubicBezTo>
                  <a:cubicBezTo>
                    <a:pt x="64" y="148"/>
                    <a:pt x="69" y="148"/>
                    <a:pt x="73" y="148"/>
                  </a:cubicBezTo>
                  <a:cubicBezTo>
                    <a:pt x="77" y="148"/>
                    <a:pt x="82" y="148"/>
                    <a:pt x="86" y="148"/>
                  </a:cubicBezTo>
                  <a:cubicBezTo>
                    <a:pt x="88" y="146"/>
                    <a:pt x="88" y="142"/>
                    <a:pt x="89" y="138"/>
                  </a:cubicBezTo>
                  <a:cubicBezTo>
                    <a:pt x="89" y="134"/>
                    <a:pt x="90" y="131"/>
                    <a:pt x="91" y="128"/>
                  </a:cubicBezTo>
                  <a:cubicBezTo>
                    <a:pt x="93" y="122"/>
                    <a:pt x="96" y="116"/>
                    <a:pt x="99" y="111"/>
                  </a:cubicBezTo>
                  <a:cubicBezTo>
                    <a:pt x="100" y="109"/>
                    <a:pt x="101" y="108"/>
                    <a:pt x="101" y="107"/>
                  </a:cubicBezTo>
                  <a:cubicBezTo>
                    <a:pt x="102" y="105"/>
                    <a:pt x="103" y="103"/>
                    <a:pt x="104" y="101"/>
                  </a:cubicBezTo>
                  <a:cubicBezTo>
                    <a:pt x="110" y="90"/>
                    <a:pt x="116" y="79"/>
                    <a:pt x="117" y="63"/>
                  </a:cubicBezTo>
                  <a:cubicBezTo>
                    <a:pt x="117" y="62"/>
                    <a:pt x="117" y="62"/>
                    <a:pt x="117" y="62"/>
                  </a:cubicBezTo>
                  <a:cubicBezTo>
                    <a:pt x="117" y="48"/>
                    <a:pt x="111" y="36"/>
                    <a:pt x="102" y="26"/>
                  </a:cubicBezTo>
                  <a:cubicBezTo>
                    <a:pt x="92" y="17"/>
                    <a:pt x="80" y="12"/>
                    <a:pt x="65" y="11"/>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grpSp>
      <p:grpSp>
        <p:nvGrpSpPr>
          <p:cNvPr id="51" name="组合 50"/>
          <p:cNvGrpSpPr/>
          <p:nvPr/>
        </p:nvGrpSpPr>
        <p:grpSpPr>
          <a:xfrm>
            <a:off x="4746625" y="4287520"/>
            <a:ext cx="606425" cy="439420"/>
            <a:chOff x="7512" y="3426"/>
            <a:chExt cx="498" cy="600"/>
          </a:xfrm>
        </p:grpSpPr>
        <p:sp>
          <p:nvSpPr>
            <p:cNvPr id="45" name="Freeform 6"/>
            <p:cNvSpPr/>
            <p:nvPr>
              <p:custDataLst>
                <p:tags r:id="rId9"/>
              </p:custDataLst>
            </p:nvPr>
          </p:nvSpPr>
          <p:spPr bwMode="auto">
            <a:xfrm>
              <a:off x="7704" y="3426"/>
              <a:ext cx="117" cy="134"/>
            </a:xfrm>
            <a:custGeom>
              <a:avLst/>
              <a:gdLst>
                <a:gd name="T0" fmla="*/ 2 w 38"/>
                <a:gd name="T1" fmla="*/ 28 h 43"/>
                <a:gd name="T2" fmla="*/ 3 w 38"/>
                <a:gd name="T3" fmla="*/ 28 h 43"/>
                <a:gd name="T4" fmla="*/ 19 w 38"/>
                <a:gd name="T5" fmla="*/ 43 h 43"/>
                <a:gd name="T6" fmla="*/ 35 w 38"/>
                <a:gd name="T7" fmla="*/ 29 h 43"/>
                <a:gd name="T8" fmla="*/ 35 w 38"/>
                <a:gd name="T9" fmla="*/ 29 h 43"/>
                <a:gd name="T10" fmla="*/ 38 w 38"/>
                <a:gd name="T11" fmla="*/ 25 h 43"/>
                <a:gd name="T12" fmla="*/ 36 w 38"/>
                <a:gd name="T13" fmla="*/ 20 h 43"/>
                <a:gd name="T14" fmla="*/ 19 w 38"/>
                <a:gd name="T15" fmla="*/ 0 h 43"/>
                <a:gd name="T16" fmla="*/ 2 w 38"/>
                <a:gd name="T17" fmla="*/ 19 h 43"/>
                <a:gd name="T18" fmla="*/ 0 w 38"/>
                <a:gd name="T19" fmla="*/ 24 h 43"/>
                <a:gd name="T20" fmla="*/ 2 w 38"/>
                <a:gd name="T21" fmla="*/ 28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43">
                  <a:moveTo>
                    <a:pt x="2" y="28"/>
                  </a:moveTo>
                  <a:cubicBezTo>
                    <a:pt x="3" y="28"/>
                    <a:pt x="3" y="28"/>
                    <a:pt x="3" y="28"/>
                  </a:cubicBezTo>
                  <a:cubicBezTo>
                    <a:pt x="5" y="37"/>
                    <a:pt x="12" y="43"/>
                    <a:pt x="19" y="43"/>
                  </a:cubicBezTo>
                  <a:cubicBezTo>
                    <a:pt x="26" y="43"/>
                    <a:pt x="32" y="37"/>
                    <a:pt x="35" y="29"/>
                  </a:cubicBezTo>
                  <a:cubicBezTo>
                    <a:pt x="35" y="29"/>
                    <a:pt x="35" y="29"/>
                    <a:pt x="35" y="29"/>
                  </a:cubicBezTo>
                  <a:cubicBezTo>
                    <a:pt x="37" y="29"/>
                    <a:pt x="38" y="27"/>
                    <a:pt x="38" y="25"/>
                  </a:cubicBezTo>
                  <a:cubicBezTo>
                    <a:pt x="38" y="22"/>
                    <a:pt x="37" y="20"/>
                    <a:pt x="36" y="20"/>
                  </a:cubicBezTo>
                  <a:cubicBezTo>
                    <a:pt x="35" y="9"/>
                    <a:pt x="28" y="0"/>
                    <a:pt x="19" y="0"/>
                  </a:cubicBezTo>
                  <a:cubicBezTo>
                    <a:pt x="11" y="0"/>
                    <a:pt x="3" y="9"/>
                    <a:pt x="2" y="19"/>
                  </a:cubicBezTo>
                  <a:cubicBezTo>
                    <a:pt x="1" y="19"/>
                    <a:pt x="0" y="21"/>
                    <a:pt x="0" y="24"/>
                  </a:cubicBezTo>
                  <a:cubicBezTo>
                    <a:pt x="0" y="26"/>
                    <a:pt x="1" y="28"/>
                    <a:pt x="2" y="28"/>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46" name="Freeform 7"/>
            <p:cNvSpPr/>
            <p:nvPr>
              <p:custDataLst>
                <p:tags r:id="rId10"/>
              </p:custDataLst>
            </p:nvPr>
          </p:nvSpPr>
          <p:spPr bwMode="auto">
            <a:xfrm>
              <a:off x="7670" y="3556"/>
              <a:ext cx="182" cy="471"/>
            </a:xfrm>
            <a:custGeom>
              <a:avLst/>
              <a:gdLst>
                <a:gd name="T0" fmla="*/ 53 w 59"/>
                <a:gd name="T1" fmla="*/ 3 h 152"/>
                <a:gd name="T2" fmla="*/ 52 w 59"/>
                <a:gd name="T3" fmla="*/ 4 h 152"/>
                <a:gd name="T4" fmla="*/ 43 w 59"/>
                <a:gd name="T5" fmla="*/ 1 h 152"/>
                <a:gd name="T6" fmla="*/ 28 w 59"/>
                <a:gd name="T7" fmla="*/ 27 h 152"/>
                <a:gd name="T8" fmla="*/ 16 w 59"/>
                <a:gd name="T9" fmla="*/ 0 h 152"/>
                <a:gd name="T10" fmla="*/ 6 w 59"/>
                <a:gd name="T11" fmla="*/ 1 h 152"/>
                <a:gd name="T12" fmla="*/ 6 w 59"/>
                <a:gd name="T13" fmla="*/ 1 h 152"/>
                <a:gd name="T14" fmla="*/ 0 w 59"/>
                <a:gd name="T15" fmla="*/ 7 h 152"/>
                <a:gd name="T16" fmla="*/ 1 w 59"/>
                <a:gd name="T17" fmla="*/ 68 h 152"/>
                <a:gd name="T18" fmla="*/ 3 w 59"/>
                <a:gd name="T19" fmla="*/ 73 h 152"/>
                <a:gd name="T20" fmla="*/ 3 w 59"/>
                <a:gd name="T21" fmla="*/ 74 h 152"/>
                <a:gd name="T22" fmla="*/ 9 w 59"/>
                <a:gd name="T23" fmla="*/ 80 h 152"/>
                <a:gd name="T24" fmla="*/ 12 w 59"/>
                <a:gd name="T25" fmla="*/ 79 h 152"/>
                <a:gd name="T26" fmla="*/ 12 w 59"/>
                <a:gd name="T27" fmla="*/ 152 h 152"/>
                <a:gd name="T28" fmla="*/ 27 w 59"/>
                <a:gd name="T29" fmla="*/ 152 h 152"/>
                <a:gd name="T30" fmla="*/ 29 w 59"/>
                <a:gd name="T31" fmla="*/ 82 h 152"/>
                <a:gd name="T32" fmla="*/ 30 w 59"/>
                <a:gd name="T33" fmla="*/ 152 h 152"/>
                <a:gd name="T34" fmla="*/ 47 w 59"/>
                <a:gd name="T35" fmla="*/ 152 h 152"/>
                <a:gd name="T36" fmla="*/ 48 w 59"/>
                <a:gd name="T37" fmla="*/ 81 h 152"/>
                <a:gd name="T38" fmla="*/ 50 w 59"/>
                <a:gd name="T39" fmla="*/ 82 h 152"/>
                <a:gd name="T40" fmla="*/ 56 w 59"/>
                <a:gd name="T41" fmla="*/ 76 h 152"/>
                <a:gd name="T42" fmla="*/ 56 w 59"/>
                <a:gd name="T43" fmla="*/ 75 h 152"/>
                <a:gd name="T44" fmla="*/ 59 w 59"/>
                <a:gd name="T45" fmla="*/ 70 h 152"/>
                <a:gd name="T46" fmla="*/ 59 w 59"/>
                <a:gd name="T47" fmla="*/ 9 h 152"/>
                <a:gd name="T48" fmla="*/ 53 w 59"/>
                <a:gd name="T49" fmla="*/ 3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 h="152">
                  <a:moveTo>
                    <a:pt x="53" y="3"/>
                  </a:moveTo>
                  <a:cubicBezTo>
                    <a:pt x="53" y="3"/>
                    <a:pt x="52" y="3"/>
                    <a:pt x="52" y="4"/>
                  </a:cubicBezTo>
                  <a:cubicBezTo>
                    <a:pt x="43" y="1"/>
                    <a:pt x="43" y="1"/>
                    <a:pt x="43" y="1"/>
                  </a:cubicBezTo>
                  <a:cubicBezTo>
                    <a:pt x="28" y="27"/>
                    <a:pt x="28" y="27"/>
                    <a:pt x="28" y="27"/>
                  </a:cubicBezTo>
                  <a:cubicBezTo>
                    <a:pt x="16" y="0"/>
                    <a:pt x="16" y="0"/>
                    <a:pt x="16" y="0"/>
                  </a:cubicBezTo>
                  <a:cubicBezTo>
                    <a:pt x="6" y="1"/>
                    <a:pt x="6" y="1"/>
                    <a:pt x="6" y="1"/>
                  </a:cubicBezTo>
                  <a:cubicBezTo>
                    <a:pt x="6" y="1"/>
                    <a:pt x="6" y="1"/>
                    <a:pt x="6" y="1"/>
                  </a:cubicBezTo>
                  <a:cubicBezTo>
                    <a:pt x="3" y="2"/>
                    <a:pt x="0" y="4"/>
                    <a:pt x="0" y="7"/>
                  </a:cubicBezTo>
                  <a:cubicBezTo>
                    <a:pt x="1" y="68"/>
                    <a:pt x="1" y="68"/>
                    <a:pt x="1" y="68"/>
                  </a:cubicBezTo>
                  <a:cubicBezTo>
                    <a:pt x="1" y="70"/>
                    <a:pt x="2" y="72"/>
                    <a:pt x="3" y="73"/>
                  </a:cubicBezTo>
                  <a:cubicBezTo>
                    <a:pt x="3" y="73"/>
                    <a:pt x="3" y="73"/>
                    <a:pt x="3" y="74"/>
                  </a:cubicBezTo>
                  <a:cubicBezTo>
                    <a:pt x="3" y="77"/>
                    <a:pt x="6" y="80"/>
                    <a:pt x="9" y="80"/>
                  </a:cubicBezTo>
                  <a:cubicBezTo>
                    <a:pt x="10" y="80"/>
                    <a:pt x="11" y="80"/>
                    <a:pt x="12" y="79"/>
                  </a:cubicBezTo>
                  <a:cubicBezTo>
                    <a:pt x="12" y="152"/>
                    <a:pt x="12" y="152"/>
                    <a:pt x="12" y="152"/>
                  </a:cubicBezTo>
                  <a:cubicBezTo>
                    <a:pt x="27" y="152"/>
                    <a:pt x="27" y="152"/>
                    <a:pt x="27" y="152"/>
                  </a:cubicBezTo>
                  <a:cubicBezTo>
                    <a:pt x="29" y="82"/>
                    <a:pt x="29" y="82"/>
                    <a:pt x="29" y="82"/>
                  </a:cubicBezTo>
                  <a:cubicBezTo>
                    <a:pt x="30" y="152"/>
                    <a:pt x="30" y="152"/>
                    <a:pt x="30" y="152"/>
                  </a:cubicBezTo>
                  <a:cubicBezTo>
                    <a:pt x="47" y="152"/>
                    <a:pt x="47" y="152"/>
                    <a:pt x="47" y="152"/>
                  </a:cubicBezTo>
                  <a:cubicBezTo>
                    <a:pt x="48" y="81"/>
                    <a:pt x="48" y="81"/>
                    <a:pt x="48" y="81"/>
                  </a:cubicBezTo>
                  <a:cubicBezTo>
                    <a:pt x="48" y="81"/>
                    <a:pt x="49" y="82"/>
                    <a:pt x="50" y="82"/>
                  </a:cubicBezTo>
                  <a:cubicBezTo>
                    <a:pt x="54" y="82"/>
                    <a:pt x="56" y="79"/>
                    <a:pt x="56" y="76"/>
                  </a:cubicBezTo>
                  <a:cubicBezTo>
                    <a:pt x="56" y="75"/>
                    <a:pt x="56" y="75"/>
                    <a:pt x="56" y="75"/>
                  </a:cubicBezTo>
                  <a:cubicBezTo>
                    <a:pt x="58" y="74"/>
                    <a:pt x="59" y="72"/>
                    <a:pt x="59" y="70"/>
                  </a:cubicBezTo>
                  <a:cubicBezTo>
                    <a:pt x="59" y="9"/>
                    <a:pt x="59" y="9"/>
                    <a:pt x="59" y="9"/>
                  </a:cubicBezTo>
                  <a:cubicBezTo>
                    <a:pt x="59" y="6"/>
                    <a:pt x="56" y="3"/>
                    <a:pt x="53" y="3"/>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47" name="Freeform 8"/>
            <p:cNvSpPr/>
            <p:nvPr>
              <p:custDataLst>
                <p:tags r:id="rId11"/>
              </p:custDataLst>
            </p:nvPr>
          </p:nvSpPr>
          <p:spPr bwMode="auto">
            <a:xfrm>
              <a:off x="7878" y="3473"/>
              <a:ext cx="104" cy="121"/>
            </a:xfrm>
            <a:custGeom>
              <a:avLst/>
              <a:gdLst>
                <a:gd name="T0" fmla="*/ 2 w 34"/>
                <a:gd name="T1" fmla="*/ 26 h 39"/>
                <a:gd name="T2" fmla="*/ 3 w 34"/>
                <a:gd name="T3" fmla="*/ 26 h 39"/>
                <a:gd name="T4" fmla="*/ 17 w 34"/>
                <a:gd name="T5" fmla="*/ 39 h 39"/>
                <a:gd name="T6" fmla="*/ 31 w 34"/>
                <a:gd name="T7" fmla="*/ 26 h 39"/>
                <a:gd name="T8" fmla="*/ 32 w 34"/>
                <a:gd name="T9" fmla="*/ 26 h 39"/>
                <a:gd name="T10" fmla="*/ 34 w 34"/>
                <a:gd name="T11" fmla="*/ 22 h 39"/>
                <a:gd name="T12" fmla="*/ 32 w 34"/>
                <a:gd name="T13" fmla="*/ 18 h 39"/>
                <a:gd name="T14" fmla="*/ 17 w 34"/>
                <a:gd name="T15" fmla="*/ 0 h 39"/>
                <a:gd name="T16" fmla="*/ 2 w 34"/>
                <a:gd name="T17" fmla="*/ 18 h 39"/>
                <a:gd name="T18" fmla="*/ 0 w 34"/>
                <a:gd name="T19" fmla="*/ 22 h 39"/>
                <a:gd name="T20" fmla="*/ 2 w 34"/>
                <a:gd name="T21" fmla="*/ 26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39">
                  <a:moveTo>
                    <a:pt x="2" y="26"/>
                  </a:moveTo>
                  <a:cubicBezTo>
                    <a:pt x="3" y="26"/>
                    <a:pt x="3" y="26"/>
                    <a:pt x="3" y="26"/>
                  </a:cubicBezTo>
                  <a:cubicBezTo>
                    <a:pt x="5" y="33"/>
                    <a:pt x="11" y="39"/>
                    <a:pt x="17" y="39"/>
                  </a:cubicBezTo>
                  <a:cubicBezTo>
                    <a:pt x="24" y="39"/>
                    <a:pt x="29" y="34"/>
                    <a:pt x="31" y="26"/>
                  </a:cubicBezTo>
                  <a:cubicBezTo>
                    <a:pt x="32" y="26"/>
                    <a:pt x="32" y="26"/>
                    <a:pt x="32" y="26"/>
                  </a:cubicBezTo>
                  <a:cubicBezTo>
                    <a:pt x="33" y="26"/>
                    <a:pt x="34" y="25"/>
                    <a:pt x="34" y="22"/>
                  </a:cubicBezTo>
                  <a:cubicBezTo>
                    <a:pt x="34" y="20"/>
                    <a:pt x="33" y="19"/>
                    <a:pt x="32" y="18"/>
                  </a:cubicBezTo>
                  <a:cubicBezTo>
                    <a:pt x="32" y="8"/>
                    <a:pt x="25" y="1"/>
                    <a:pt x="17" y="0"/>
                  </a:cubicBezTo>
                  <a:cubicBezTo>
                    <a:pt x="10" y="0"/>
                    <a:pt x="3" y="8"/>
                    <a:pt x="2" y="18"/>
                  </a:cubicBezTo>
                  <a:cubicBezTo>
                    <a:pt x="1" y="18"/>
                    <a:pt x="0" y="20"/>
                    <a:pt x="0" y="22"/>
                  </a:cubicBezTo>
                  <a:cubicBezTo>
                    <a:pt x="0" y="24"/>
                    <a:pt x="1" y="26"/>
                    <a:pt x="2" y="26"/>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48" name="Freeform 9"/>
            <p:cNvSpPr/>
            <p:nvPr>
              <p:custDataLst>
                <p:tags r:id="rId12"/>
              </p:custDataLst>
            </p:nvPr>
          </p:nvSpPr>
          <p:spPr bwMode="auto">
            <a:xfrm>
              <a:off x="7880" y="3591"/>
              <a:ext cx="130" cy="423"/>
            </a:xfrm>
            <a:custGeom>
              <a:avLst/>
              <a:gdLst>
                <a:gd name="T0" fmla="*/ 37 w 42"/>
                <a:gd name="T1" fmla="*/ 3 h 137"/>
                <a:gd name="T2" fmla="*/ 36 w 42"/>
                <a:gd name="T3" fmla="*/ 3 h 137"/>
                <a:gd name="T4" fmla="*/ 28 w 42"/>
                <a:gd name="T5" fmla="*/ 1 h 137"/>
                <a:gd name="T6" fmla="*/ 15 w 42"/>
                <a:gd name="T7" fmla="*/ 24 h 137"/>
                <a:gd name="T8" fmla="*/ 4 w 42"/>
                <a:gd name="T9" fmla="*/ 0 h 137"/>
                <a:gd name="T10" fmla="*/ 2 w 42"/>
                <a:gd name="T11" fmla="*/ 0 h 137"/>
                <a:gd name="T12" fmla="*/ 2 w 42"/>
                <a:gd name="T13" fmla="*/ 75 h 137"/>
                <a:gd name="T14" fmla="*/ 0 w 42"/>
                <a:gd name="T15" fmla="*/ 81 h 137"/>
                <a:gd name="T16" fmla="*/ 0 w 42"/>
                <a:gd name="T17" fmla="*/ 137 h 137"/>
                <a:gd name="T18" fmla="*/ 14 w 42"/>
                <a:gd name="T19" fmla="*/ 137 h 137"/>
                <a:gd name="T20" fmla="*/ 15 w 42"/>
                <a:gd name="T21" fmla="*/ 74 h 137"/>
                <a:gd name="T22" fmla="*/ 16 w 42"/>
                <a:gd name="T23" fmla="*/ 137 h 137"/>
                <a:gd name="T24" fmla="*/ 32 w 42"/>
                <a:gd name="T25" fmla="*/ 137 h 137"/>
                <a:gd name="T26" fmla="*/ 32 w 42"/>
                <a:gd name="T27" fmla="*/ 73 h 137"/>
                <a:gd name="T28" fmla="*/ 35 w 42"/>
                <a:gd name="T29" fmla="*/ 74 h 137"/>
                <a:gd name="T30" fmla="*/ 40 w 42"/>
                <a:gd name="T31" fmla="*/ 68 h 137"/>
                <a:gd name="T32" fmla="*/ 40 w 42"/>
                <a:gd name="T33" fmla="*/ 67 h 137"/>
                <a:gd name="T34" fmla="*/ 42 w 42"/>
                <a:gd name="T35" fmla="*/ 63 h 137"/>
                <a:gd name="T36" fmla="*/ 42 w 42"/>
                <a:gd name="T37" fmla="*/ 8 h 137"/>
                <a:gd name="T38" fmla="*/ 37 w 42"/>
                <a:gd name="T39" fmla="*/ 3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 h="137">
                  <a:moveTo>
                    <a:pt x="37" y="3"/>
                  </a:moveTo>
                  <a:cubicBezTo>
                    <a:pt x="37" y="3"/>
                    <a:pt x="36" y="3"/>
                    <a:pt x="36" y="3"/>
                  </a:cubicBezTo>
                  <a:cubicBezTo>
                    <a:pt x="28" y="1"/>
                    <a:pt x="28" y="1"/>
                    <a:pt x="28" y="1"/>
                  </a:cubicBezTo>
                  <a:cubicBezTo>
                    <a:pt x="15" y="24"/>
                    <a:pt x="15" y="24"/>
                    <a:pt x="15" y="24"/>
                  </a:cubicBezTo>
                  <a:cubicBezTo>
                    <a:pt x="4" y="0"/>
                    <a:pt x="4" y="0"/>
                    <a:pt x="4" y="0"/>
                  </a:cubicBezTo>
                  <a:cubicBezTo>
                    <a:pt x="2" y="0"/>
                    <a:pt x="2" y="0"/>
                    <a:pt x="2" y="0"/>
                  </a:cubicBezTo>
                  <a:cubicBezTo>
                    <a:pt x="2" y="75"/>
                    <a:pt x="2" y="75"/>
                    <a:pt x="2" y="75"/>
                  </a:cubicBezTo>
                  <a:cubicBezTo>
                    <a:pt x="2" y="75"/>
                    <a:pt x="2" y="78"/>
                    <a:pt x="0" y="81"/>
                  </a:cubicBezTo>
                  <a:cubicBezTo>
                    <a:pt x="0" y="137"/>
                    <a:pt x="0" y="137"/>
                    <a:pt x="0" y="137"/>
                  </a:cubicBezTo>
                  <a:cubicBezTo>
                    <a:pt x="14" y="137"/>
                    <a:pt x="14" y="137"/>
                    <a:pt x="14" y="137"/>
                  </a:cubicBezTo>
                  <a:cubicBezTo>
                    <a:pt x="15" y="74"/>
                    <a:pt x="15" y="74"/>
                    <a:pt x="15" y="74"/>
                  </a:cubicBezTo>
                  <a:cubicBezTo>
                    <a:pt x="16" y="137"/>
                    <a:pt x="16" y="137"/>
                    <a:pt x="16" y="137"/>
                  </a:cubicBezTo>
                  <a:cubicBezTo>
                    <a:pt x="32" y="137"/>
                    <a:pt x="32" y="137"/>
                    <a:pt x="32" y="137"/>
                  </a:cubicBezTo>
                  <a:cubicBezTo>
                    <a:pt x="32" y="73"/>
                    <a:pt x="32" y="73"/>
                    <a:pt x="32" y="73"/>
                  </a:cubicBezTo>
                  <a:cubicBezTo>
                    <a:pt x="33" y="73"/>
                    <a:pt x="34" y="74"/>
                    <a:pt x="35" y="74"/>
                  </a:cubicBezTo>
                  <a:cubicBezTo>
                    <a:pt x="37" y="74"/>
                    <a:pt x="40" y="71"/>
                    <a:pt x="40" y="68"/>
                  </a:cubicBezTo>
                  <a:cubicBezTo>
                    <a:pt x="40" y="68"/>
                    <a:pt x="40" y="67"/>
                    <a:pt x="40" y="67"/>
                  </a:cubicBezTo>
                  <a:cubicBezTo>
                    <a:pt x="41" y="66"/>
                    <a:pt x="42" y="65"/>
                    <a:pt x="42" y="63"/>
                  </a:cubicBezTo>
                  <a:cubicBezTo>
                    <a:pt x="42" y="8"/>
                    <a:pt x="42" y="8"/>
                    <a:pt x="42" y="8"/>
                  </a:cubicBezTo>
                  <a:cubicBezTo>
                    <a:pt x="42" y="6"/>
                    <a:pt x="40" y="3"/>
                    <a:pt x="37" y="3"/>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49" name="Freeform 10"/>
            <p:cNvSpPr/>
            <p:nvPr>
              <p:custDataLst>
                <p:tags r:id="rId13"/>
              </p:custDataLst>
            </p:nvPr>
          </p:nvSpPr>
          <p:spPr bwMode="auto">
            <a:xfrm>
              <a:off x="7540" y="3473"/>
              <a:ext cx="109" cy="121"/>
            </a:xfrm>
            <a:custGeom>
              <a:avLst/>
              <a:gdLst>
                <a:gd name="T0" fmla="*/ 32 w 35"/>
                <a:gd name="T1" fmla="*/ 18 h 39"/>
                <a:gd name="T2" fmla="*/ 17 w 35"/>
                <a:gd name="T3" fmla="*/ 0 h 39"/>
                <a:gd name="T4" fmla="*/ 2 w 35"/>
                <a:gd name="T5" fmla="*/ 18 h 39"/>
                <a:gd name="T6" fmla="*/ 0 w 35"/>
                <a:gd name="T7" fmla="*/ 22 h 39"/>
                <a:gd name="T8" fmla="*/ 3 w 35"/>
                <a:gd name="T9" fmla="*/ 26 h 39"/>
                <a:gd name="T10" fmla="*/ 3 w 35"/>
                <a:gd name="T11" fmla="*/ 26 h 39"/>
                <a:gd name="T12" fmla="*/ 17 w 35"/>
                <a:gd name="T13" fmla="*/ 39 h 39"/>
                <a:gd name="T14" fmla="*/ 32 w 35"/>
                <a:gd name="T15" fmla="*/ 26 h 39"/>
                <a:gd name="T16" fmla="*/ 32 w 35"/>
                <a:gd name="T17" fmla="*/ 26 h 39"/>
                <a:gd name="T18" fmla="*/ 35 w 35"/>
                <a:gd name="T19" fmla="*/ 22 h 39"/>
                <a:gd name="T20" fmla="*/ 32 w 35"/>
                <a:gd name="T21"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39">
                  <a:moveTo>
                    <a:pt x="32" y="18"/>
                  </a:moveTo>
                  <a:cubicBezTo>
                    <a:pt x="32" y="8"/>
                    <a:pt x="25" y="0"/>
                    <a:pt x="17" y="0"/>
                  </a:cubicBezTo>
                  <a:cubicBezTo>
                    <a:pt x="10" y="0"/>
                    <a:pt x="3" y="8"/>
                    <a:pt x="2" y="18"/>
                  </a:cubicBezTo>
                  <a:cubicBezTo>
                    <a:pt x="1" y="18"/>
                    <a:pt x="0" y="20"/>
                    <a:pt x="0" y="22"/>
                  </a:cubicBezTo>
                  <a:cubicBezTo>
                    <a:pt x="0" y="24"/>
                    <a:pt x="1" y="26"/>
                    <a:pt x="3" y="26"/>
                  </a:cubicBezTo>
                  <a:cubicBezTo>
                    <a:pt x="3" y="26"/>
                    <a:pt x="3" y="26"/>
                    <a:pt x="3" y="26"/>
                  </a:cubicBezTo>
                  <a:cubicBezTo>
                    <a:pt x="5" y="34"/>
                    <a:pt x="11" y="39"/>
                    <a:pt x="17" y="39"/>
                  </a:cubicBezTo>
                  <a:cubicBezTo>
                    <a:pt x="24" y="39"/>
                    <a:pt x="30" y="33"/>
                    <a:pt x="32" y="26"/>
                  </a:cubicBezTo>
                  <a:cubicBezTo>
                    <a:pt x="32" y="26"/>
                    <a:pt x="32" y="26"/>
                    <a:pt x="32" y="26"/>
                  </a:cubicBezTo>
                  <a:cubicBezTo>
                    <a:pt x="34" y="26"/>
                    <a:pt x="35" y="24"/>
                    <a:pt x="35" y="22"/>
                  </a:cubicBezTo>
                  <a:cubicBezTo>
                    <a:pt x="35" y="20"/>
                    <a:pt x="34" y="18"/>
                    <a:pt x="32" y="18"/>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50" name="Freeform 11"/>
            <p:cNvSpPr/>
            <p:nvPr>
              <p:custDataLst>
                <p:tags r:id="rId14"/>
              </p:custDataLst>
            </p:nvPr>
          </p:nvSpPr>
          <p:spPr bwMode="auto">
            <a:xfrm>
              <a:off x="7512" y="3591"/>
              <a:ext cx="130" cy="423"/>
            </a:xfrm>
            <a:custGeom>
              <a:avLst/>
              <a:gdLst>
                <a:gd name="T0" fmla="*/ 40 w 42"/>
                <a:gd name="T1" fmla="*/ 75 h 137"/>
                <a:gd name="T2" fmla="*/ 41 w 42"/>
                <a:gd name="T3" fmla="*/ 0 h 137"/>
                <a:gd name="T4" fmla="*/ 39 w 42"/>
                <a:gd name="T5" fmla="*/ 0 h 137"/>
                <a:gd name="T6" fmla="*/ 28 w 42"/>
                <a:gd name="T7" fmla="*/ 24 h 137"/>
                <a:gd name="T8" fmla="*/ 15 w 42"/>
                <a:gd name="T9" fmla="*/ 0 h 137"/>
                <a:gd name="T10" fmla="*/ 6 w 42"/>
                <a:gd name="T11" fmla="*/ 3 h 137"/>
                <a:gd name="T12" fmla="*/ 5 w 42"/>
                <a:gd name="T13" fmla="*/ 3 h 137"/>
                <a:gd name="T14" fmla="*/ 0 w 42"/>
                <a:gd name="T15" fmla="*/ 8 h 137"/>
                <a:gd name="T16" fmla="*/ 0 w 42"/>
                <a:gd name="T17" fmla="*/ 62 h 137"/>
                <a:gd name="T18" fmla="*/ 2 w 42"/>
                <a:gd name="T19" fmla="*/ 67 h 137"/>
                <a:gd name="T20" fmla="*/ 2 w 42"/>
                <a:gd name="T21" fmla="*/ 68 h 137"/>
                <a:gd name="T22" fmla="*/ 7 w 42"/>
                <a:gd name="T23" fmla="*/ 73 h 137"/>
                <a:gd name="T24" fmla="*/ 10 w 42"/>
                <a:gd name="T25" fmla="*/ 72 h 137"/>
                <a:gd name="T26" fmla="*/ 9 w 42"/>
                <a:gd name="T27" fmla="*/ 136 h 137"/>
                <a:gd name="T28" fmla="*/ 25 w 42"/>
                <a:gd name="T29" fmla="*/ 136 h 137"/>
                <a:gd name="T30" fmla="*/ 27 w 42"/>
                <a:gd name="T31" fmla="*/ 74 h 137"/>
                <a:gd name="T32" fmla="*/ 27 w 42"/>
                <a:gd name="T33" fmla="*/ 137 h 137"/>
                <a:gd name="T34" fmla="*/ 41 w 42"/>
                <a:gd name="T35" fmla="*/ 137 h 137"/>
                <a:gd name="T36" fmla="*/ 42 w 42"/>
                <a:gd name="T37" fmla="*/ 81 h 137"/>
                <a:gd name="T38" fmla="*/ 40 w 42"/>
                <a:gd name="T39" fmla="*/ 7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 h="137">
                  <a:moveTo>
                    <a:pt x="40" y="75"/>
                  </a:moveTo>
                  <a:cubicBezTo>
                    <a:pt x="41" y="0"/>
                    <a:pt x="41" y="0"/>
                    <a:pt x="41" y="0"/>
                  </a:cubicBezTo>
                  <a:cubicBezTo>
                    <a:pt x="39" y="0"/>
                    <a:pt x="39" y="0"/>
                    <a:pt x="39" y="0"/>
                  </a:cubicBezTo>
                  <a:cubicBezTo>
                    <a:pt x="28" y="24"/>
                    <a:pt x="28" y="24"/>
                    <a:pt x="28" y="24"/>
                  </a:cubicBezTo>
                  <a:cubicBezTo>
                    <a:pt x="15" y="0"/>
                    <a:pt x="15" y="0"/>
                    <a:pt x="15" y="0"/>
                  </a:cubicBezTo>
                  <a:cubicBezTo>
                    <a:pt x="6" y="3"/>
                    <a:pt x="6" y="3"/>
                    <a:pt x="6" y="3"/>
                  </a:cubicBezTo>
                  <a:cubicBezTo>
                    <a:pt x="6" y="3"/>
                    <a:pt x="6" y="3"/>
                    <a:pt x="5" y="3"/>
                  </a:cubicBezTo>
                  <a:cubicBezTo>
                    <a:pt x="3" y="3"/>
                    <a:pt x="0" y="5"/>
                    <a:pt x="0" y="8"/>
                  </a:cubicBezTo>
                  <a:cubicBezTo>
                    <a:pt x="0" y="62"/>
                    <a:pt x="0" y="62"/>
                    <a:pt x="0" y="62"/>
                  </a:cubicBezTo>
                  <a:cubicBezTo>
                    <a:pt x="0" y="64"/>
                    <a:pt x="1" y="66"/>
                    <a:pt x="2" y="67"/>
                  </a:cubicBezTo>
                  <a:cubicBezTo>
                    <a:pt x="2" y="67"/>
                    <a:pt x="2" y="67"/>
                    <a:pt x="2" y="68"/>
                  </a:cubicBezTo>
                  <a:cubicBezTo>
                    <a:pt x="2" y="71"/>
                    <a:pt x="4" y="73"/>
                    <a:pt x="7" y="73"/>
                  </a:cubicBezTo>
                  <a:cubicBezTo>
                    <a:pt x="8" y="73"/>
                    <a:pt x="9" y="73"/>
                    <a:pt x="10" y="72"/>
                  </a:cubicBezTo>
                  <a:cubicBezTo>
                    <a:pt x="9" y="136"/>
                    <a:pt x="9" y="136"/>
                    <a:pt x="9" y="136"/>
                  </a:cubicBezTo>
                  <a:cubicBezTo>
                    <a:pt x="25" y="136"/>
                    <a:pt x="25" y="136"/>
                    <a:pt x="25" y="136"/>
                  </a:cubicBezTo>
                  <a:cubicBezTo>
                    <a:pt x="27" y="74"/>
                    <a:pt x="27" y="74"/>
                    <a:pt x="27" y="74"/>
                  </a:cubicBezTo>
                  <a:cubicBezTo>
                    <a:pt x="27" y="137"/>
                    <a:pt x="27" y="137"/>
                    <a:pt x="27" y="137"/>
                  </a:cubicBezTo>
                  <a:cubicBezTo>
                    <a:pt x="41" y="137"/>
                    <a:pt x="41" y="137"/>
                    <a:pt x="41" y="137"/>
                  </a:cubicBezTo>
                  <a:cubicBezTo>
                    <a:pt x="42" y="81"/>
                    <a:pt x="42" y="81"/>
                    <a:pt x="42" y="81"/>
                  </a:cubicBezTo>
                  <a:cubicBezTo>
                    <a:pt x="39" y="78"/>
                    <a:pt x="40" y="75"/>
                    <a:pt x="40" y="75"/>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grpSp>
      <p:grpSp>
        <p:nvGrpSpPr>
          <p:cNvPr id="57" name="组合 56"/>
          <p:cNvGrpSpPr/>
          <p:nvPr/>
        </p:nvGrpSpPr>
        <p:grpSpPr>
          <a:xfrm>
            <a:off x="6917690" y="4288155"/>
            <a:ext cx="482600" cy="440055"/>
            <a:chOff x="6946" y="4559"/>
            <a:chExt cx="455" cy="436"/>
          </a:xfrm>
        </p:grpSpPr>
        <p:sp>
          <p:nvSpPr>
            <p:cNvPr id="52" name="Freeform 22"/>
            <p:cNvSpPr/>
            <p:nvPr>
              <p:custDataLst>
                <p:tags r:id="rId15"/>
              </p:custDataLst>
            </p:nvPr>
          </p:nvSpPr>
          <p:spPr bwMode="auto">
            <a:xfrm>
              <a:off x="7068" y="4559"/>
              <a:ext cx="221" cy="250"/>
            </a:xfrm>
            <a:custGeom>
              <a:avLst/>
              <a:gdLst>
                <a:gd name="T0" fmla="*/ 67 w 72"/>
                <a:gd name="T1" fmla="*/ 36 h 81"/>
                <a:gd name="T2" fmla="*/ 36 w 72"/>
                <a:gd name="T3" fmla="*/ 0 h 81"/>
                <a:gd name="T4" fmla="*/ 5 w 72"/>
                <a:gd name="T5" fmla="*/ 37 h 81"/>
                <a:gd name="T6" fmla="*/ 0 w 72"/>
                <a:gd name="T7" fmla="*/ 45 h 81"/>
                <a:gd name="T8" fmla="*/ 5 w 72"/>
                <a:gd name="T9" fmla="*/ 54 h 81"/>
                <a:gd name="T10" fmla="*/ 6 w 72"/>
                <a:gd name="T11" fmla="*/ 54 h 81"/>
                <a:gd name="T12" fmla="*/ 36 w 72"/>
                <a:gd name="T13" fmla="*/ 81 h 81"/>
                <a:gd name="T14" fmla="*/ 66 w 72"/>
                <a:gd name="T15" fmla="*/ 53 h 81"/>
                <a:gd name="T16" fmla="*/ 67 w 72"/>
                <a:gd name="T17" fmla="*/ 53 h 81"/>
                <a:gd name="T18" fmla="*/ 72 w 72"/>
                <a:gd name="T19" fmla="*/ 44 h 81"/>
                <a:gd name="T20" fmla="*/ 67 w 72"/>
                <a:gd name="T21" fmla="*/ 3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81">
                  <a:moveTo>
                    <a:pt x="67" y="36"/>
                  </a:moveTo>
                  <a:cubicBezTo>
                    <a:pt x="65" y="16"/>
                    <a:pt x="52" y="0"/>
                    <a:pt x="36" y="0"/>
                  </a:cubicBezTo>
                  <a:cubicBezTo>
                    <a:pt x="19" y="0"/>
                    <a:pt x="6" y="16"/>
                    <a:pt x="5" y="37"/>
                  </a:cubicBezTo>
                  <a:cubicBezTo>
                    <a:pt x="2" y="38"/>
                    <a:pt x="0" y="41"/>
                    <a:pt x="0" y="45"/>
                  </a:cubicBezTo>
                  <a:cubicBezTo>
                    <a:pt x="0" y="50"/>
                    <a:pt x="2" y="54"/>
                    <a:pt x="5" y="54"/>
                  </a:cubicBezTo>
                  <a:cubicBezTo>
                    <a:pt x="6" y="54"/>
                    <a:pt x="6" y="54"/>
                    <a:pt x="6" y="54"/>
                  </a:cubicBezTo>
                  <a:cubicBezTo>
                    <a:pt x="11" y="69"/>
                    <a:pt x="22" y="81"/>
                    <a:pt x="36" y="81"/>
                  </a:cubicBezTo>
                  <a:cubicBezTo>
                    <a:pt x="50" y="81"/>
                    <a:pt x="62" y="69"/>
                    <a:pt x="66" y="53"/>
                  </a:cubicBezTo>
                  <a:cubicBezTo>
                    <a:pt x="66" y="53"/>
                    <a:pt x="67" y="53"/>
                    <a:pt x="67" y="53"/>
                  </a:cubicBezTo>
                  <a:cubicBezTo>
                    <a:pt x="70" y="53"/>
                    <a:pt x="72" y="49"/>
                    <a:pt x="72" y="44"/>
                  </a:cubicBezTo>
                  <a:cubicBezTo>
                    <a:pt x="72" y="40"/>
                    <a:pt x="70" y="36"/>
                    <a:pt x="67" y="36"/>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53" name="Freeform 23"/>
            <p:cNvSpPr/>
            <p:nvPr>
              <p:custDataLst>
                <p:tags r:id="rId16"/>
              </p:custDataLst>
            </p:nvPr>
          </p:nvSpPr>
          <p:spPr bwMode="auto">
            <a:xfrm>
              <a:off x="6946" y="4803"/>
              <a:ext cx="304" cy="192"/>
            </a:xfrm>
            <a:custGeom>
              <a:avLst/>
              <a:gdLst>
                <a:gd name="T0" fmla="*/ 94 w 98"/>
                <a:gd name="T1" fmla="*/ 4 h 62"/>
                <a:gd name="T2" fmla="*/ 77 w 98"/>
                <a:gd name="T3" fmla="*/ 45 h 62"/>
                <a:gd name="T4" fmla="*/ 54 w 98"/>
                <a:gd name="T5" fmla="*/ 1 h 62"/>
                <a:gd name="T6" fmla="*/ 7 w 98"/>
                <a:gd name="T7" fmla="*/ 20 h 62"/>
                <a:gd name="T8" fmla="*/ 2 w 98"/>
                <a:gd name="T9" fmla="*/ 62 h 62"/>
                <a:gd name="T10" fmla="*/ 72 w 98"/>
                <a:gd name="T11" fmla="*/ 62 h 62"/>
                <a:gd name="T12" fmla="*/ 98 w 98"/>
                <a:gd name="T13" fmla="*/ 40 h 62"/>
                <a:gd name="T14" fmla="*/ 94 w 98"/>
                <a:gd name="T15" fmla="*/ 4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8" h="62">
                  <a:moveTo>
                    <a:pt x="94" y="4"/>
                  </a:moveTo>
                  <a:cubicBezTo>
                    <a:pt x="77" y="45"/>
                    <a:pt x="77" y="45"/>
                    <a:pt x="77" y="45"/>
                  </a:cubicBezTo>
                  <a:cubicBezTo>
                    <a:pt x="54" y="1"/>
                    <a:pt x="54" y="1"/>
                    <a:pt x="54" y="1"/>
                  </a:cubicBezTo>
                  <a:cubicBezTo>
                    <a:pt x="36" y="0"/>
                    <a:pt x="15" y="7"/>
                    <a:pt x="7" y="20"/>
                  </a:cubicBezTo>
                  <a:cubicBezTo>
                    <a:pt x="0" y="33"/>
                    <a:pt x="2" y="62"/>
                    <a:pt x="2" y="62"/>
                  </a:cubicBezTo>
                  <a:cubicBezTo>
                    <a:pt x="72" y="62"/>
                    <a:pt x="72" y="62"/>
                    <a:pt x="72" y="62"/>
                  </a:cubicBezTo>
                  <a:cubicBezTo>
                    <a:pt x="98" y="40"/>
                    <a:pt x="98" y="40"/>
                    <a:pt x="98" y="40"/>
                  </a:cubicBezTo>
                  <a:cubicBezTo>
                    <a:pt x="90" y="34"/>
                    <a:pt x="94" y="4"/>
                    <a:pt x="94" y="4"/>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56" name="Freeform 25"/>
            <p:cNvSpPr>
              <a:spLocks noEditPoints="1"/>
            </p:cNvSpPr>
            <p:nvPr>
              <p:custDataLst>
                <p:tags r:id="rId17"/>
              </p:custDataLst>
            </p:nvPr>
          </p:nvSpPr>
          <p:spPr bwMode="auto">
            <a:xfrm>
              <a:off x="7285" y="4806"/>
              <a:ext cx="117" cy="166"/>
            </a:xfrm>
            <a:custGeom>
              <a:avLst/>
              <a:gdLst>
                <a:gd name="T0" fmla="*/ 16 w 38"/>
                <a:gd name="T1" fmla="*/ 0 h 54"/>
                <a:gd name="T2" fmla="*/ 21 w 38"/>
                <a:gd name="T3" fmla="*/ 0 h 54"/>
                <a:gd name="T4" fmla="*/ 21 w 38"/>
                <a:gd name="T5" fmla="*/ 3 h 54"/>
                <a:gd name="T6" fmla="*/ 37 w 38"/>
                <a:gd name="T7" fmla="*/ 17 h 54"/>
                <a:gd name="T8" fmla="*/ 26 w 38"/>
                <a:gd name="T9" fmla="*/ 17 h 54"/>
                <a:gd name="T10" fmla="*/ 21 w 38"/>
                <a:gd name="T11" fmla="*/ 12 h 54"/>
                <a:gd name="T12" fmla="*/ 21 w 38"/>
                <a:gd name="T13" fmla="*/ 20 h 54"/>
                <a:gd name="T14" fmla="*/ 38 w 38"/>
                <a:gd name="T15" fmla="*/ 35 h 54"/>
                <a:gd name="T16" fmla="*/ 21 w 38"/>
                <a:gd name="T17" fmla="*/ 48 h 54"/>
                <a:gd name="T18" fmla="*/ 21 w 38"/>
                <a:gd name="T19" fmla="*/ 54 h 54"/>
                <a:gd name="T20" fmla="*/ 16 w 38"/>
                <a:gd name="T21" fmla="*/ 54 h 54"/>
                <a:gd name="T22" fmla="*/ 16 w 38"/>
                <a:gd name="T23" fmla="*/ 48 h 54"/>
                <a:gd name="T24" fmla="*/ 0 w 38"/>
                <a:gd name="T25" fmla="*/ 34 h 54"/>
                <a:gd name="T26" fmla="*/ 11 w 38"/>
                <a:gd name="T27" fmla="*/ 34 h 54"/>
                <a:gd name="T28" fmla="*/ 16 w 38"/>
                <a:gd name="T29" fmla="*/ 40 h 54"/>
                <a:gd name="T30" fmla="*/ 16 w 38"/>
                <a:gd name="T31" fmla="*/ 30 h 54"/>
                <a:gd name="T32" fmla="*/ 0 w 38"/>
                <a:gd name="T33" fmla="*/ 17 h 54"/>
                <a:gd name="T34" fmla="*/ 16 w 38"/>
                <a:gd name="T35" fmla="*/ 3 h 54"/>
                <a:gd name="T36" fmla="*/ 16 w 38"/>
                <a:gd name="T37" fmla="*/ 0 h 54"/>
                <a:gd name="T38" fmla="*/ 16 w 38"/>
                <a:gd name="T39" fmla="*/ 12 h 54"/>
                <a:gd name="T40" fmla="*/ 11 w 38"/>
                <a:gd name="T41" fmla="*/ 15 h 54"/>
                <a:gd name="T42" fmla="*/ 16 w 38"/>
                <a:gd name="T43" fmla="*/ 19 h 54"/>
                <a:gd name="T44" fmla="*/ 16 w 38"/>
                <a:gd name="T45" fmla="*/ 12 h 54"/>
                <a:gd name="T46" fmla="*/ 21 w 38"/>
                <a:gd name="T47" fmla="*/ 40 h 54"/>
                <a:gd name="T48" fmla="*/ 26 w 38"/>
                <a:gd name="T49" fmla="*/ 36 h 54"/>
                <a:gd name="T50" fmla="*/ 21 w 38"/>
                <a:gd name="T51" fmla="*/ 31 h 54"/>
                <a:gd name="T52" fmla="*/ 21 w 38"/>
                <a:gd name="T53"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54">
                  <a:moveTo>
                    <a:pt x="16" y="0"/>
                  </a:moveTo>
                  <a:cubicBezTo>
                    <a:pt x="21" y="0"/>
                    <a:pt x="21" y="0"/>
                    <a:pt x="21" y="0"/>
                  </a:cubicBezTo>
                  <a:cubicBezTo>
                    <a:pt x="21" y="3"/>
                    <a:pt x="21" y="3"/>
                    <a:pt x="21" y="3"/>
                  </a:cubicBezTo>
                  <a:cubicBezTo>
                    <a:pt x="29" y="4"/>
                    <a:pt x="37" y="7"/>
                    <a:pt x="37" y="17"/>
                  </a:cubicBezTo>
                  <a:cubicBezTo>
                    <a:pt x="26" y="17"/>
                    <a:pt x="26" y="17"/>
                    <a:pt x="26" y="17"/>
                  </a:cubicBezTo>
                  <a:cubicBezTo>
                    <a:pt x="26" y="14"/>
                    <a:pt x="24" y="12"/>
                    <a:pt x="21" y="12"/>
                  </a:cubicBezTo>
                  <a:cubicBezTo>
                    <a:pt x="21" y="20"/>
                    <a:pt x="21" y="20"/>
                    <a:pt x="21" y="20"/>
                  </a:cubicBezTo>
                  <a:cubicBezTo>
                    <a:pt x="30" y="23"/>
                    <a:pt x="38" y="26"/>
                    <a:pt x="38" y="35"/>
                  </a:cubicBezTo>
                  <a:cubicBezTo>
                    <a:pt x="38" y="45"/>
                    <a:pt x="30" y="48"/>
                    <a:pt x="21" y="48"/>
                  </a:cubicBezTo>
                  <a:cubicBezTo>
                    <a:pt x="21" y="54"/>
                    <a:pt x="21" y="54"/>
                    <a:pt x="21" y="54"/>
                  </a:cubicBezTo>
                  <a:cubicBezTo>
                    <a:pt x="16" y="54"/>
                    <a:pt x="16" y="54"/>
                    <a:pt x="16" y="54"/>
                  </a:cubicBezTo>
                  <a:cubicBezTo>
                    <a:pt x="16" y="48"/>
                    <a:pt x="16" y="48"/>
                    <a:pt x="16" y="48"/>
                  </a:cubicBezTo>
                  <a:cubicBezTo>
                    <a:pt x="7" y="48"/>
                    <a:pt x="0" y="43"/>
                    <a:pt x="0" y="34"/>
                  </a:cubicBezTo>
                  <a:cubicBezTo>
                    <a:pt x="11" y="34"/>
                    <a:pt x="11" y="34"/>
                    <a:pt x="11" y="34"/>
                  </a:cubicBezTo>
                  <a:cubicBezTo>
                    <a:pt x="11" y="37"/>
                    <a:pt x="13" y="39"/>
                    <a:pt x="16" y="40"/>
                  </a:cubicBezTo>
                  <a:cubicBezTo>
                    <a:pt x="16" y="30"/>
                    <a:pt x="16" y="30"/>
                    <a:pt x="16" y="30"/>
                  </a:cubicBezTo>
                  <a:cubicBezTo>
                    <a:pt x="7" y="28"/>
                    <a:pt x="0" y="26"/>
                    <a:pt x="0" y="17"/>
                  </a:cubicBezTo>
                  <a:cubicBezTo>
                    <a:pt x="0" y="7"/>
                    <a:pt x="8" y="5"/>
                    <a:pt x="16" y="3"/>
                  </a:cubicBezTo>
                  <a:lnTo>
                    <a:pt x="16" y="0"/>
                  </a:lnTo>
                  <a:close/>
                  <a:moveTo>
                    <a:pt x="16" y="12"/>
                  </a:moveTo>
                  <a:cubicBezTo>
                    <a:pt x="14" y="12"/>
                    <a:pt x="11" y="13"/>
                    <a:pt x="11" y="15"/>
                  </a:cubicBezTo>
                  <a:cubicBezTo>
                    <a:pt x="11" y="18"/>
                    <a:pt x="14" y="19"/>
                    <a:pt x="16" y="19"/>
                  </a:cubicBezTo>
                  <a:lnTo>
                    <a:pt x="16" y="12"/>
                  </a:lnTo>
                  <a:close/>
                  <a:moveTo>
                    <a:pt x="21" y="40"/>
                  </a:moveTo>
                  <a:cubicBezTo>
                    <a:pt x="24" y="40"/>
                    <a:pt x="26" y="39"/>
                    <a:pt x="26" y="36"/>
                  </a:cubicBezTo>
                  <a:cubicBezTo>
                    <a:pt x="26" y="34"/>
                    <a:pt x="24" y="32"/>
                    <a:pt x="21" y="31"/>
                  </a:cubicBezTo>
                  <a:lnTo>
                    <a:pt x="21" y="40"/>
                  </a:ln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grpSp>
      <p:sp>
        <p:nvSpPr>
          <p:cNvPr id="58" name="文本框 57"/>
          <p:cNvSpPr txBox="1"/>
          <p:nvPr/>
        </p:nvSpPr>
        <p:spPr>
          <a:xfrm>
            <a:off x="454025" y="2037715"/>
            <a:ext cx="3469640" cy="1325880"/>
          </a:xfrm>
          <a:prstGeom prst="rect">
            <a:avLst/>
          </a:prstGeom>
          <a:noFill/>
        </p:spPr>
        <p:txBody>
          <a:bodyPr wrap="square" rtlCol="0">
            <a:spAutoFit/>
          </a:bodyPr>
          <a:p>
            <a:r>
              <a:rPr lang="zh-CN" altLang="en-US" sz="1335" b="1">
                <a:solidFill>
                  <a:schemeClr val="tx1">
                    <a:lumMod val="75000"/>
                    <a:lumOff val="25000"/>
                  </a:schemeClr>
                </a:solidFill>
                <a:latin typeface="微软雅黑" panose="020B0503020204020204" charset="-122"/>
                <a:ea typeface="微软雅黑" panose="020B0503020204020204" charset="-122"/>
                <a:sym typeface="+mn-ea"/>
              </a:rPr>
              <a:t>理论价值：</a:t>
            </a:r>
            <a:r>
              <a:rPr lang="zh-CN" altLang="en-US" sz="1335">
                <a:solidFill>
                  <a:schemeClr val="tx1">
                    <a:lumMod val="75000"/>
                    <a:lumOff val="25000"/>
                  </a:schemeClr>
                </a:solidFill>
                <a:latin typeface="汉仪旗黑-55简" panose="00020600040101010101" charset="-128"/>
                <a:ea typeface="汉仪旗黑-55简" panose="00020600040101010101" charset="-128"/>
                <a:sym typeface="+mn-ea"/>
              </a:rPr>
              <a:t>面向社交媒体的多语言情感分析是社会计算的重要分支，中文和蒙古文作为两种截然不同的语言体系，其在语法、词汇和语义表达上差异显著，为多语言情感分析提供了丰富的研究样本，有助于解决多语言情感分析中的语义对齐等关键问题。</a:t>
            </a:r>
            <a:endParaRPr lang="zh-CN" altLang="en-US" sz="1335">
              <a:solidFill>
                <a:schemeClr val="tx1">
                  <a:lumMod val="75000"/>
                  <a:lumOff val="25000"/>
                </a:schemeClr>
              </a:solidFill>
              <a:latin typeface="汉仪旗黑-55简" panose="00020600040101010101" charset="-128"/>
              <a:ea typeface="汉仪旗黑-55简" panose="00020600040101010101" charset="-128"/>
              <a:sym typeface="+mn-ea"/>
            </a:endParaRPr>
          </a:p>
        </p:txBody>
      </p:sp>
      <p:sp>
        <p:nvSpPr>
          <p:cNvPr id="59" name="3"/>
          <p:cNvSpPr>
            <a:spLocks noChangeArrowheads="1"/>
          </p:cNvSpPr>
          <p:nvPr/>
        </p:nvSpPr>
        <p:spPr bwMode="auto">
          <a:xfrm>
            <a:off x="8388985" y="4203700"/>
            <a:ext cx="3413125" cy="1480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9pPr>
          </a:lstStyle>
          <a:p>
            <a:pPr>
              <a:lnSpc>
                <a:spcPct val="120000"/>
              </a:lnSpc>
              <a:spcBef>
                <a:spcPct val="20000"/>
              </a:spcBef>
            </a:pPr>
            <a:r>
              <a:rPr lang="zh-CN" altLang="en-US" sz="1335" b="1">
                <a:solidFill>
                  <a:schemeClr val="tx1">
                    <a:lumMod val="75000"/>
                    <a:lumOff val="25000"/>
                  </a:schemeClr>
                </a:solidFill>
                <a:latin typeface="微软雅黑" panose="020B0503020204020204" charset="-122"/>
              </a:rPr>
              <a:t>社会价值：</a:t>
            </a:r>
            <a:r>
              <a:rPr lang="zh-CN" altLang="en-US" sz="1335">
                <a:solidFill>
                  <a:schemeClr val="tx1">
                    <a:lumMod val="75000"/>
                    <a:lumOff val="25000"/>
                  </a:schemeClr>
                </a:solidFill>
                <a:latin typeface="汉仪旗黑-55简" panose="00020600040101010101" charset="-128"/>
                <a:ea typeface="汉仪旗黑-55简" panose="00020600040101010101" charset="-128"/>
                <a:sym typeface="+mn-ea"/>
              </a:rPr>
              <a:t>准确地分析社交媒体中民众的情绪变化有助于国家政府进行新闻传播和社会舆情监控，同时为中蒙经济合作中的跨文化沟通、政策解读等领域提供技术支持。这将进一步推动中蒙关系的深化，促进双方合作的可持续发展</a:t>
            </a:r>
            <a:r>
              <a:rPr lang="zh-CN" altLang="en-US" sz="1335">
                <a:solidFill>
                  <a:schemeClr val="tx1">
                    <a:lumMod val="75000"/>
                    <a:lumOff val="25000"/>
                  </a:schemeClr>
                </a:solidFill>
                <a:latin typeface="汉仪旗黑-55简" panose="00020600040101010101" charset="-128"/>
                <a:ea typeface="汉仪旗黑-55简" panose="00020600040101010101" charset="-128"/>
              </a:rPr>
              <a:t>。</a:t>
            </a:r>
            <a:endParaRPr lang="zh-CN" sz="1400" dirty="0">
              <a:solidFill>
                <a:srgbClr val="000000"/>
              </a:solidFill>
              <a:latin typeface="微软雅黑" panose="020B0503020204020204" charset="-122"/>
            </a:endParaRPr>
          </a:p>
        </p:txBody>
      </p:sp>
      <p:sp>
        <p:nvSpPr>
          <p:cNvPr id="62" name="3"/>
          <p:cNvSpPr>
            <a:spLocks noChangeArrowheads="1"/>
          </p:cNvSpPr>
          <p:nvPr/>
        </p:nvSpPr>
        <p:spPr bwMode="auto">
          <a:xfrm>
            <a:off x="541020" y="4624705"/>
            <a:ext cx="3382645"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9pPr>
          </a:lstStyle>
          <a:p>
            <a:pPr>
              <a:lnSpc>
                <a:spcPct val="120000"/>
              </a:lnSpc>
              <a:spcBef>
                <a:spcPct val="20000"/>
              </a:spcBef>
            </a:pPr>
            <a:r>
              <a:rPr lang="zh-CN" altLang="en-US" sz="1335" b="1">
                <a:solidFill>
                  <a:schemeClr val="tx1">
                    <a:lumMod val="75000"/>
                    <a:lumOff val="25000"/>
                  </a:schemeClr>
                </a:solidFill>
                <a:latin typeface="微软雅黑" panose="020B0503020204020204" charset="-122"/>
              </a:rPr>
              <a:t>应用价值：</a:t>
            </a:r>
            <a:r>
              <a:rPr lang="zh-CN" altLang="en-US" sz="1335">
                <a:solidFill>
                  <a:schemeClr val="tx1">
                    <a:lumMod val="75000"/>
                    <a:lumOff val="25000"/>
                  </a:schemeClr>
                </a:solidFill>
                <a:latin typeface="汉仪旗黑-55简" panose="00020600040101010101" charset="-128"/>
                <a:ea typeface="汉仪旗黑-55简" panose="00020600040101010101" charset="-128"/>
              </a:rPr>
              <a:t>通过</a:t>
            </a:r>
            <a:r>
              <a:rPr lang="zh-CN" altLang="en-US" sz="1335">
                <a:solidFill>
                  <a:schemeClr val="tx1">
                    <a:lumMod val="75000"/>
                    <a:lumOff val="25000"/>
                  </a:schemeClr>
                </a:solidFill>
                <a:latin typeface="汉仪旗黑-55简" panose="00020600040101010101" charset="-128"/>
                <a:ea typeface="汉仪旗黑-55简" panose="00020600040101010101" charset="-128"/>
                <a:sym typeface="+mn-ea"/>
              </a:rPr>
              <a:t>多语言社交媒体文本情感分析</a:t>
            </a:r>
            <a:r>
              <a:rPr lang="zh-CN" altLang="en-US" sz="1335">
                <a:solidFill>
                  <a:schemeClr val="tx1">
                    <a:lumMod val="75000"/>
                    <a:lumOff val="25000"/>
                  </a:schemeClr>
                </a:solidFill>
                <a:latin typeface="汉仪旗黑-55简" panose="00020600040101010101" charset="-128"/>
                <a:ea typeface="汉仪旗黑-55简" panose="00020600040101010101" charset="-128"/>
              </a:rPr>
              <a:t>研究与应用，可为中蒙跨境舆情监测提供情感数据支撑，为蒙文媒体、文化平台提供情感分析工具。</a:t>
            </a:r>
            <a:endParaRPr lang="zh-CN" altLang="en-US" sz="1335">
              <a:solidFill>
                <a:schemeClr val="tx1">
                  <a:lumMod val="75000"/>
                  <a:lumOff val="25000"/>
                </a:schemeClr>
              </a:solidFill>
              <a:latin typeface="汉仪旗黑-55简" panose="00020600040101010101" charset="-128"/>
              <a:ea typeface="汉仪旗黑-55简" panose="00020600040101010101" charset="-128"/>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文本框 11"/>
          <p:cNvSpPr txBox="1"/>
          <p:nvPr/>
        </p:nvSpPr>
        <p:spPr>
          <a:xfrm>
            <a:off x="3928269" y="1815928"/>
            <a:ext cx="4335463" cy="1076325"/>
          </a:xfrm>
          <a:prstGeom prst="rect">
            <a:avLst/>
          </a:prstGeom>
          <a:noFill/>
        </p:spPr>
        <p:txBody>
          <a:bodyPr wrap="square" lIns="91440" tIns="45720" rIns="91440" bIns="45720" rtlCol="0">
            <a:spAutoFit/>
          </a:bodyPr>
          <a:lstStyle/>
          <a:p>
            <a:pPr algn="ctr"/>
            <a:r>
              <a:rPr lang="en-US" altLang="zh-CN" sz="6400" b="1" dirty="0" smtClean="0">
                <a:solidFill>
                  <a:srgbClr val="5E7397"/>
                </a:solidFill>
                <a:latin typeface="汉仪旗黑-55简" panose="00020600040101010101" charset="-128"/>
                <a:ea typeface="汉仪旗黑-55简" panose="00020600040101010101" charset="-128"/>
                <a:cs typeface="汉仪旗黑-55简" panose="00020600040101010101" charset="-128"/>
                <a:sym typeface="+mn-ea"/>
              </a:rPr>
              <a:t>PART 02</a:t>
            </a:r>
            <a:endParaRPr lang="en-US" altLang="zh-CN" sz="6400" b="1" dirty="0" smtClean="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sp>
        <p:nvSpPr>
          <p:cNvPr id="2" name="文本框 1"/>
          <p:cNvSpPr txBox="1"/>
          <p:nvPr/>
        </p:nvSpPr>
        <p:spPr>
          <a:xfrm>
            <a:off x="2437765" y="2739390"/>
            <a:ext cx="7317740" cy="1014730"/>
          </a:xfrm>
          <a:prstGeom prst="rect">
            <a:avLst/>
          </a:prstGeom>
          <a:noFill/>
        </p:spPr>
        <p:txBody>
          <a:bodyPr wrap="square" rtlCol="0">
            <a:spAutoFit/>
          </a:bodyPr>
          <a:p>
            <a:pPr algn="ctr">
              <a:lnSpc>
                <a:spcPct val="100000"/>
              </a:lnSpc>
            </a:pPr>
            <a:r>
              <a:rPr lang="zh-CN" altLang="en-US" sz="60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研究内容与</a:t>
            </a:r>
            <a:r>
              <a:rPr lang="zh-CN" altLang="en-US" sz="60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方法</a:t>
            </a:r>
            <a:endParaRPr lang="zh-CN" altLang="en-US" sz="60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6" name="组合 35"/>
          <p:cNvGrpSpPr/>
          <p:nvPr/>
        </p:nvGrpSpPr>
        <p:grpSpPr>
          <a:xfrm>
            <a:off x="0" y="4085590"/>
            <a:ext cx="12192000" cy="2772410"/>
            <a:chOff x="0" y="5835"/>
            <a:chExt cx="19200" cy="4965"/>
          </a:xfrm>
        </p:grpSpPr>
        <p:sp>
          <p:nvSpPr>
            <p:cNvPr id="6" name="任意多边形 5"/>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2" name="任意多边形 11"/>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grpSp>
        <p:nvGrpSpPr>
          <p:cNvPr id="38" name="组合 37"/>
          <p:cNvGrpSpPr/>
          <p:nvPr/>
        </p:nvGrpSpPr>
        <p:grpSpPr>
          <a:xfrm>
            <a:off x="10673080" y="440690"/>
            <a:ext cx="990600" cy="396240"/>
            <a:chOff x="17095" y="476"/>
            <a:chExt cx="1560" cy="624"/>
          </a:xfrm>
          <a:solidFill>
            <a:srgbClr val="ACAECF"/>
          </a:solidFill>
        </p:grpSpPr>
        <p:sp>
          <p:nvSpPr>
            <p:cNvPr id="40" name="椭圆 39"/>
            <p:cNvSpPr/>
            <p:nvPr/>
          </p:nvSpPr>
          <p:spPr>
            <a:xfrm>
              <a:off x="17095"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2" name="椭圆 41"/>
            <p:cNvSpPr/>
            <p:nvPr/>
          </p:nvSpPr>
          <p:spPr>
            <a:xfrm>
              <a:off x="17537"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3" name="椭圆 42"/>
            <p:cNvSpPr/>
            <p:nvPr/>
          </p:nvSpPr>
          <p:spPr>
            <a:xfrm>
              <a:off x="18421"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4" name="椭圆 43"/>
            <p:cNvSpPr/>
            <p:nvPr/>
          </p:nvSpPr>
          <p:spPr>
            <a:xfrm>
              <a:off x="17979"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5" name="椭圆 44"/>
            <p:cNvSpPr/>
            <p:nvPr/>
          </p:nvSpPr>
          <p:spPr>
            <a:xfrm>
              <a:off x="17095"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6" name="椭圆 45"/>
            <p:cNvSpPr/>
            <p:nvPr/>
          </p:nvSpPr>
          <p:spPr>
            <a:xfrm>
              <a:off x="17537"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7" name="椭圆 46"/>
            <p:cNvSpPr/>
            <p:nvPr/>
          </p:nvSpPr>
          <p:spPr>
            <a:xfrm>
              <a:off x="18421"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8" name="椭圆 47"/>
            <p:cNvSpPr/>
            <p:nvPr/>
          </p:nvSpPr>
          <p:spPr>
            <a:xfrm>
              <a:off x="17979"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grpSp>
      <p:sp>
        <p:nvSpPr>
          <p:cNvPr id="49" name="任意多边形 48"/>
          <p:cNvSpPr/>
          <p:nvPr/>
        </p:nvSpPr>
        <p:spPr>
          <a:xfrm flipH="1" flipV="1">
            <a:off x="0" y="0"/>
            <a:ext cx="3636010" cy="1015365"/>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2" h="1900">
                <a:moveTo>
                  <a:pt x="7742" y="0"/>
                </a:moveTo>
                <a:lnTo>
                  <a:pt x="7742" y="1900"/>
                </a:lnTo>
                <a:lnTo>
                  <a:pt x="0" y="1900"/>
                </a:lnTo>
                <a:lnTo>
                  <a:pt x="145" y="1881"/>
                </a:lnTo>
                <a:cubicBezTo>
                  <a:pt x="2818" y="1528"/>
                  <a:pt x="5425" y="917"/>
                  <a:pt x="7621" y="49"/>
                </a:cubicBezTo>
                <a:lnTo>
                  <a:pt x="7742"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pic>
        <p:nvPicPr>
          <p:cNvPr id="13" name="图片 12" descr="31393935333939383b31373432363535313bd1a7cebbc3b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7540" y="1036955"/>
            <a:ext cx="756920" cy="756920"/>
          </a:xfrm>
          <a:prstGeom prst="rect">
            <a:avLst/>
          </a:prstGeom>
        </p:spPr>
      </p:pic>
      <p:sp>
        <p:nvSpPr>
          <p:cNvPr id="14" name="圆角矩形 13"/>
          <p:cNvSpPr/>
          <p:nvPr/>
        </p:nvSpPr>
        <p:spPr>
          <a:xfrm>
            <a:off x="2406000" y="3763645"/>
            <a:ext cx="7380000" cy="28800"/>
          </a:xfrm>
          <a:prstGeom prst="roundRect">
            <a:avLst>
              <a:gd name="adj" fmla="val 50000"/>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custDataLst>
              <p:tags r:id="rId1"/>
            </p:custDataLst>
          </p:nvPr>
        </p:nvSpPr>
        <p:spPr>
          <a:xfrm>
            <a:off x="6788785" y="1774825"/>
            <a:ext cx="4276725" cy="398780"/>
          </a:xfrm>
          <a:prstGeom prst="rect">
            <a:avLst/>
          </a:prstGeom>
        </p:spPr>
        <p:txBody>
          <a:bodyPr wrap="square">
            <a:spAutoFit/>
          </a:bodyPr>
          <a:p>
            <a:pPr lvl="0"/>
            <a:r>
              <a:rPr lang="zh-CN" altLang="en-US" sz="20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多语种社交媒体情感语料库构建</a:t>
            </a:r>
            <a:endParaRPr lang="zh-CN" altLang="en-US" sz="20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
        <p:nvSpPr>
          <p:cNvPr id="15" name="圆角矩形 14"/>
          <p:cNvSpPr/>
          <p:nvPr>
            <p:custDataLst>
              <p:tags r:id="rId2"/>
            </p:custDataLst>
          </p:nvPr>
        </p:nvSpPr>
        <p:spPr>
          <a:xfrm>
            <a:off x="6071870" y="1653540"/>
            <a:ext cx="687705" cy="687705"/>
          </a:xfrm>
          <a:prstGeom prst="roundRect">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 name="文本框 34"/>
          <p:cNvSpPr txBox="1"/>
          <p:nvPr>
            <p:custDataLst>
              <p:tags r:id="rId3"/>
            </p:custDataLst>
          </p:nvPr>
        </p:nvSpPr>
        <p:spPr>
          <a:xfrm>
            <a:off x="5989320" y="1715770"/>
            <a:ext cx="852805" cy="545465"/>
          </a:xfrm>
          <a:prstGeom prst="rect">
            <a:avLst/>
          </a:prstGeom>
          <a:noFill/>
        </p:spPr>
        <p:txBody>
          <a:bodyPr vert="horz" wrap="square" rtlCol="0">
            <a:noAutofit/>
          </a:bodyPr>
          <a:p>
            <a:pPr algn="ctr"/>
            <a:r>
              <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rPr>
              <a:t>01</a:t>
            </a:r>
            <a:endPar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endParaRPr>
          </a:p>
        </p:txBody>
      </p:sp>
      <p:sp>
        <p:nvSpPr>
          <p:cNvPr id="23" name="矩形 22"/>
          <p:cNvSpPr/>
          <p:nvPr>
            <p:custDataLst>
              <p:tags r:id="rId4"/>
            </p:custDataLst>
          </p:nvPr>
        </p:nvSpPr>
        <p:spPr>
          <a:xfrm>
            <a:off x="6788785" y="2677795"/>
            <a:ext cx="3724275" cy="398780"/>
          </a:xfrm>
          <a:prstGeom prst="rect">
            <a:avLst/>
          </a:prstGeom>
        </p:spPr>
        <p:txBody>
          <a:bodyPr wrap="square">
            <a:spAutoFit/>
          </a:bodyPr>
          <a:p>
            <a:pPr lvl="0"/>
            <a:r>
              <a:rPr lang="zh-CN" altLang="en-US" sz="20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中文</a:t>
            </a:r>
            <a:r>
              <a:rPr lang="zh-CN" altLang="en-US" sz="20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社交媒体情感分析</a:t>
            </a:r>
            <a:endParaRPr lang="zh-CN" altLang="en-US" sz="20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
        <p:nvSpPr>
          <p:cNvPr id="27" name="圆角矩形 26"/>
          <p:cNvSpPr/>
          <p:nvPr>
            <p:custDataLst>
              <p:tags r:id="rId5"/>
            </p:custDataLst>
          </p:nvPr>
        </p:nvSpPr>
        <p:spPr>
          <a:xfrm>
            <a:off x="6071870" y="2508885"/>
            <a:ext cx="687705" cy="687705"/>
          </a:xfrm>
          <a:prstGeom prst="roundRect">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文本框 28"/>
          <p:cNvSpPr txBox="1"/>
          <p:nvPr>
            <p:custDataLst>
              <p:tags r:id="rId6"/>
            </p:custDataLst>
          </p:nvPr>
        </p:nvSpPr>
        <p:spPr>
          <a:xfrm>
            <a:off x="5989320" y="2571115"/>
            <a:ext cx="852805" cy="545465"/>
          </a:xfrm>
          <a:prstGeom prst="rect">
            <a:avLst/>
          </a:prstGeom>
          <a:noFill/>
        </p:spPr>
        <p:txBody>
          <a:bodyPr vert="horz" wrap="square" rtlCol="0">
            <a:noAutofit/>
          </a:bodyPr>
          <a:p>
            <a:pPr algn="ctr"/>
            <a:r>
              <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rPr>
              <a:t>02</a:t>
            </a:r>
            <a:endPar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endParaRPr>
          </a:p>
        </p:txBody>
      </p:sp>
      <p:sp>
        <p:nvSpPr>
          <p:cNvPr id="31" name="矩形 30"/>
          <p:cNvSpPr/>
          <p:nvPr>
            <p:custDataLst>
              <p:tags r:id="rId7"/>
            </p:custDataLst>
          </p:nvPr>
        </p:nvSpPr>
        <p:spPr>
          <a:xfrm>
            <a:off x="6788785" y="4314190"/>
            <a:ext cx="3724275" cy="398780"/>
          </a:xfrm>
          <a:prstGeom prst="rect">
            <a:avLst/>
          </a:prstGeom>
        </p:spPr>
        <p:txBody>
          <a:bodyPr wrap="square">
            <a:spAutoFit/>
          </a:bodyPr>
          <a:p>
            <a:pPr lvl="0" algn="l">
              <a:buClrTx/>
              <a:buSzTx/>
              <a:buFontTx/>
            </a:pPr>
            <a:r>
              <a:rPr lang="zh-CN" altLang="en-US" sz="20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多语言文本情感分析</a:t>
            </a:r>
            <a:endParaRPr lang="zh-CN" altLang="en-US" sz="20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
        <p:nvSpPr>
          <p:cNvPr id="33" name="圆角矩形 32"/>
          <p:cNvSpPr/>
          <p:nvPr>
            <p:custDataLst>
              <p:tags r:id="rId8"/>
            </p:custDataLst>
          </p:nvPr>
        </p:nvSpPr>
        <p:spPr>
          <a:xfrm>
            <a:off x="6071870" y="4173855"/>
            <a:ext cx="687705" cy="687705"/>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 name="文本框 33"/>
          <p:cNvSpPr txBox="1"/>
          <p:nvPr>
            <p:custDataLst>
              <p:tags r:id="rId9"/>
            </p:custDataLst>
          </p:nvPr>
        </p:nvSpPr>
        <p:spPr>
          <a:xfrm>
            <a:off x="5989320" y="4245610"/>
            <a:ext cx="852805" cy="545465"/>
          </a:xfrm>
          <a:prstGeom prst="rect">
            <a:avLst/>
          </a:prstGeom>
          <a:noFill/>
        </p:spPr>
        <p:txBody>
          <a:bodyPr vert="horz" wrap="square" rtlCol="0">
            <a:noAutofit/>
          </a:bodyPr>
          <a:p>
            <a:pPr algn="ctr"/>
            <a:r>
              <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rPr>
              <a:t>04</a:t>
            </a:r>
            <a:endPar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endParaRPr>
          </a:p>
        </p:txBody>
      </p:sp>
      <p:sp>
        <p:nvSpPr>
          <p:cNvPr id="36" name="圆角矩形 35"/>
          <p:cNvSpPr/>
          <p:nvPr/>
        </p:nvSpPr>
        <p:spPr>
          <a:xfrm>
            <a:off x="1400175" y="1741805"/>
            <a:ext cx="4235450" cy="3457575"/>
          </a:xfrm>
          <a:prstGeom prst="roundRect">
            <a:avLst>
              <a:gd name="adj" fmla="val 4977"/>
            </a:avLst>
          </a:prstGeom>
          <a:blipFill rotWithShape="1">
            <a:blip r:embed="rId10"/>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7" name="圆角矩形 36"/>
          <p:cNvSpPr/>
          <p:nvPr/>
        </p:nvSpPr>
        <p:spPr>
          <a:xfrm>
            <a:off x="864870" y="3472180"/>
            <a:ext cx="2175510" cy="2091690"/>
          </a:xfrm>
          <a:prstGeom prst="roundRect">
            <a:avLst>
              <a:gd name="adj" fmla="val 4977"/>
            </a:avLst>
          </a:prstGeom>
          <a:solidFill>
            <a:srgbClr val="5E7397">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 name="文本框 37"/>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研究内容与</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方法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40" name="椭圆 39"/>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6118225"/>
            <a:ext cx="12192000" cy="739775"/>
            <a:chOff x="0" y="5835"/>
            <a:chExt cx="19200" cy="4965"/>
          </a:xfrm>
        </p:grpSpPr>
        <p:sp>
          <p:nvSpPr>
            <p:cNvPr id="43" name="任意多边形 42"/>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44" name="任意多边形 43"/>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2" name="矩形 1"/>
          <p:cNvSpPr/>
          <p:nvPr>
            <p:custDataLst>
              <p:tags r:id="rId11"/>
            </p:custDataLst>
          </p:nvPr>
        </p:nvSpPr>
        <p:spPr>
          <a:xfrm>
            <a:off x="6772910" y="3507740"/>
            <a:ext cx="3724275" cy="398780"/>
          </a:xfrm>
          <a:prstGeom prst="rect">
            <a:avLst/>
          </a:prstGeom>
        </p:spPr>
        <p:txBody>
          <a:bodyPr wrap="square">
            <a:spAutoFit/>
          </a:bodyPr>
          <a:p>
            <a:pPr lvl="0" algn="l">
              <a:buClrTx/>
              <a:buSzTx/>
              <a:buFontTx/>
            </a:pPr>
            <a:r>
              <a:rPr lang="zh-CN" altLang="en-US" sz="20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传统蒙文文本情感分析</a:t>
            </a:r>
            <a:endParaRPr lang="zh-CN" altLang="en-US" sz="20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
        <p:nvSpPr>
          <p:cNvPr id="4" name="圆角矩形 3"/>
          <p:cNvSpPr/>
          <p:nvPr>
            <p:custDataLst>
              <p:tags r:id="rId12"/>
            </p:custDataLst>
          </p:nvPr>
        </p:nvSpPr>
        <p:spPr>
          <a:xfrm>
            <a:off x="6055995" y="3357880"/>
            <a:ext cx="687705" cy="687705"/>
          </a:xfrm>
          <a:prstGeom prst="roundRect">
            <a:avLst/>
          </a:prstGeom>
          <a:solidFill>
            <a:srgbClr val="FCB1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文本框 4"/>
          <p:cNvSpPr txBox="1"/>
          <p:nvPr>
            <p:custDataLst>
              <p:tags r:id="rId13"/>
            </p:custDataLst>
          </p:nvPr>
        </p:nvSpPr>
        <p:spPr>
          <a:xfrm>
            <a:off x="5973445" y="3420110"/>
            <a:ext cx="852805" cy="545465"/>
          </a:xfrm>
          <a:prstGeom prst="rect">
            <a:avLst/>
          </a:prstGeom>
          <a:noFill/>
        </p:spPr>
        <p:txBody>
          <a:bodyPr vert="horz" wrap="square" rtlCol="0">
            <a:noAutofit/>
          </a:bodyPr>
          <a:p>
            <a:pPr algn="ctr"/>
            <a:r>
              <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rPr>
              <a:t>03</a:t>
            </a:r>
            <a:endPar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研究内容与</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方法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21" name="椭圆 20"/>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22" name="任意多边形 21"/>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2" name="文本框 1"/>
          <p:cNvSpPr txBox="1"/>
          <p:nvPr/>
        </p:nvSpPr>
        <p:spPr>
          <a:xfrm>
            <a:off x="3936365" y="925195"/>
            <a:ext cx="5236210" cy="460375"/>
          </a:xfrm>
          <a:prstGeom prst="rect">
            <a:avLst/>
          </a:prstGeom>
          <a:noFill/>
        </p:spPr>
        <p:txBody>
          <a:bodyPr wrap="square" rtlCol="0">
            <a:spAutoFit/>
          </a:bodyPr>
          <a:p>
            <a:pPr algn="ctr"/>
            <a:r>
              <a:rPr lang="zh-CN" altLang="en-US" sz="24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多语种社交媒体情感语料库构建</a:t>
            </a:r>
            <a:endParaRPr lang="zh-CN" altLang="en-US" sz="24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
        <p:nvSpPr>
          <p:cNvPr id="4" name="文本框 3"/>
          <p:cNvSpPr txBox="1"/>
          <p:nvPr>
            <p:custDataLst>
              <p:tags r:id="rId1"/>
            </p:custDataLst>
          </p:nvPr>
        </p:nvSpPr>
        <p:spPr>
          <a:xfrm>
            <a:off x="4655185" y="2383790"/>
            <a:ext cx="3806190" cy="417830"/>
          </a:xfrm>
          <a:prstGeom prst="rect">
            <a:avLst/>
          </a:prstGeom>
          <a:noFill/>
        </p:spPr>
        <p:txBody>
          <a:bodyPr wrap="square" rtlCol="0"/>
          <a:lstStyle/>
          <a:p>
            <a:pPr lvl="0" algn="ctr" fontAlgn="auto">
              <a:lnSpc>
                <a:spcPct val="110000"/>
              </a:lnSpc>
              <a:spcBef>
                <a:spcPts val="0"/>
              </a:spcBef>
              <a:buClrTx/>
              <a:buSzTx/>
              <a:buFontTx/>
            </a:pPr>
            <a:r>
              <a:rPr lang="zh-CN" altLang="en-US" sz="1800">
                <a:solidFill>
                  <a:schemeClr val="tx1">
                    <a:lumMod val="75000"/>
                    <a:lumOff val="25000"/>
                  </a:schemeClr>
                </a:solidFill>
                <a:latin typeface="汉仪旗黑-55简" panose="00020600040101010101" charset="-128"/>
                <a:ea typeface="汉仪旗黑-55简" panose="00020600040101010101" charset="-128"/>
                <a:sym typeface="+mn-ea"/>
              </a:rPr>
              <a:t>针对蒙文体系标注资源匮乏的问题</a:t>
            </a:r>
            <a:endParaRPr lang="zh-CN" sz="1800" spc="74">
              <a:solidFill>
                <a:srgbClr val="000000"/>
              </a:solidFill>
              <a:latin typeface="微软雅黑" panose="020B0503020204020204" charset="-122"/>
              <a:ea typeface="微软雅黑" panose="020B0503020204020204" charset="-122"/>
              <a:cs typeface="+mj-ea"/>
              <a:sym typeface="+mn-ea"/>
            </a:endParaRPr>
          </a:p>
        </p:txBody>
      </p:sp>
      <p:sp>
        <p:nvSpPr>
          <p:cNvPr id="18" name="椭圆 17"/>
          <p:cNvSpPr/>
          <p:nvPr>
            <p:custDataLst>
              <p:tags r:id="rId2"/>
            </p:custDataLst>
          </p:nvPr>
        </p:nvSpPr>
        <p:spPr>
          <a:xfrm>
            <a:off x="1854512" y="1970880"/>
            <a:ext cx="1264444" cy="1264444"/>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rPr>
              <a:t>问题</a:t>
            </a:r>
            <a:endPar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5" name="椭圆 4"/>
          <p:cNvSpPr/>
          <p:nvPr>
            <p:custDataLst>
              <p:tags r:id="rId3"/>
            </p:custDataLst>
          </p:nvPr>
        </p:nvSpPr>
        <p:spPr>
          <a:xfrm>
            <a:off x="1897692" y="4083525"/>
            <a:ext cx="1264444" cy="1264444"/>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r>
              <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rPr>
              <a:t>解决方案</a:t>
            </a:r>
            <a:endPar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25" name="文本框 24"/>
          <p:cNvSpPr txBox="1"/>
          <p:nvPr>
            <p:custDataLst>
              <p:tags r:id="rId4"/>
            </p:custDataLst>
          </p:nvPr>
        </p:nvSpPr>
        <p:spPr>
          <a:xfrm>
            <a:off x="3465195" y="4307840"/>
            <a:ext cx="6179185" cy="1256030"/>
          </a:xfrm>
          <a:prstGeom prst="rect">
            <a:avLst/>
          </a:prstGeom>
          <a:noFill/>
        </p:spPr>
        <p:txBody>
          <a:bodyPr wrap="square" rtlCol="0"/>
          <a:p>
            <a:pPr lvl="0" algn="just" fontAlgn="auto">
              <a:lnSpc>
                <a:spcPct val="110000"/>
              </a:lnSpc>
              <a:spcBef>
                <a:spcPts val="0"/>
              </a:spcBef>
              <a:buClrTx/>
              <a:buSzTx/>
              <a:buFontTx/>
            </a:pPr>
            <a:r>
              <a:rPr lang="zh-CN" altLang="en-US" sz="1800">
                <a:solidFill>
                  <a:schemeClr val="tx1">
                    <a:lumMod val="75000"/>
                    <a:lumOff val="25000"/>
                  </a:schemeClr>
                </a:solidFill>
                <a:latin typeface="汉仪旗黑-55简" panose="00020600040101010101" charset="-128"/>
                <a:ea typeface="汉仪旗黑-55简" panose="00020600040101010101" charset="-128"/>
                <a:sym typeface="+mn-ea"/>
              </a:rPr>
              <a:t>构建了涵盖中文、传统蒙文和新蒙文的多语言平行情感语料库，通过机器翻译结合机器校对与人工校对的双重验证机制保障语料质量；并测试了 CNN、BERT 等多种模型在其上的性能表现，验证了语料库的可用性。</a:t>
            </a:r>
            <a:endParaRPr lang="zh-CN" altLang="en-US" sz="18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8" name="下箭头 7"/>
          <p:cNvSpPr/>
          <p:nvPr/>
        </p:nvSpPr>
        <p:spPr>
          <a:xfrm>
            <a:off x="6383655" y="3208020"/>
            <a:ext cx="350520" cy="69342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研究内容与</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方法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15" name="椭圆 14"/>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16" name="任意多边形 15"/>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pic>
        <p:nvPicPr>
          <p:cNvPr id="55" name="图片 54" descr="templates\docerresourceshop\icons\\343435383135323b333733333032353bcec4b5b5"/>
          <p:cNvPicPr>
            <a:picLocks noChangeAspect="1"/>
          </p:cNvPicPr>
          <p:nvPr>
            <p:custDataLst>
              <p:tags r:id="rId1"/>
            </p:custDataLst>
          </p:nvPr>
        </p:nvPicPr>
        <p:blipFill>
          <a:blip r:embed="rId2">
            <a:extLst>
              <a:ext uri="{96DAC541-7B7A-43D3-8B79-37D633B846F1}">
                <asvg:svgBlip xmlns:asvg="http://schemas.microsoft.com/office/drawing/2016/SVG/main" r:embed="rId3"/>
              </a:ext>
            </a:extLst>
          </a:blip>
          <a:stretch>
            <a:fillRect/>
          </a:stretch>
        </p:blipFill>
        <p:spPr>
          <a:xfrm>
            <a:off x="5881370" y="4826000"/>
            <a:ext cx="466090" cy="466090"/>
          </a:xfrm>
          <a:prstGeom prst="rect">
            <a:avLst/>
          </a:prstGeom>
        </p:spPr>
      </p:pic>
      <p:pic>
        <p:nvPicPr>
          <p:cNvPr id="56" name="图片 55" descr="templates\docerresourceshop\icons\\32303038313138363b32303039303531343bd1adbbb7"/>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5875020" y="3761740"/>
            <a:ext cx="494030" cy="494030"/>
          </a:xfrm>
          <a:prstGeom prst="rect">
            <a:avLst/>
          </a:prstGeom>
        </p:spPr>
      </p:pic>
      <p:graphicFrame>
        <p:nvGraphicFramePr>
          <p:cNvPr id="21" name="表格 20"/>
          <p:cNvGraphicFramePr/>
          <p:nvPr>
            <p:custDataLst>
              <p:tags r:id="rId7"/>
            </p:custDataLst>
          </p:nvPr>
        </p:nvGraphicFramePr>
        <p:xfrm>
          <a:off x="7106285" y="1174115"/>
          <a:ext cx="4748530" cy="3609340"/>
        </p:xfrm>
        <a:graphic>
          <a:graphicData uri="http://schemas.openxmlformats.org/drawingml/2006/table">
            <a:tbl>
              <a:tblPr firstRow="1" bandRow="1">
                <a:tableStyleId>{5940675A-B579-460E-94D1-54222C63F5DA}</a:tableStyleId>
              </a:tblPr>
              <a:tblGrid>
                <a:gridCol w="1660525"/>
                <a:gridCol w="797560"/>
                <a:gridCol w="714375"/>
                <a:gridCol w="676275"/>
              </a:tblGrid>
              <a:tr h="575310">
                <a:tc>
                  <a:txBody>
                    <a:bodyPr/>
                    <a:p>
                      <a:pPr indent="0" algn="ctr">
                        <a:buNone/>
                      </a:pPr>
                      <a:r>
                        <a:rPr lang="en-US" sz="1400" b="0">
                          <a:latin typeface="微软雅黑" panose="020B0503020204020204" charset="-122"/>
                          <a:ea typeface="微软雅黑" panose="020B0503020204020204" charset="-122"/>
                          <a:cs typeface="Times New Roman" panose="02020603050405020304" charset="0"/>
                        </a:rPr>
                        <a:t>标签</a:t>
                      </a:r>
                      <a:endParaRPr lang="en-US" altLang="en-US" sz="1400" b="0">
                        <a:latin typeface="微软雅黑" panose="020B0503020204020204" charset="-122"/>
                        <a:ea typeface="微软雅黑" panose="020B0503020204020204" charset="-122"/>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lumMod val="60000"/>
                        <a:lumOff val="40000"/>
                      </a:schemeClr>
                    </a:solidFill>
                  </a:tcPr>
                </a:tc>
                <a:tc>
                  <a:txBody>
                    <a:bodyPr/>
                    <a:p>
                      <a:pPr indent="0" algn="ctr">
                        <a:buNone/>
                      </a:pPr>
                      <a:r>
                        <a:rPr lang="en-US" sz="1400" b="0">
                          <a:latin typeface="微软雅黑" panose="020B0503020204020204" charset="-122"/>
                          <a:ea typeface="微软雅黑" panose="020B0503020204020204" charset="-122"/>
                          <a:cs typeface="Times New Roman" panose="02020603050405020304" charset="0"/>
                        </a:rPr>
                        <a:t>训练集</a:t>
                      </a:r>
                      <a:endParaRPr lang="en-US" altLang="en-US" sz="1400" b="0">
                        <a:latin typeface="微软雅黑" panose="020B0503020204020204" charset="-122"/>
                        <a:ea typeface="微软雅黑" panose="020B0503020204020204" charset="-122"/>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lumMod val="60000"/>
                        <a:lumOff val="40000"/>
                      </a:schemeClr>
                    </a:solidFill>
                  </a:tcPr>
                </a:tc>
                <a:tc>
                  <a:txBody>
                    <a:bodyPr/>
                    <a:p>
                      <a:pPr algn="ctr">
                        <a:buClrTx/>
                        <a:buSzTx/>
                        <a:buFontTx/>
                        <a:buNone/>
                      </a:pPr>
                      <a:r>
                        <a:rPr lang="en-US" sz="1400" b="0">
                          <a:latin typeface="微软雅黑" panose="020B0503020204020204" charset="-122"/>
                          <a:ea typeface="微软雅黑" panose="020B0503020204020204" charset="-122"/>
                          <a:cs typeface="Times New Roman" panose="02020603050405020304" charset="0"/>
                        </a:rPr>
                        <a:t>验证集</a:t>
                      </a:r>
                      <a:endParaRPr lang="en-US" sz="1400" b="0">
                        <a:latin typeface="微软雅黑" panose="020B0503020204020204" charset="-122"/>
                        <a:ea typeface="微软雅黑" panose="020B0503020204020204" charset="-122"/>
                        <a:cs typeface="Times New Roman" panose="02020603050405020304" charset="0"/>
                      </a:endParaRPr>
                    </a:p>
                  </a:txBody>
                  <a:tcPr marL="68580" marR="68580" marT="0" marB="0" vert="horz" anchor="ctr" anchorCtr="0">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60000"/>
                        <a:lumOff val="40000"/>
                      </a:schemeClr>
                    </a:solidFill>
                  </a:tcPr>
                </a:tc>
                <a:tc>
                  <a:txBody>
                    <a:bodyPr/>
                    <a:p>
                      <a:pPr algn="ctr">
                        <a:buClrTx/>
                        <a:buSzTx/>
                        <a:buFontTx/>
                        <a:buNone/>
                      </a:pPr>
                      <a:r>
                        <a:rPr lang="en-US" sz="1400" b="0">
                          <a:latin typeface="微软雅黑" panose="020B0503020204020204" charset="-122"/>
                          <a:ea typeface="微软雅黑" panose="020B0503020204020204" charset="-122"/>
                          <a:cs typeface="Times New Roman" panose="02020603050405020304" charset="0"/>
                        </a:rPr>
                        <a:t>测试集</a:t>
                      </a:r>
                      <a:endParaRPr lang="en-US" sz="1400" b="0">
                        <a:latin typeface="微软雅黑" panose="020B0503020204020204" charset="-122"/>
                        <a:ea typeface="微软雅黑" panose="020B0503020204020204" charset="-122"/>
                        <a:cs typeface="Times New Roman" panose="02020603050405020304" charset="0"/>
                      </a:endParaRPr>
                    </a:p>
                  </a:txBody>
                  <a:tcPr marL="68580" marR="68580" marT="0" marB="0" vert="horz" anchor="ctr" anchorCtr="0">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60000"/>
                        <a:lumOff val="40000"/>
                      </a:schemeClr>
                    </a:solidFill>
                  </a:tcPr>
                </a:tc>
              </a:tr>
              <a:tr h="628015">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angry</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16865</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586</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1580</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a:solidFill>
                        <a:schemeClr val="tx1"/>
                      </a:solidFill>
                      <a:prstDash val="solid"/>
                    </a:lnB>
                    <a:lnTlToBr>
                      <a:noFill/>
                    </a:lnTlToBr>
                    <a:lnBlToTr>
                      <a:noFill/>
                    </a:lnBlToTr>
                    <a:solidFill>
                      <a:schemeClr val="accent1">
                        <a:lumMod val="40000"/>
                        <a:lumOff val="60000"/>
                      </a:schemeClr>
                    </a:solidFill>
                  </a:tcPr>
                </a:tc>
              </a:tr>
              <a:tr h="480695">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neutral</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5749</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420</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990</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r>
              <a:tr h="479425">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happy</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18445</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391</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1018</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r>
              <a:tr h="481965">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sad</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17595</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346</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900</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r>
              <a:tr h="481965">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surprise</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2994</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170</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374</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r>
              <a:tr h="481965">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fear</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1814</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87</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210</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r>
            </a:tbl>
          </a:graphicData>
        </a:graphic>
      </p:graphicFrame>
      <p:pic>
        <p:nvPicPr>
          <p:cNvPr id="8" name="图片 7"/>
          <p:cNvPicPr>
            <a:picLocks noChangeAspect="1"/>
          </p:cNvPicPr>
          <p:nvPr/>
        </p:nvPicPr>
        <p:blipFill>
          <a:blip r:embed="rId8"/>
          <a:stretch>
            <a:fillRect/>
          </a:stretch>
        </p:blipFill>
        <p:spPr>
          <a:xfrm>
            <a:off x="535305" y="1007110"/>
            <a:ext cx="5833745" cy="3943350"/>
          </a:xfrm>
          <a:prstGeom prst="rect">
            <a:avLst/>
          </a:prstGeom>
        </p:spPr>
      </p:pic>
      <p:sp>
        <p:nvSpPr>
          <p:cNvPr id="9" name="文本框 8"/>
          <p:cNvSpPr txBox="1"/>
          <p:nvPr/>
        </p:nvSpPr>
        <p:spPr>
          <a:xfrm>
            <a:off x="2180590" y="5152390"/>
            <a:ext cx="2310130" cy="297180"/>
          </a:xfrm>
          <a:prstGeom prst="rect">
            <a:avLst/>
          </a:prstGeom>
          <a:noFill/>
        </p:spPr>
        <p:txBody>
          <a:bodyPr wrap="square" rtlCol="0">
            <a:spAutoFit/>
          </a:bodyPr>
          <a:p>
            <a:r>
              <a:rPr lang="zh-CN" altLang="en-US" sz="1335">
                <a:solidFill>
                  <a:schemeClr val="tx1">
                    <a:lumMod val="75000"/>
                    <a:lumOff val="25000"/>
                  </a:schemeClr>
                </a:solidFill>
                <a:latin typeface="汉仪旗黑-55简" panose="00020600040101010101" charset="-128"/>
                <a:ea typeface="汉仪旗黑-55简" panose="00020600040101010101" charset="-128"/>
              </a:rPr>
              <a:t>语料库构建流程图</a:t>
            </a:r>
            <a:endParaRPr lang="zh-CN" altLang="en-US">
              <a:latin typeface="微软雅黑" panose="020B0503020204020204" charset="-122"/>
              <a:ea typeface="微软雅黑" panose="020B0503020204020204" charset="-122"/>
            </a:endParaRPr>
          </a:p>
        </p:txBody>
      </p:sp>
      <p:sp>
        <p:nvSpPr>
          <p:cNvPr id="10" name="文本框 9"/>
          <p:cNvSpPr txBox="1"/>
          <p:nvPr/>
        </p:nvSpPr>
        <p:spPr>
          <a:xfrm>
            <a:off x="8283575" y="5152390"/>
            <a:ext cx="4064000" cy="297180"/>
          </a:xfrm>
          <a:prstGeom prst="rect">
            <a:avLst/>
          </a:prstGeom>
          <a:noFill/>
        </p:spPr>
        <p:txBody>
          <a:bodyPr wrap="square" rtlCol="0">
            <a:spAutoFit/>
          </a:bodyPr>
          <a:p>
            <a:r>
              <a:rPr lang="zh-CN" altLang="en-US" sz="1335">
                <a:solidFill>
                  <a:schemeClr val="tx1">
                    <a:lumMod val="75000"/>
                    <a:lumOff val="25000"/>
                  </a:schemeClr>
                </a:solidFill>
                <a:latin typeface="汉仪旗黑-55简" panose="00020600040101010101" charset="-128"/>
                <a:ea typeface="汉仪旗黑-55简" panose="00020600040101010101" charset="-128"/>
              </a:rPr>
              <a:t>合并后数据标签分布情况</a:t>
            </a:r>
            <a:endParaRPr lang="zh-CN" altLang="en-US">
              <a:latin typeface="微软雅黑" panose="020B0503020204020204" charset="-122"/>
              <a:ea typeface="微软雅黑" panose="020B0503020204020204" charset="-122"/>
            </a:endParaRPr>
          </a:p>
        </p:txBody>
      </p:sp>
      <p:sp>
        <p:nvSpPr>
          <p:cNvPr id="2" name="文本框 1"/>
          <p:cNvSpPr txBox="1"/>
          <p:nvPr/>
        </p:nvSpPr>
        <p:spPr>
          <a:xfrm>
            <a:off x="1337310" y="5768975"/>
            <a:ext cx="8964295" cy="521970"/>
          </a:xfrm>
          <a:prstGeom prst="rect">
            <a:avLst/>
          </a:prstGeom>
          <a:noFill/>
        </p:spPr>
        <p:txBody>
          <a:bodyPr wrap="square" rtlCol="0">
            <a:spAutoFit/>
          </a:bodyPr>
          <a:p>
            <a:r>
              <a:rPr lang="en-US" altLang="zh-CN"/>
              <a:t>[1]</a:t>
            </a:r>
            <a:r>
              <a:rPr lang="zh-CN" altLang="en-US"/>
              <a:t>张浩</a:t>
            </a:r>
            <a:r>
              <a:rPr lang="en-US" altLang="zh-CN"/>
              <a:t>,</a:t>
            </a:r>
            <a:r>
              <a:rPr lang="zh-CN" altLang="en-US"/>
              <a:t>李世琪</a:t>
            </a:r>
            <a:r>
              <a:rPr lang="en-US" altLang="zh-CN"/>
              <a:t>,</a:t>
            </a:r>
            <a:r>
              <a:rPr lang="zh-CN" altLang="en-US"/>
              <a:t>刁宇峰</a:t>
            </a:r>
            <a:r>
              <a:rPr lang="en-US" altLang="zh-CN"/>
              <a:t>,</a:t>
            </a:r>
            <a:r>
              <a:rPr lang="zh-CN" altLang="en-US"/>
              <a:t>等</a:t>
            </a:r>
            <a:r>
              <a:rPr lang="en-US" altLang="zh-CN"/>
              <a:t>.</a:t>
            </a:r>
            <a:r>
              <a:rPr lang="zh-CN" altLang="en-US"/>
              <a:t>多语言平行情感语料库的构建与研究</a:t>
            </a:r>
            <a:r>
              <a:rPr lang="en-US" altLang="zh-CN"/>
              <a:t>[J].</a:t>
            </a:r>
            <a:r>
              <a:rPr lang="zh-CN" altLang="en-US"/>
              <a:t>计算机科学与探索</a:t>
            </a:r>
            <a:r>
              <a:rPr lang="en-US" altLang="zh-CN"/>
              <a:t>,2025,19(09):2506-2519.</a:t>
            </a:r>
            <a:endParaRPr lang="en-US" altLang="zh-CN"/>
          </a:p>
          <a:p>
            <a:endParaRPr lang="en-US" altLang="zh-CN"/>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与方法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15" name="椭圆 14"/>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16" name="任意多边形 15"/>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pic>
        <p:nvPicPr>
          <p:cNvPr id="55" name="图片 54" descr="templates\docerresourceshop\icons\\343435383135323b333733333032353bcec4b5b5"/>
          <p:cNvPicPr>
            <a:picLocks noChangeAspect="1"/>
          </p:cNvPicPr>
          <p:nvPr>
            <p:custDataLst>
              <p:tags r:id="rId1"/>
            </p:custDataLst>
          </p:nvPr>
        </p:nvPicPr>
        <p:blipFill>
          <a:blip/>
          <a:stretch>
            <a:fillRect/>
          </a:stretch>
        </p:blipFill>
        <p:spPr>
          <a:xfrm>
            <a:off x="5881370" y="4826000"/>
            <a:ext cx="466090" cy="466090"/>
          </a:xfrm>
          <a:prstGeom prst="rect">
            <a:avLst/>
          </a:prstGeom>
        </p:spPr>
      </p:pic>
      <p:pic>
        <p:nvPicPr>
          <p:cNvPr id="56" name="图片 55" descr="templates\docerresourceshop\icons\\32303038313138363b32303039303531343bd1adbbb7"/>
          <p:cNvPicPr>
            <a:picLocks noChangeAspect="1"/>
          </p:cNvPicPr>
          <p:nvPr>
            <p:custDataLst>
              <p:tags r:id="rId2"/>
            </p:custDataLst>
          </p:nvPr>
        </p:nvPicPr>
        <p:blipFill>
          <a:blip/>
          <a:stretch>
            <a:fillRect/>
          </a:stretch>
        </p:blipFill>
        <p:spPr>
          <a:xfrm>
            <a:off x="5875020" y="3761740"/>
            <a:ext cx="494030" cy="494030"/>
          </a:xfrm>
          <a:prstGeom prst="rect">
            <a:avLst/>
          </a:prstGeom>
        </p:spPr>
      </p:pic>
      <p:graphicFrame>
        <p:nvGraphicFramePr>
          <p:cNvPr id="2" name="表格 1"/>
          <p:cNvGraphicFramePr/>
          <p:nvPr>
            <p:custDataLst>
              <p:tags r:id="rId3"/>
            </p:custDataLst>
          </p:nvPr>
        </p:nvGraphicFramePr>
        <p:xfrm>
          <a:off x="2842895" y="1041400"/>
          <a:ext cx="6558280" cy="4564380"/>
        </p:xfrm>
        <a:graphic>
          <a:graphicData uri="http://schemas.openxmlformats.org/drawingml/2006/table">
            <a:tbl>
              <a:tblPr/>
              <a:tblGrid>
                <a:gridCol w="973455"/>
                <a:gridCol w="1906270"/>
                <a:gridCol w="1838960"/>
                <a:gridCol w="1839595"/>
              </a:tblGrid>
              <a:tr h="254000">
                <a:tc>
                  <a:txBody>
                    <a:bodyPr/>
                    <a:p>
                      <a:pPr marL="0" indent="0" algn="ctr">
                        <a:lnSpc>
                          <a:spcPct val="110000"/>
                        </a:lnSpc>
                        <a:spcBef>
                          <a:spcPct val="0"/>
                        </a:spcBef>
                        <a:spcAft>
                          <a:spcPct val="0"/>
                        </a:spcAft>
                      </a:pPr>
                      <a:r>
                        <a:rPr lang="zh-CN" sz="1000">
                          <a:latin typeface="宋体" panose="02010600030101010101" pitchFamily="2" charset="-122"/>
                          <a:ea typeface="宋体" panose="02010600030101010101" pitchFamily="2" charset="-122"/>
                        </a:rPr>
                        <a:t>类别</a:t>
                      </a:r>
                      <a:endParaRPr lang="zh-CN" sz="1000">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solidFill>
                      <a:srgbClr val="FFFFFF"/>
                    </a:solidFill>
                  </a:tcPr>
                </a:tc>
                <a:tc>
                  <a:txBody>
                    <a:bodyPr/>
                    <a:p>
                      <a:pPr marL="0" indent="0" algn="ctr">
                        <a:lnSpc>
                          <a:spcPct val="110000"/>
                        </a:lnSpc>
                        <a:spcBef>
                          <a:spcPct val="0"/>
                        </a:spcBef>
                        <a:spcAft>
                          <a:spcPct val="0"/>
                        </a:spcAft>
                      </a:pPr>
                      <a:r>
                        <a:rPr lang="zh-CN" sz="1000">
                          <a:latin typeface="宋体" panose="02010600030101010101" pitchFamily="2" charset="-122"/>
                          <a:ea typeface="宋体" panose="02010600030101010101" pitchFamily="2" charset="-122"/>
                        </a:rPr>
                        <a:t>文本内容（中文）</a:t>
                      </a:r>
                      <a:endParaRPr lang="zh-CN" sz="1000">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solidFill>
                      <a:srgbClr val="FFFFFF"/>
                    </a:solidFill>
                  </a:tcPr>
                </a:tc>
                <a:tc>
                  <a:txBody>
                    <a:bodyPr/>
                    <a:p>
                      <a:pPr marL="0" indent="0" algn="ctr">
                        <a:lnSpc>
                          <a:spcPct val="110000"/>
                        </a:lnSpc>
                        <a:spcBef>
                          <a:spcPct val="0"/>
                        </a:spcBef>
                        <a:spcAft>
                          <a:spcPct val="0"/>
                        </a:spcAft>
                      </a:pPr>
                      <a:r>
                        <a:rPr lang="zh-CN" sz="1000">
                          <a:latin typeface="宋体" panose="02010600030101010101" pitchFamily="2" charset="-122"/>
                          <a:ea typeface="宋体" panose="02010600030101010101" pitchFamily="2" charset="-122"/>
                        </a:rPr>
                        <a:t>文本内容（传统蒙文）</a:t>
                      </a:r>
                      <a:endParaRPr lang="zh-CN" sz="1000">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solidFill>
                      <a:srgbClr val="FFFFFF"/>
                    </a:solidFill>
                  </a:tcPr>
                </a:tc>
                <a:tc>
                  <a:txBody>
                    <a:bodyPr/>
                    <a:p>
                      <a:pPr marL="0" indent="0" algn="ctr">
                        <a:lnSpc>
                          <a:spcPct val="110000"/>
                        </a:lnSpc>
                        <a:spcBef>
                          <a:spcPct val="0"/>
                        </a:spcBef>
                        <a:spcAft>
                          <a:spcPct val="0"/>
                        </a:spcAft>
                      </a:pPr>
                      <a:r>
                        <a:rPr lang="zh-CN" sz="1000">
                          <a:latin typeface="宋体" panose="02010600030101010101" pitchFamily="2" charset="-122"/>
                          <a:ea typeface="宋体" panose="02010600030101010101" pitchFamily="2" charset="-122"/>
                        </a:rPr>
                        <a:t>文本内容（新蒙文）</a:t>
                      </a:r>
                      <a:endParaRPr lang="zh-CN" sz="1000">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solidFill>
                      <a:srgbClr val="FFFFFF"/>
                    </a:solidFill>
                  </a:tcPr>
                </a:tc>
              </a:tr>
              <a:tr h="630555">
                <a:tc>
                  <a:txBody>
                    <a:bodyPr/>
                    <a:p>
                      <a:pPr marL="0" indent="0" algn="ctr">
                        <a:lnSpc>
                          <a:spcPct val="110000"/>
                        </a:lnSpc>
                        <a:spcBef>
                          <a:spcPct val="0"/>
                        </a:spcBef>
                        <a:spcAft>
                          <a:spcPct val="0"/>
                        </a:spcAft>
                      </a:pPr>
                      <a:r>
                        <a:rPr lang="en-US" altLang="zh-CN" sz="900">
                          <a:latin typeface="Times New Roman" panose="02020603050405020304"/>
                          <a:ea typeface="方正书宋简体" panose="02000000000000000000" charset="-122"/>
                        </a:rPr>
                        <a:t>happy</a:t>
                      </a:r>
                      <a:endParaRPr lang="en-US" altLang="zh-CN" sz="900">
                        <a:latin typeface="Times New Roman" panose="02020603050405020304"/>
                        <a:ea typeface="方正书宋简体" panose="02000000000000000000" charset="-122"/>
                      </a:endParaRPr>
                    </a:p>
                  </a:txBody>
                  <a:tcPr marL="68580" marR="68580" marT="0" marB="0" anchor="ctr" anchorCtr="0">
                    <a:lnL>
                      <a:noFill/>
                    </a:lnL>
                    <a:lnR>
                      <a:noFill/>
                    </a:lnR>
                    <a:lnT w="9525" cap="flat" cmpd="sng">
                      <a:solidFill>
                        <a:srgbClr val="000000"/>
                      </a:solidFill>
                      <a:prstDash val="solid"/>
                      <a:headEnd type="none" w="med" len="med"/>
                      <a:tailEnd type="none" w="med" len="med"/>
                    </a:lnT>
                    <a:lnB>
                      <a:noFill/>
                    </a:lnB>
                    <a:solidFill>
                      <a:srgbClr val="FFFFFF"/>
                    </a:solidFill>
                  </a:tcPr>
                </a:tc>
                <a:tc>
                  <a:txBody>
                    <a:bodyPr/>
                    <a:p>
                      <a:pPr marL="0" indent="0" algn="ctr">
                        <a:lnSpc>
                          <a:spcPct val="110000"/>
                        </a:lnSpc>
                        <a:spcBef>
                          <a:spcPct val="0"/>
                        </a:spcBef>
                        <a:spcAft>
                          <a:spcPct val="0"/>
                        </a:spcAft>
                      </a:pPr>
                      <a:r>
                        <a:rPr lang="zh-CN" sz="1200">
                          <a:latin typeface="方正书宋简体" panose="02000000000000000000" charset="-122"/>
                          <a:ea typeface="方正书宋简体" panose="02000000000000000000" charset="-122"/>
                        </a:rPr>
                        <a:t>早上吼</a:t>
                      </a:r>
                      <a:r>
                        <a:rPr lang="en-US" altLang="zh-CN" sz="1200">
                          <a:latin typeface="方正书宋简体" panose="02000000000000000000" charset="-122"/>
                          <a:ea typeface="方正书宋简体" panose="02000000000000000000" charset="-122"/>
                        </a:rPr>
                        <a:t>~</a:t>
                      </a:r>
                      <a:r>
                        <a:rPr lang="zh-CN" altLang="en-US" sz="1200">
                          <a:latin typeface="方正书宋简体" panose="02000000000000000000" charset="-122"/>
                          <a:ea typeface="方正书宋简体" panose="02000000000000000000" charset="-122"/>
                        </a:rPr>
                        <a:t>白云蓝天</a:t>
                      </a:r>
                      <a:r>
                        <a:rPr lang="en-US" altLang="zh-CN" sz="1200">
                          <a:latin typeface="方正书宋简体" panose="02000000000000000000" charset="-122"/>
                          <a:ea typeface="方正书宋简体" panose="02000000000000000000" charset="-122"/>
                        </a:rPr>
                        <a:t>~</a:t>
                      </a:r>
                      <a:r>
                        <a:rPr lang="zh-CN" altLang="en-US" sz="1200">
                          <a:latin typeface="方正书宋简体" panose="02000000000000000000" charset="-122"/>
                          <a:ea typeface="方正书宋简体" panose="02000000000000000000" charset="-122"/>
                        </a:rPr>
                        <a:t>今天的心情是美美哒</a:t>
                      </a:r>
                      <a:r>
                        <a:rPr lang="en-US" altLang="zh-CN" sz="1200">
                          <a:latin typeface="方正书宋简体" panose="02000000000000000000" charset="-122"/>
                          <a:ea typeface="方正书宋简体" panose="02000000000000000000" charset="-122"/>
                        </a:rPr>
                        <a:t>~</a:t>
                      </a:r>
                      <a:endParaRPr lang="en-US" altLang="zh-CN" sz="1200">
                        <a:latin typeface="方正书宋简体" panose="02000000000000000000" charset="-122"/>
                        <a:ea typeface="方正书宋简体" panose="02000000000000000000" charset="-122"/>
                      </a:endParaRPr>
                    </a:p>
                  </a:txBody>
                  <a:tcPr marL="68580" marR="68580" marT="0" marB="0" anchor="ctr" anchorCtr="0">
                    <a:lnL>
                      <a:noFill/>
                    </a:lnL>
                    <a:lnR>
                      <a:noFill/>
                    </a:lnR>
                    <a:lnT w="9525" cap="flat" cmpd="sng">
                      <a:solidFill>
                        <a:srgbClr val="000000"/>
                      </a:solidFill>
                      <a:prstDash val="solid"/>
                      <a:headEnd type="none" w="med" len="med"/>
                      <a:tailEnd type="none" w="med" len="med"/>
                    </a:lnT>
                    <a:lnB>
                      <a:noFill/>
                    </a:lnB>
                    <a:solidFill>
                      <a:srgbClr val="FFFFFF"/>
                    </a:solidFill>
                  </a:tcPr>
                </a:tc>
                <a:tc>
                  <a:txBody>
                    <a:bodyPr/>
                    <a:p>
                      <a:pPr marL="0" indent="0" algn="l">
                        <a:lnSpc>
                          <a:spcPct val="110000"/>
                        </a:lnSpc>
                        <a:spcBef>
                          <a:spcPct val="0"/>
                        </a:spcBef>
                        <a:spcAft>
                          <a:spcPct val="0"/>
                        </a:spcAft>
                      </a:pPr>
                      <a:r>
                        <a:rPr lang="en-US" altLang="zh-CN" sz="1200">
                          <a:latin typeface="Times New Roman" panose="02020603050405020304" charset="0"/>
                          <a:ea typeface="方正书宋简体" panose="02000000000000000000" charset="-122"/>
                          <a:cs typeface="Times New Roman" panose="02020603050405020304" charset="0"/>
                        </a:rPr>
                        <a:t>ᠥᠷᠯᠥᠭᠡ ᠶᠢᠨ ᠬᠠᠰᠬᠢᠷᠤᠯᠲᠠ ~ ᠴᠠᠭᠠᠨ ᠡᠭᠦᠯᠡ ᠬᠥᠬᠡ ᠲᠩᠷᠢ ~ ᠥᠨᠥᠳᠦᠷ ᠦᠨ ᠰᠡᠳᠬᠢᠯᠭᠡ ᠪᠣᠯ ᠭᠣᠶᠣ ᠰᠠᠶᠢᠬᠠᠨ ~</a:t>
                      </a:r>
                      <a:endParaRPr lang="en-US" altLang="zh-CN" sz="1200">
                        <a:latin typeface="Times New Roman" panose="02020603050405020304" charset="0"/>
                        <a:ea typeface="方正书宋简体" panose="02000000000000000000" charset="-122"/>
                        <a:cs typeface="Times New Roman" panose="02020603050405020304" charset="0"/>
                      </a:endParaRPr>
                    </a:p>
                  </a:txBody>
                  <a:tcPr marL="68580" marR="68580" marT="0" marB="0" anchor="ctr" anchorCtr="0">
                    <a:lnL>
                      <a:noFill/>
                    </a:lnL>
                    <a:lnR>
                      <a:noFill/>
                    </a:lnR>
                    <a:lnT w="9525" cap="flat" cmpd="sng">
                      <a:solidFill>
                        <a:srgbClr val="000000"/>
                      </a:solidFill>
                      <a:prstDash val="solid"/>
                      <a:headEnd type="none" w="med" len="med"/>
                      <a:tailEnd type="none" w="med" len="med"/>
                    </a:lnT>
                    <a:lnB>
                      <a:noFill/>
                    </a:lnB>
                    <a:solidFill>
                      <a:srgbClr val="FFFFFF"/>
                    </a:solidFill>
                  </a:tcPr>
                </a:tc>
                <a:tc>
                  <a:txBody>
                    <a:bodyPr/>
                    <a:p>
                      <a:pPr marL="0" indent="0" algn="l">
                        <a:lnSpc>
                          <a:spcPct val="110000"/>
                        </a:lnSpc>
                        <a:spcBef>
                          <a:spcPct val="0"/>
                        </a:spcBef>
                        <a:spcAft>
                          <a:spcPct val="0"/>
                        </a:spcAft>
                      </a:pPr>
                      <a:r>
                        <a:rPr lang="en-US" altLang="zh-CN" sz="1000">
                          <a:latin typeface="Times New Roman" panose="02020603050405020304"/>
                          <a:ea typeface="方正书宋简体" panose="02000000000000000000" charset="-122"/>
                        </a:rPr>
                        <a:t>Өглөөний архирах ~ цагаан үүл, хөх тэнгэр ~ Өнөөдөр надад сайхан санагдаж байна ~</a:t>
                      </a:r>
                      <a:endParaRPr lang="en-US" altLang="zh-CN" sz="1000">
                        <a:latin typeface="Times New Roman" panose="02020603050405020304"/>
                        <a:ea typeface="方正书宋简体" panose="02000000000000000000" charset="-122"/>
                      </a:endParaRPr>
                    </a:p>
                  </a:txBody>
                  <a:tcPr marL="68580" marR="68580" marT="0" marB="0" anchor="ctr" anchorCtr="0">
                    <a:lnL>
                      <a:noFill/>
                    </a:lnL>
                    <a:lnR>
                      <a:noFill/>
                    </a:lnR>
                    <a:lnT w="9525" cap="flat" cmpd="sng">
                      <a:solidFill>
                        <a:srgbClr val="000000"/>
                      </a:solidFill>
                      <a:prstDash val="solid"/>
                      <a:headEnd type="none" w="med" len="med"/>
                      <a:tailEnd type="none" w="med" len="med"/>
                    </a:lnT>
                    <a:lnB>
                      <a:noFill/>
                    </a:lnB>
                    <a:solidFill>
                      <a:srgbClr val="FFFFFF"/>
                    </a:solidFill>
                  </a:tcPr>
                </a:tc>
              </a:tr>
              <a:tr h="946785">
                <a:tc>
                  <a:txBody>
                    <a:bodyPr/>
                    <a:p>
                      <a:pPr marL="0" indent="0" algn="ctr">
                        <a:lnSpc>
                          <a:spcPct val="110000"/>
                        </a:lnSpc>
                        <a:spcBef>
                          <a:spcPct val="0"/>
                        </a:spcBef>
                        <a:spcAft>
                          <a:spcPct val="0"/>
                        </a:spcAft>
                      </a:pPr>
                      <a:r>
                        <a:rPr lang="en-US" altLang="zh-CN" sz="900">
                          <a:latin typeface="Times New Roman" panose="02020603050405020304"/>
                          <a:ea typeface="方正书宋简体" panose="02000000000000000000" charset="-122"/>
                        </a:rPr>
                        <a:t>angry</a:t>
                      </a:r>
                      <a:endParaRPr lang="en-US" altLang="zh-CN" sz="900">
                        <a:latin typeface="Times New Roman" panose="02020603050405020304"/>
                        <a:ea typeface="方正书宋简体" panose="02000000000000000000"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10000"/>
                        </a:lnSpc>
                        <a:spcBef>
                          <a:spcPct val="0"/>
                        </a:spcBef>
                        <a:spcAft>
                          <a:spcPct val="0"/>
                        </a:spcAft>
                      </a:pPr>
                      <a:r>
                        <a:rPr lang="zh-CN" sz="1200">
                          <a:latin typeface="方正书宋简体" panose="02000000000000000000" charset="-122"/>
                          <a:ea typeface="方正书宋简体" panose="02000000000000000000" charset="-122"/>
                        </a:rPr>
                        <a:t>心情超不爽的～不知道谁装不记得还是真不记得了～</a:t>
                      </a:r>
                      <a:endParaRPr lang="zh-CN" sz="1200">
                        <a:latin typeface="方正书宋简体" panose="02000000000000000000" charset="-122"/>
                        <a:ea typeface="方正书宋简体" panose="02000000000000000000" charset="-122"/>
                      </a:endParaRPr>
                    </a:p>
                  </a:txBody>
                  <a:tcPr marL="68580" marR="68580" marT="0" marB="0" anchor="ctr" anchorCtr="0">
                    <a:lnL>
                      <a:noFill/>
                    </a:lnL>
                    <a:lnR>
                      <a:noFill/>
                    </a:lnR>
                    <a:lnT>
                      <a:noFill/>
                    </a:lnT>
                    <a:lnB>
                      <a:noFill/>
                    </a:lnB>
                    <a:solidFill>
                      <a:srgbClr val="FFFFFF"/>
                    </a:solidFill>
                  </a:tcPr>
                </a:tc>
                <a:tc>
                  <a:txBody>
                    <a:bodyPr/>
                    <a:p>
                      <a:pPr marL="0" indent="0" algn="l">
                        <a:lnSpc>
                          <a:spcPct val="110000"/>
                        </a:lnSpc>
                        <a:spcBef>
                          <a:spcPct val="0"/>
                        </a:spcBef>
                        <a:spcAft>
                          <a:spcPct val="0"/>
                        </a:spcAft>
                      </a:pPr>
                      <a:r>
                        <a:rPr lang="en-US" altLang="zh-CN" sz="1200">
                          <a:latin typeface="Times New Roman" panose="02020603050405020304" charset="0"/>
                          <a:ea typeface="方正书宋简体" panose="02000000000000000000" charset="-122"/>
                          <a:cs typeface="Times New Roman" panose="02020603050405020304" charset="0"/>
                        </a:rPr>
                        <a:t>ᠰᠡᠳᠬᠢᠯ ᠰᠠᠨᠠᠭ᠎ᠠ ᠲᠤᠶᠢᠯ ᠤᠨ ᠲᠠᠭᠠᠯᠠᠮᠵᠢ ᠦᠭᠡᠢ ᠪᠠᠶᠢᠨ᠎ᠠ~ᠬᠡᠨ ᠨᠢ ᠴᠡᠭᠡᠵᠢᠯᠡᠵᠦ ᠪᠠᠶᠢᠬᠤ ᠦᠭᠡᠢ ᠪᠡᠷ ᠣᠪᠯᠠᠵᠤ ᠪᠠᠶᠢᠬᠤ ᠶᠤᠮ ᠤᠣ᠂ ᠡᠰᠡᠬᠦᠯ᠎ᠡ ᠦᠨᠡᠬᠡᠷ ᠴᠡᠭᠡᠵᠢᠯᠡᠵᠦ ᠪᠠᠶᠢᠬᠤ ᠦᠭᠡᠢ ᠪᠡᠷ ᠣᠪᠯᠠᠵᠤ ᠪᠠᠶᠢᠬᠤ ᠶᠢ ᠮᠡᠳᠡᠬᠦ ᠦᠭᠡᠢ~</a:t>
                      </a:r>
                      <a:endParaRPr lang="en-US" altLang="zh-CN" sz="1200">
                        <a:latin typeface="Times New Roman" panose="02020603050405020304" charset="0"/>
                        <a:ea typeface="方正书宋简体" panose="02000000000000000000" charset="-122"/>
                        <a:cs typeface="Times New Roman" panose="02020603050405020304" charset="0"/>
                      </a:endParaRPr>
                    </a:p>
                  </a:txBody>
                  <a:tcPr marL="68580" marR="68580" marT="0" marB="0" anchor="ctr" anchorCtr="0">
                    <a:lnL>
                      <a:noFill/>
                    </a:lnL>
                    <a:lnR>
                      <a:noFill/>
                    </a:lnR>
                    <a:lnT>
                      <a:noFill/>
                    </a:lnT>
                    <a:lnB>
                      <a:noFill/>
                    </a:lnB>
                    <a:solidFill>
                      <a:srgbClr val="FFFFFF"/>
                    </a:solidFill>
                  </a:tcPr>
                </a:tc>
                <a:tc>
                  <a:txBody>
                    <a:bodyPr/>
                    <a:p>
                      <a:pPr marL="0" indent="0" algn="l">
                        <a:lnSpc>
                          <a:spcPct val="110000"/>
                        </a:lnSpc>
                        <a:spcBef>
                          <a:spcPct val="0"/>
                        </a:spcBef>
                        <a:spcAft>
                          <a:spcPct val="0"/>
                        </a:spcAft>
                      </a:pPr>
                      <a:r>
                        <a:rPr lang="en-US" altLang="zh-CN" sz="1000">
                          <a:latin typeface="Times New Roman" panose="02020603050405020304"/>
                          <a:ea typeface="方正书宋简体" panose="02000000000000000000" charset="-122"/>
                        </a:rPr>
                        <a:t>Би үнэхээр аз жаргалгүй санагдаж байна~ Хэн санахгүй байгаа юм шиг дүр эсгээд байгаа юмуу үнэхээр санахгүй байгаа юм бүү мэд~</a:t>
                      </a:r>
                      <a:endParaRPr lang="en-US" altLang="zh-CN" sz="1000">
                        <a:latin typeface="Times New Roman" panose="02020603050405020304"/>
                        <a:ea typeface="方正书宋简体" panose="02000000000000000000" charset="-122"/>
                      </a:endParaRPr>
                    </a:p>
                  </a:txBody>
                  <a:tcPr marL="68580" marR="68580" marT="0" marB="0" anchor="ctr" anchorCtr="0">
                    <a:lnL>
                      <a:noFill/>
                    </a:lnL>
                    <a:lnR>
                      <a:noFill/>
                    </a:lnR>
                    <a:lnT>
                      <a:noFill/>
                    </a:lnT>
                    <a:lnB>
                      <a:noFill/>
                    </a:lnB>
                    <a:solidFill>
                      <a:srgbClr val="FFFFFF"/>
                    </a:solidFill>
                  </a:tcPr>
                </a:tc>
              </a:tr>
              <a:tr h="553085">
                <a:tc>
                  <a:txBody>
                    <a:bodyPr/>
                    <a:p>
                      <a:pPr marL="0" indent="0" algn="ctr">
                        <a:lnSpc>
                          <a:spcPct val="110000"/>
                        </a:lnSpc>
                        <a:spcBef>
                          <a:spcPct val="0"/>
                        </a:spcBef>
                        <a:spcAft>
                          <a:spcPct val="0"/>
                        </a:spcAft>
                      </a:pPr>
                      <a:r>
                        <a:rPr lang="en-US" altLang="zh-CN" sz="900">
                          <a:latin typeface="Times New Roman" panose="02020603050405020304"/>
                          <a:ea typeface="方正书宋简体" panose="02000000000000000000" charset="-122"/>
                        </a:rPr>
                        <a:t>sad</a:t>
                      </a:r>
                      <a:endParaRPr lang="en-US" altLang="zh-CN" sz="900">
                        <a:latin typeface="Times New Roman" panose="02020603050405020304"/>
                        <a:ea typeface="方正书宋简体" panose="02000000000000000000"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10000"/>
                        </a:lnSpc>
                        <a:spcBef>
                          <a:spcPct val="0"/>
                        </a:spcBef>
                        <a:spcAft>
                          <a:spcPct val="0"/>
                        </a:spcAft>
                      </a:pPr>
                      <a:r>
                        <a:rPr lang="zh-CN" sz="1200">
                          <a:latin typeface="方正书宋简体" panose="02000000000000000000" charset="-122"/>
                          <a:ea typeface="方正书宋简体" panose="02000000000000000000" charset="-122"/>
                        </a:rPr>
                        <a:t>突然觉得世界好大，可是却没有我的容身之地。</a:t>
                      </a:r>
                      <a:endParaRPr lang="zh-CN" sz="1200">
                        <a:latin typeface="方正书宋简体" panose="02000000000000000000" charset="-122"/>
                        <a:ea typeface="方正书宋简体" panose="02000000000000000000" charset="-122"/>
                      </a:endParaRPr>
                    </a:p>
                  </a:txBody>
                  <a:tcPr marL="68580" marR="68580" marT="0" marB="0" anchor="ctr" anchorCtr="0">
                    <a:lnL>
                      <a:noFill/>
                    </a:lnL>
                    <a:lnR>
                      <a:noFill/>
                    </a:lnR>
                    <a:lnT>
                      <a:noFill/>
                    </a:lnT>
                    <a:lnB>
                      <a:noFill/>
                    </a:lnB>
                    <a:solidFill>
                      <a:srgbClr val="FFFFFF"/>
                    </a:solidFill>
                  </a:tcPr>
                </a:tc>
                <a:tc>
                  <a:txBody>
                    <a:bodyPr/>
                    <a:p>
                      <a:pPr marL="0" indent="0" algn="l">
                        <a:lnSpc>
                          <a:spcPct val="110000"/>
                        </a:lnSpc>
                        <a:spcBef>
                          <a:spcPct val="0"/>
                        </a:spcBef>
                        <a:spcAft>
                          <a:spcPct val="0"/>
                        </a:spcAft>
                      </a:pPr>
                      <a:r>
                        <a:rPr lang="en-US" altLang="zh-CN" sz="1200">
                          <a:latin typeface="Times New Roman" panose="02020603050405020304" charset="0"/>
                          <a:ea typeface="方正书宋简体" panose="02000000000000000000" charset="-122"/>
                          <a:cs typeface="Times New Roman" panose="02020603050405020304" charset="0"/>
                        </a:rPr>
                        <a:t>ᠨᠡᠳᠲᠡ ᠳᠡᠯᠡᠬᠡᠢ ᠲᠤᠩ ᠶᠡᠬᠡ ᠰᠢᠭ ᠰᠠᠨᠠᠭᠳᠠᠪᠠ᠂ ᠭᠡᠪᠡᠴᠦ ᠮᠢᠨᠦ ᠣᠷᠣᠰᠢᠨ ᠰᠠᠭᠤᠬᠤ ᠭᠠᠵᠠᠷ ᠪᠠᠶᠢᠬᠤ ᠦᠭᠡᠢ᠃</a:t>
                      </a:r>
                      <a:endParaRPr lang="en-US" altLang="zh-CN" sz="1200">
                        <a:latin typeface="Times New Roman" panose="02020603050405020304" charset="0"/>
                        <a:ea typeface="方正书宋简体" panose="02000000000000000000" charset="-122"/>
                        <a:cs typeface="Times New Roman" panose="02020603050405020304" charset="0"/>
                      </a:endParaRPr>
                    </a:p>
                  </a:txBody>
                  <a:tcPr marL="68580" marR="68580" marT="0" marB="0" anchor="ctr" anchorCtr="0">
                    <a:lnL>
                      <a:noFill/>
                    </a:lnL>
                    <a:lnR>
                      <a:noFill/>
                    </a:lnR>
                    <a:lnT>
                      <a:noFill/>
                    </a:lnT>
                    <a:lnB>
                      <a:noFill/>
                    </a:lnB>
                    <a:solidFill>
                      <a:srgbClr val="FFFFFF"/>
                    </a:solidFill>
                  </a:tcPr>
                </a:tc>
                <a:tc>
                  <a:txBody>
                    <a:bodyPr/>
                    <a:p>
                      <a:pPr marL="0" indent="0" algn="l">
                        <a:lnSpc>
                          <a:spcPct val="110000"/>
                        </a:lnSpc>
                        <a:spcBef>
                          <a:spcPct val="0"/>
                        </a:spcBef>
                        <a:spcAft>
                          <a:spcPct val="0"/>
                        </a:spcAft>
                      </a:pPr>
                      <a:r>
                        <a:rPr lang="en-US" altLang="zh-CN" sz="1000">
                          <a:latin typeface="Times New Roman" panose="02020603050405020304"/>
                          <a:ea typeface="方正书宋简体" panose="02000000000000000000" charset="-122"/>
                        </a:rPr>
                        <a:t>Гэнэт би дэлхий маш том юм шиг санагдав, гэхдээ надад газар байхгүй.</a:t>
                      </a:r>
                      <a:endParaRPr lang="en-US" altLang="zh-CN" sz="1000">
                        <a:latin typeface="Times New Roman" panose="02020603050405020304"/>
                        <a:ea typeface="方正书宋简体" panose="02000000000000000000" charset="-122"/>
                      </a:endParaRPr>
                    </a:p>
                  </a:txBody>
                  <a:tcPr marL="68580" marR="68580" marT="0" marB="0" anchor="ctr" anchorCtr="0">
                    <a:lnL>
                      <a:noFill/>
                    </a:lnL>
                    <a:lnR>
                      <a:noFill/>
                    </a:lnR>
                    <a:lnT>
                      <a:noFill/>
                    </a:lnT>
                    <a:lnB>
                      <a:noFill/>
                    </a:lnB>
                    <a:solidFill>
                      <a:srgbClr val="FFFFFF"/>
                    </a:solidFill>
                  </a:tcPr>
                </a:tc>
              </a:tr>
              <a:tr h="519430">
                <a:tc>
                  <a:txBody>
                    <a:bodyPr/>
                    <a:p>
                      <a:pPr marL="0" indent="0" algn="ctr">
                        <a:lnSpc>
                          <a:spcPct val="110000"/>
                        </a:lnSpc>
                        <a:spcBef>
                          <a:spcPct val="0"/>
                        </a:spcBef>
                        <a:spcAft>
                          <a:spcPct val="0"/>
                        </a:spcAft>
                      </a:pPr>
                      <a:r>
                        <a:rPr lang="en-US" altLang="zh-CN" sz="900">
                          <a:latin typeface="Times New Roman" panose="02020603050405020304"/>
                          <a:ea typeface="方正书宋简体" panose="02000000000000000000" charset="-122"/>
                        </a:rPr>
                        <a:t>fear</a:t>
                      </a:r>
                      <a:endParaRPr lang="en-US" altLang="zh-CN" sz="900">
                        <a:latin typeface="Times New Roman" panose="02020603050405020304"/>
                        <a:ea typeface="方正书宋简体" panose="02000000000000000000"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10000"/>
                        </a:lnSpc>
                        <a:spcBef>
                          <a:spcPct val="0"/>
                        </a:spcBef>
                        <a:spcAft>
                          <a:spcPct val="0"/>
                        </a:spcAft>
                      </a:pPr>
                      <a:r>
                        <a:rPr lang="zh-CN" sz="1200">
                          <a:latin typeface="方正书宋简体" panose="02000000000000000000" charset="-122"/>
                          <a:ea typeface="方正书宋简体" panose="02000000000000000000" charset="-122"/>
                        </a:rPr>
                        <a:t>有点小恐怖，不知不觉今年已经买了这么多东西了</a:t>
                      </a:r>
                      <a:endParaRPr lang="zh-CN" sz="1200">
                        <a:latin typeface="方正书宋简体" panose="02000000000000000000" charset="-122"/>
                        <a:ea typeface="方正书宋简体" panose="02000000000000000000" charset="-122"/>
                      </a:endParaRPr>
                    </a:p>
                  </a:txBody>
                  <a:tcPr marL="68580" marR="68580" marT="0" marB="0" anchor="ctr" anchorCtr="0">
                    <a:lnL>
                      <a:noFill/>
                    </a:lnL>
                    <a:lnR>
                      <a:noFill/>
                    </a:lnR>
                    <a:lnT>
                      <a:noFill/>
                    </a:lnT>
                    <a:lnB>
                      <a:noFill/>
                    </a:lnB>
                    <a:solidFill>
                      <a:srgbClr val="FFFFFF"/>
                    </a:solidFill>
                  </a:tcPr>
                </a:tc>
                <a:tc>
                  <a:txBody>
                    <a:bodyPr/>
                    <a:p>
                      <a:pPr marL="0" indent="0" algn="l">
                        <a:lnSpc>
                          <a:spcPct val="110000"/>
                        </a:lnSpc>
                        <a:spcBef>
                          <a:spcPct val="0"/>
                        </a:spcBef>
                        <a:spcAft>
                          <a:spcPct val="0"/>
                        </a:spcAft>
                      </a:pPr>
                      <a:r>
                        <a:rPr lang="en-US" altLang="zh-CN" sz="1200">
                          <a:latin typeface="Times New Roman" panose="02020603050405020304" charset="0"/>
                          <a:ea typeface="方正书宋简体" panose="02000000000000000000" charset="-122"/>
                          <a:cs typeface="Times New Roman" panose="02020603050405020304" charset="0"/>
                        </a:rPr>
                        <a:t>ᠵᠢᠭᠠᠬᠠᠨ ᠠᠶᠤᠮᠰᠢᠭ ᠲᠠᠶ᠂ ᠰᠠᠨᠠᠮᠰᠠᠷ ᠦᠭᠡᠢ ᠡᠨᠡ ᠵᠢᠯ ᠨᠢᠭᠡᠨᠲᠡ ᠡᠶᠢᠮᠦ ᠠᠷᠪᠢᠨ ᠶᠠᠭᠤᠮ᠎ᠠ ᠬᠤᠳᠠᠯᠳᠤᠨ ᠠᠪᠤᠪᠠ᠃</a:t>
                      </a:r>
                      <a:endParaRPr lang="en-US" altLang="zh-CN" sz="1200">
                        <a:latin typeface="Times New Roman" panose="02020603050405020304" charset="0"/>
                        <a:ea typeface="方正书宋简体" panose="02000000000000000000" charset="-122"/>
                        <a:cs typeface="Times New Roman" panose="02020603050405020304" charset="0"/>
                      </a:endParaRPr>
                    </a:p>
                  </a:txBody>
                  <a:tcPr marL="68580" marR="68580" marT="0" marB="0" anchor="ctr" anchorCtr="0">
                    <a:lnL>
                      <a:noFill/>
                    </a:lnL>
                    <a:lnR>
                      <a:noFill/>
                    </a:lnR>
                    <a:lnT>
                      <a:noFill/>
                    </a:lnT>
                    <a:lnB>
                      <a:noFill/>
                    </a:lnB>
                    <a:solidFill>
                      <a:srgbClr val="FFFFFF"/>
                    </a:solidFill>
                  </a:tcPr>
                </a:tc>
                <a:tc>
                  <a:txBody>
                    <a:bodyPr/>
                    <a:p>
                      <a:pPr marL="0" indent="0" algn="l">
                        <a:lnSpc>
                          <a:spcPct val="110000"/>
                        </a:lnSpc>
                        <a:spcBef>
                          <a:spcPct val="0"/>
                        </a:spcBef>
                        <a:spcAft>
                          <a:spcPct val="0"/>
                        </a:spcAft>
                      </a:pPr>
                      <a:r>
                        <a:rPr lang="en-US" altLang="zh-CN" sz="1000">
                          <a:latin typeface="Times New Roman" panose="02020603050405020304"/>
                          <a:ea typeface="方正书宋简体" panose="02000000000000000000" charset="-122"/>
                        </a:rPr>
                        <a:t>Жаахан аймаар байна, би энэ жил өөрийн мэдэлгүй маш олон зүйл худалдаж авсан.</a:t>
                      </a:r>
                      <a:endParaRPr lang="en-US" altLang="zh-CN" sz="1000">
                        <a:latin typeface="Times New Roman" panose="02020603050405020304"/>
                        <a:ea typeface="方正书宋简体" panose="02000000000000000000" charset="-122"/>
                      </a:endParaRPr>
                    </a:p>
                  </a:txBody>
                  <a:tcPr marL="68580" marR="68580" marT="0" marB="0" anchor="ctr" anchorCtr="0">
                    <a:lnL>
                      <a:noFill/>
                    </a:lnL>
                    <a:lnR>
                      <a:noFill/>
                    </a:lnR>
                    <a:lnT>
                      <a:noFill/>
                    </a:lnT>
                    <a:lnB>
                      <a:noFill/>
                    </a:lnB>
                    <a:solidFill>
                      <a:srgbClr val="FFFFFF"/>
                    </a:solidFill>
                  </a:tcPr>
                </a:tc>
              </a:tr>
              <a:tr h="806450">
                <a:tc>
                  <a:txBody>
                    <a:bodyPr/>
                    <a:p>
                      <a:pPr marL="0" indent="0" algn="ctr">
                        <a:lnSpc>
                          <a:spcPct val="110000"/>
                        </a:lnSpc>
                        <a:spcBef>
                          <a:spcPct val="0"/>
                        </a:spcBef>
                        <a:spcAft>
                          <a:spcPct val="0"/>
                        </a:spcAft>
                      </a:pPr>
                      <a:r>
                        <a:rPr lang="en-US" altLang="zh-CN" sz="900">
                          <a:latin typeface="Times New Roman" panose="02020603050405020304"/>
                          <a:ea typeface="方正书宋简体" panose="02000000000000000000" charset="-122"/>
                        </a:rPr>
                        <a:t>surprise</a:t>
                      </a:r>
                      <a:endParaRPr lang="en-US" altLang="zh-CN" sz="900">
                        <a:latin typeface="Times New Roman" panose="02020603050405020304"/>
                        <a:ea typeface="方正书宋简体" panose="02000000000000000000"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10000"/>
                        </a:lnSpc>
                        <a:spcBef>
                          <a:spcPct val="0"/>
                        </a:spcBef>
                        <a:spcAft>
                          <a:spcPct val="0"/>
                        </a:spcAft>
                      </a:pPr>
                      <a:r>
                        <a:rPr lang="zh-CN" sz="1200">
                          <a:latin typeface="方正书宋简体" panose="02000000000000000000" charset="-122"/>
                          <a:ea typeface="方正书宋简体" panose="02000000000000000000" charset="-122"/>
                        </a:rPr>
                        <a:t>以为它是幅科幻电影的场景设计</a:t>
                      </a:r>
                      <a:r>
                        <a:rPr lang="en-US" altLang="zh-CN" sz="1200">
                          <a:latin typeface="方正书宋简体" panose="02000000000000000000" charset="-122"/>
                          <a:ea typeface="方正书宋简体" panose="02000000000000000000" charset="-122"/>
                        </a:rPr>
                        <a:t>……</a:t>
                      </a:r>
                      <a:r>
                        <a:rPr lang="zh-CN" altLang="en-US" sz="1200">
                          <a:latin typeface="方正书宋简体" panose="02000000000000000000" charset="-122"/>
                          <a:ea typeface="方正书宋简体" panose="02000000000000000000" charset="-122"/>
                        </a:rPr>
                        <a:t>木有想到，它是真的</a:t>
                      </a:r>
                      <a:endParaRPr lang="zh-CN" altLang="en-US" sz="1200">
                        <a:latin typeface="方正书宋简体" panose="02000000000000000000" charset="-122"/>
                        <a:ea typeface="方正书宋简体" panose="02000000000000000000" charset="-122"/>
                      </a:endParaRPr>
                    </a:p>
                  </a:txBody>
                  <a:tcPr marL="68580" marR="68580" marT="0" marB="0" anchor="ctr" anchorCtr="0">
                    <a:lnL>
                      <a:noFill/>
                    </a:lnL>
                    <a:lnR>
                      <a:noFill/>
                    </a:lnR>
                    <a:lnT>
                      <a:noFill/>
                    </a:lnT>
                    <a:lnB>
                      <a:noFill/>
                    </a:lnB>
                    <a:solidFill>
                      <a:srgbClr val="FFFFFF"/>
                    </a:solidFill>
                  </a:tcPr>
                </a:tc>
                <a:tc>
                  <a:txBody>
                    <a:bodyPr/>
                    <a:p>
                      <a:pPr marL="0" indent="0" algn="l">
                        <a:lnSpc>
                          <a:spcPct val="110000"/>
                        </a:lnSpc>
                        <a:spcBef>
                          <a:spcPct val="0"/>
                        </a:spcBef>
                        <a:spcAft>
                          <a:spcPct val="0"/>
                        </a:spcAft>
                      </a:pPr>
                      <a:r>
                        <a:rPr lang="en-US" altLang="zh-CN" sz="1200">
                          <a:latin typeface="Times New Roman" panose="02020603050405020304" charset="0"/>
                          <a:ea typeface="方正书宋简体" panose="02000000000000000000" charset="-122"/>
                          <a:cs typeface="Times New Roman" panose="02020603050405020304" charset="0"/>
                        </a:rPr>
                        <a:t>ᠲᠡᠭᠦᠨ ᠢ ᠰᠢᠨᠵᠢᠯᠡᠬᠦ ᠤᠬᠠᠭᠠᠨ ᠤ ᠤᠷᠠᠨ ᠵᠥᠩᠨᠡᠯ ᠦᠨ ᠺᠢᠨᠣ᠋ ᠶᠢᠨ ᠲᠠᠯᠠᠪᠤᠷ ᠤᠨ ᠵᠢᠷᠤᠭ ᠲᠥᠯᠥᠪᠯᠡᠭᠡ ᠭᠡᠵᠦ ᠪᠣᠳᠣᠪᠠ ᠁ ᠮᠦ ᠢᠦ ᠪᠣᠳᠤᠵᠤ ᠣᠯᠤᠭᠰᠠᠨ ᠢᠶᠠᠷ ᠲᠡᠷᠡ ᠪᠣᠯ ᠦᠨᠡᠨ ᠶᠤᠮ</a:t>
                      </a:r>
                      <a:endParaRPr lang="en-US" altLang="zh-CN" sz="1200">
                        <a:latin typeface="Times New Roman" panose="02020603050405020304" charset="0"/>
                        <a:ea typeface="方正书宋简体" panose="02000000000000000000" charset="-122"/>
                        <a:cs typeface="Times New Roman" panose="02020603050405020304" charset="0"/>
                      </a:endParaRPr>
                    </a:p>
                  </a:txBody>
                  <a:tcPr marL="68580" marR="68580" marT="0" marB="0" anchor="ctr" anchorCtr="0">
                    <a:lnL>
                      <a:noFill/>
                    </a:lnL>
                    <a:lnR>
                      <a:noFill/>
                    </a:lnR>
                    <a:lnT>
                      <a:noFill/>
                    </a:lnT>
                    <a:lnB>
                      <a:noFill/>
                    </a:lnB>
                    <a:solidFill>
                      <a:srgbClr val="FFFFFF"/>
                    </a:solidFill>
                  </a:tcPr>
                </a:tc>
                <a:tc>
                  <a:txBody>
                    <a:bodyPr/>
                    <a:p>
                      <a:pPr marL="0" indent="0" algn="l">
                        <a:lnSpc>
                          <a:spcPct val="110000"/>
                        </a:lnSpc>
                        <a:spcBef>
                          <a:spcPct val="0"/>
                        </a:spcBef>
                        <a:spcAft>
                          <a:spcPct val="0"/>
                        </a:spcAft>
                      </a:pPr>
                      <a:r>
                        <a:rPr lang="en-US" altLang="zh-CN" sz="1000">
                          <a:latin typeface="Times New Roman" panose="02020603050405020304"/>
                          <a:ea typeface="方正书宋简体" panose="02000000000000000000" charset="-122"/>
                        </a:rPr>
                        <a:t>Би үүнийг шинжлэх ухааны зөгнөлт киноны зураг авалт гэж бодсон... Би үүнийг бодит гэж хэзээ ч бодож байгаагүй.</a:t>
                      </a:r>
                      <a:endParaRPr lang="en-US" altLang="zh-CN" sz="1000">
                        <a:latin typeface="Times New Roman" panose="02020603050405020304"/>
                        <a:ea typeface="方正书宋简体" panose="02000000000000000000" charset="-122"/>
                      </a:endParaRPr>
                    </a:p>
                  </a:txBody>
                  <a:tcPr marL="68580" marR="68580" marT="0" marB="0" anchor="ctr" anchorCtr="0">
                    <a:lnL>
                      <a:noFill/>
                    </a:lnL>
                    <a:lnR>
                      <a:noFill/>
                    </a:lnR>
                    <a:lnT>
                      <a:noFill/>
                    </a:lnT>
                    <a:lnB>
                      <a:noFill/>
                    </a:lnB>
                    <a:solidFill>
                      <a:srgbClr val="FFFFFF"/>
                    </a:solidFill>
                  </a:tcPr>
                </a:tc>
              </a:tr>
              <a:tr h="854075">
                <a:tc>
                  <a:txBody>
                    <a:bodyPr/>
                    <a:p>
                      <a:pPr marL="0" indent="0" algn="ctr">
                        <a:lnSpc>
                          <a:spcPct val="110000"/>
                        </a:lnSpc>
                        <a:spcBef>
                          <a:spcPct val="0"/>
                        </a:spcBef>
                        <a:spcAft>
                          <a:spcPct val="0"/>
                        </a:spcAft>
                      </a:pPr>
                      <a:r>
                        <a:rPr lang="en-US" altLang="zh-CN" sz="900">
                          <a:latin typeface="Times New Roman" panose="02020603050405020304"/>
                          <a:ea typeface="方正书宋简体" panose="02000000000000000000" charset="-122"/>
                        </a:rPr>
                        <a:t>neutral</a:t>
                      </a:r>
                      <a:endParaRPr lang="en-US" altLang="zh-CN" sz="900">
                        <a:latin typeface="Times New Roman" panose="02020603050405020304"/>
                        <a:ea typeface="方正书宋简体" panose="02000000000000000000"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p>
                      <a:pPr marL="0" indent="0" algn="ctr">
                        <a:lnSpc>
                          <a:spcPct val="110000"/>
                        </a:lnSpc>
                        <a:spcBef>
                          <a:spcPct val="0"/>
                        </a:spcBef>
                        <a:spcAft>
                          <a:spcPct val="0"/>
                        </a:spcAft>
                      </a:pPr>
                      <a:r>
                        <a:rPr lang="zh-CN" sz="1200">
                          <a:latin typeface="方正书宋简体" panose="02000000000000000000" charset="-122"/>
                          <a:ea typeface="方正书宋简体" panose="02000000000000000000" charset="-122"/>
                        </a:rPr>
                        <a:t>结业于中国书法家协会书法培训中心书法研修班。</a:t>
                      </a:r>
                      <a:endParaRPr lang="zh-CN" sz="1200">
                        <a:latin typeface="方正书宋简体" panose="02000000000000000000" charset="-122"/>
                        <a:ea typeface="方正书宋简体" panose="02000000000000000000"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p>
                      <a:pPr marL="0" indent="0" algn="l">
                        <a:lnSpc>
                          <a:spcPct val="110000"/>
                        </a:lnSpc>
                        <a:spcBef>
                          <a:spcPct val="0"/>
                        </a:spcBef>
                        <a:spcAft>
                          <a:spcPct val="0"/>
                        </a:spcAft>
                      </a:pPr>
                      <a:r>
                        <a:rPr lang="en-US" altLang="zh-CN" sz="1200">
                          <a:latin typeface="Times New Roman" panose="02020603050405020304" charset="0"/>
                          <a:ea typeface="方正书宋简体" panose="02000000000000000000" charset="-122"/>
                          <a:cs typeface="Times New Roman" panose="02020603050405020304" charset="0"/>
                        </a:rPr>
                        <a:t>ᠳᠤᠮᠳᠠᠳᠤ ᠤᠯᠤᠰ ᠤᠨ ᠤᠷᠠᠨ ᠪᠢᠴᠢᠯᠭᠡᠲᠡᠳ ᠦᠨ ᠨᠡᠶᠢᠭᠡᠮᠯᠢᠭ ᠦᠨ ᠤᠷᠠᠨ ᠪᠢᠴᠢᠯᠭᠡ  ᠶᠢᠨ ᠪᠣᠯᠪᠠᠰᠤᠷᠠᠯ ᠤᠨ ᠲᠥᠪ ᠦᠨ ᠤᠷᠠᠨ ᠪᠢᠴᠢᠯᠭᠡ  ᠶᠢᠨ ᠰᠤᠳᠤᠯᠤᠨ ᠰᠤᠷᠤᠯᠴᠠᠬᠤ ᠠᠩᠭᠢ  ᠠᠴᠠ ᠲᠡᠭᠦᠰᠪᠡ ᠃</a:t>
                      </a:r>
                      <a:endParaRPr lang="en-US" altLang="zh-CN" sz="1200">
                        <a:latin typeface="Times New Roman" panose="02020603050405020304" charset="0"/>
                        <a:ea typeface="方正书宋简体" panose="02000000000000000000" charset="-122"/>
                        <a:cs typeface="Times New Roman" panose="02020603050405020304" charset="0"/>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p>
                      <a:pPr marL="0" indent="0" algn="l">
                        <a:lnSpc>
                          <a:spcPct val="110000"/>
                        </a:lnSpc>
                        <a:spcBef>
                          <a:spcPct val="0"/>
                        </a:spcBef>
                        <a:spcAft>
                          <a:spcPct val="0"/>
                        </a:spcAft>
                      </a:pPr>
                      <a:r>
                        <a:rPr lang="en-US" altLang="zh-CN" sz="1000">
                          <a:latin typeface="Times New Roman" panose="02020603050405020304"/>
                          <a:ea typeface="方正书宋简体" panose="02000000000000000000" charset="-122"/>
                        </a:rPr>
                        <a:t>Хятадын Уран бичээчдийн холбооны уран бичлэг сургалтын төвийн уран бичлэгийн сургалтын ангийг төгссөн.</a:t>
                      </a:r>
                      <a:endParaRPr lang="en-US" altLang="zh-CN" sz="1000">
                        <a:latin typeface="Times New Roman" panose="02020603050405020304"/>
                        <a:ea typeface="方正书宋简体" panose="02000000000000000000"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r>
            </a:tbl>
          </a:graphicData>
        </a:graphic>
      </p:graphicFrame>
      <p:sp>
        <p:nvSpPr>
          <p:cNvPr id="3" name="文本框 2"/>
          <p:cNvSpPr txBox="1"/>
          <p:nvPr/>
        </p:nvSpPr>
        <p:spPr>
          <a:xfrm>
            <a:off x="5608955" y="5859780"/>
            <a:ext cx="973455" cy="306705"/>
          </a:xfrm>
          <a:prstGeom prst="rect">
            <a:avLst/>
          </a:prstGeom>
          <a:noFill/>
        </p:spPr>
        <p:txBody>
          <a:bodyPr wrap="square" rtlCol="0">
            <a:spAutoFit/>
          </a:bodyPr>
          <a:p>
            <a:r>
              <a:rPr lang="zh-CN" altLang="en-US"/>
              <a:t>数据</a:t>
            </a:r>
            <a:r>
              <a:rPr lang="zh-CN" altLang="en-US"/>
              <a:t>样例</a:t>
            </a: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研究内容与</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方法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15" name="椭圆 14"/>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16" name="任意多边形 15"/>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pic>
        <p:nvPicPr>
          <p:cNvPr id="55" name="图片 54" descr="templates\docerresourceshop\icons\\343435383135323b333733333032353bcec4b5b5"/>
          <p:cNvPicPr>
            <a:picLocks noChangeAspect="1"/>
          </p:cNvPicPr>
          <p:nvPr>
            <p:custDataLst>
              <p:tags r:id="rId1"/>
            </p:custDataLst>
          </p:nvPr>
        </p:nvPicPr>
        <p:blipFill>
          <a:blip/>
          <a:stretch>
            <a:fillRect/>
          </a:stretch>
        </p:blipFill>
        <p:spPr>
          <a:xfrm>
            <a:off x="5881370" y="4826000"/>
            <a:ext cx="466090" cy="466090"/>
          </a:xfrm>
          <a:prstGeom prst="rect">
            <a:avLst/>
          </a:prstGeom>
        </p:spPr>
      </p:pic>
      <p:pic>
        <p:nvPicPr>
          <p:cNvPr id="56" name="图片 55" descr="templates\docerresourceshop\icons\\32303038313138363b32303039303531343bd1adbbb7"/>
          <p:cNvPicPr>
            <a:picLocks noChangeAspect="1"/>
          </p:cNvPicPr>
          <p:nvPr>
            <p:custDataLst>
              <p:tags r:id="rId2"/>
            </p:custDataLst>
          </p:nvPr>
        </p:nvPicPr>
        <p:blipFill>
          <a:blip/>
          <a:stretch>
            <a:fillRect/>
          </a:stretch>
        </p:blipFill>
        <p:spPr>
          <a:xfrm>
            <a:off x="5875020" y="3761740"/>
            <a:ext cx="494030" cy="494030"/>
          </a:xfrm>
          <a:prstGeom prst="rect">
            <a:avLst/>
          </a:prstGeom>
        </p:spPr>
      </p:pic>
      <p:graphicFrame>
        <p:nvGraphicFramePr>
          <p:cNvPr id="4" name="表格 3"/>
          <p:cNvGraphicFramePr/>
          <p:nvPr>
            <p:custDataLst>
              <p:tags r:id="rId3"/>
            </p:custDataLst>
          </p:nvPr>
        </p:nvGraphicFramePr>
        <p:xfrm>
          <a:off x="2809875" y="1123950"/>
          <a:ext cx="6936740" cy="3392805"/>
        </p:xfrm>
        <a:graphic>
          <a:graphicData uri="http://schemas.openxmlformats.org/drawingml/2006/table">
            <a:tbl>
              <a:tblPr/>
              <a:tblGrid>
                <a:gridCol w="1416050"/>
                <a:gridCol w="506730"/>
                <a:gridCol w="469900"/>
                <a:gridCol w="480060"/>
                <a:gridCol w="475615"/>
                <a:gridCol w="469900"/>
                <a:gridCol w="426085"/>
                <a:gridCol w="454025"/>
                <a:gridCol w="447675"/>
                <a:gridCol w="459740"/>
                <a:gridCol w="445135"/>
                <a:gridCol w="433070"/>
                <a:gridCol w="452755"/>
              </a:tblGrid>
              <a:tr h="256540">
                <a:tc rowSpan="2">
                  <a:txBody>
                    <a:bodyPr/>
                    <a:p>
                      <a:pPr marL="0" indent="0" algn="ctr">
                        <a:lnSpc>
                          <a:spcPct val="120000"/>
                        </a:lnSpc>
                        <a:spcBef>
                          <a:spcPct val="0"/>
                        </a:spcBef>
                        <a:spcAft>
                          <a:spcPct val="0"/>
                        </a:spcAft>
                      </a:pPr>
                      <a:r>
                        <a:rPr lang="en-US" altLang="zh-CN" sz="1000">
                          <a:solidFill>
                            <a:schemeClr val="tx1"/>
                          </a:solidFill>
                          <a:uFillTx/>
                          <a:latin typeface="Times New Roman" panose="02020603050405020304"/>
                          <a:ea typeface="宋体" panose="02010600030101010101" pitchFamily="2" charset="-122"/>
                        </a:rPr>
                        <a:t>Model</a:t>
                      </a:r>
                      <a:endParaRPr lang="en-US" altLang="zh-CN" sz="1000">
                        <a:solidFill>
                          <a:schemeClr val="tx1"/>
                        </a:solidFill>
                        <a:uFillTx/>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a:noFill/>
                    </a:lnB>
                    <a:noFill/>
                  </a:tcPr>
                </a:tc>
                <a:tc gridSpan="4">
                  <a:txBody>
                    <a:bodyPr/>
                    <a:p>
                      <a:pPr marL="0" indent="0" algn="ctr">
                        <a:lnSpc>
                          <a:spcPct val="120000"/>
                        </a:lnSpc>
                        <a:spcBef>
                          <a:spcPct val="0"/>
                        </a:spcBef>
                        <a:spcAft>
                          <a:spcPct val="0"/>
                        </a:spcAft>
                      </a:pPr>
                      <a:r>
                        <a:rPr lang="zh-CN" sz="1000">
                          <a:latin typeface="宋体" panose="02010600030101010101" pitchFamily="2" charset="-122"/>
                          <a:ea typeface="宋体" panose="02010600030101010101" pitchFamily="2" charset="-122"/>
                        </a:rPr>
                        <a:t>传统蒙文</a:t>
                      </a:r>
                      <a:endParaRPr lang="zh-CN" sz="1000">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hMerge="1">
                  <a:tcP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c hMerge="1">
                  <a:tcP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c hMerge="1">
                  <a:tcPr>
                    <a:lnR>
                      <a:noFill/>
                    </a:ln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c gridSpan="4">
                  <a:txBody>
                    <a:bodyPr/>
                    <a:p>
                      <a:pPr marL="0" indent="0" algn="ctr">
                        <a:lnSpc>
                          <a:spcPct val="120000"/>
                        </a:lnSpc>
                        <a:spcBef>
                          <a:spcPct val="0"/>
                        </a:spcBef>
                        <a:spcAft>
                          <a:spcPct val="0"/>
                        </a:spcAft>
                      </a:pPr>
                      <a:r>
                        <a:rPr lang="zh-CN" sz="1000">
                          <a:latin typeface="宋体" panose="02010600030101010101" pitchFamily="2" charset="-122"/>
                          <a:ea typeface="宋体" panose="02010600030101010101" pitchFamily="2" charset="-122"/>
                        </a:rPr>
                        <a:t>新蒙文</a:t>
                      </a:r>
                      <a:endParaRPr lang="zh-CN" sz="1000">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hMerge="1">
                  <a:tcP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c hMerge="1">
                  <a:tcP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c hMerge="1">
                  <a:tcPr>
                    <a:lnR>
                      <a:noFill/>
                    </a:ln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c gridSpan="4">
                  <a:txBody>
                    <a:bodyPr/>
                    <a:p>
                      <a:pPr marL="0" indent="0" algn="ctr">
                        <a:lnSpc>
                          <a:spcPct val="120000"/>
                        </a:lnSpc>
                        <a:spcBef>
                          <a:spcPct val="0"/>
                        </a:spcBef>
                        <a:spcAft>
                          <a:spcPct val="0"/>
                        </a:spcAft>
                      </a:pPr>
                      <a:r>
                        <a:rPr lang="zh-CN" sz="1000">
                          <a:latin typeface="宋体" panose="02010600030101010101" pitchFamily="2" charset="-122"/>
                          <a:ea typeface="宋体" panose="02010600030101010101" pitchFamily="2" charset="-122"/>
                        </a:rPr>
                        <a:t>中文</a:t>
                      </a:r>
                      <a:endParaRPr lang="zh-CN" sz="1000">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hMerge="1">
                  <a:tcP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c hMerge="1">
                  <a:tcP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c hMerge="1">
                  <a:tcPr>
                    <a:lnR>
                      <a:noFill/>
                    </a:ln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r>
              <a:tr h="285115">
                <a:tc vMerge="1">
                  <a:tcPr>
                    <a:lnL>
                      <a:noFill/>
                    </a:lnL>
                    <a:lnR>
                      <a:noFill/>
                    </a:lnR>
                    <a:lnB>
                      <a:noFill/>
                    </a:lnB>
                  </a:tcPr>
                </a:tc>
                <a:tc>
                  <a:txBody>
                    <a:bodyPr/>
                    <a:p>
                      <a:pPr marL="0" indent="0" algn="ctr">
                        <a:lnSpc>
                          <a:spcPct val="120000"/>
                        </a:lnSpc>
                        <a:spcBef>
                          <a:spcPct val="0"/>
                        </a:spcBef>
                        <a:spcAft>
                          <a:spcPct val="0"/>
                        </a:spcAft>
                      </a:pPr>
                      <a:r>
                        <a:rPr lang="en-US" altLang="zh-CN" sz="1000">
                          <a:latin typeface="Times New Roman" panose="02020603050405020304"/>
                          <a:ea typeface="宋体" panose="02010600030101010101" pitchFamily="2" charset="-122"/>
                        </a:rPr>
                        <a:t>P</a:t>
                      </a:r>
                      <a:endParaRPr lang="en-US" altLang="zh-CN" sz="100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宋体" panose="02010600030101010101" pitchFamily="2" charset="-122"/>
                        </a:rPr>
                        <a:t>R</a:t>
                      </a:r>
                      <a:endParaRPr lang="en-US" altLang="zh-CN" sz="100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宋体" panose="02010600030101010101" pitchFamily="2" charset="-122"/>
                        </a:rPr>
                        <a:t>Acc</a:t>
                      </a:r>
                      <a:endParaRPr lang="en-US" altLang="zh-CN" sz="100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宋体" panose="02010600030101010101" pitchFamily="2" charset="-122"/>
                        </a:rPr>
                        <a:t>F1</a:t>
                      </a:r>
                      <a:endParaRPr lang="en-US" altLang="zh-CN" sz="100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宋体" panose="02010600030101010101" pitchFamily="2" charset="-122"/>
                        </a:rPr>
                        <a:t>P</a:t>
                      </a:r>
                      <a:endParaRPr lang="en-US" altLang="zh-CN" sz="100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宋体" panose="02010600030101010101" pitchFamily="2" charset="-122"/>
                        </a:rPr>
                        <a:t>R</a:t>
                      </a:r>
                      <a:endParaRPr lang="en-US" altLang="zh-CN" sz="100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宋体" panose="02010600030101010101" pitchFamily="2" charset="-122"/>
                        </a:rPr>
                        <a:t>Acc</a:t>
                      </a:r>
                      <a:endParaRPr lang="en-US" altLang="zh-CN" sz="100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宋体" panose="02010600030101010101" pitchFamily="2" charset="-122"/>
                        </a:rPr>
                        <a:t>F1</a:t>
                      </a:r>
                      <a:endParaRPr lang="en-US" altLang="zh-CN" sz="100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宋体" panose="02010600030101010101" pitchFamily="2" charset="-122"/>
                        </a:rPr>
                        <a:t>P</a:t>
                      </a:r>
                      <a:endParaRPr lang="en-US" altLang="zh-CN" sz="100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宋体" panose="02010600030101010101" pitchFamily="2" charset="-122"/>
                        </a:rPr>
                        <a:t>R</a:t>
                      </a:r>
                      <a:endParaRPr lang="en-US" altLang="zh-CN" sz="100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宋体" panose="02010600030101010101" pitchFamily="2" charset="-122"/>
                        </a:rPr>
                        <a:t>Acc</a:t>
                      </a:r>
                      <a:endParaRPr lang="en-US" altLang="zh-CN" sz="100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宋体" panose="02010600030101010101" pitchFamily="2" charset="-122"/>
                        </a:rPr>
                        <a:t>F1</a:t>
                      </a:r>
                      <a:endParaRPr lang="en-US" altLang="zh-CN" sz="100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r>
              <a:tr h="285115">
                <a:tc>
                  <a:txBody>
                    <a:bodyPr/>
                    <a:p>
                      <a:pPr marL="0" indent="0" algn="ctr">
                        <a:lnSpc>
                          <a:spcPct val="120000"/>
                        </a:lnSpc>
                        <a:spcBef>
                          <a:spcPct val="0"/>
                        </a:spcBef>
                        <a:spcAft>
                          <a:spcPct val="0"/>
                        </a:spcAft>
                      </a:pPr>
                      <a:r>
                        <a:rPr lang="en-US" altLang="zh-CN" sz="1000">
                          <a:solidFill>
                            <a:schemeClr val="tx1"/>
                          </a:solidFill>
                          <a:uFillTx/>
                          <a:latin typeface="Times New Roman" panose="02020603050405020304"/>
                          <a:ea typeface="宋体" panose="02010600030101010101" pitchFamily="2" charset="-122"/>
                        </a:rPr>
                        <a:t>CNN</a:t>
                      </a:r>
                      <a:endParaRPr lang="en-US" altLang="zh-CN" sz="1000">
                        <a:solidFill>
                          <a:schemeClr val="tx1"/>
                        </a:solidFill>
                        <a:uFillTx/>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0.32</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0.30</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0.36</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0.31</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0.58</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0.53</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0.60</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0.54</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0.65</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0.62</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0.68</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0.63</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284480">
                <a:tc>
                  <a:txBody>
                    <a:bodyPr/>
                    <a:p>
                      <a:pPr marL="0" indent="0" algn="ctr">
                        <a:lnSpc>
                          <a:spcPct val="120000"/>
                        </a:lnSpc>
                        <a:spcBef>
                          <a:spcPct val="0"/>
                        </a:spcBef>
                        <a:spcAft>
                          <a:spcPct val="0"/>
                        </a:spcAft>
                      </a:pPr>
                      <a:r>
                        <a:rPr lang="en-US" altLang="zh-CN" sz="1000">
                          <a:solidFill>
                            <a:schemeClr val="tx1"/>
                          </a:solidFill>
                          <a:uFillTx/>
                          <a:latin typeface="Times New Roman" panose="02020603050405020304"/>
                          <a:ea typeface="宋体" panose="02010600030101010101" pitchFamily="2" charset="-122"/>
                        </a:rPr>
                        <a:t>BiGRU</a:t>
                      </a:r>
                      <a:endParaRPr lang="en-US" altLang="zh-CN" sz="1000">
                        <a:solidFill>
                          <a:schemeClr val="tx1"/>
                        </a:solidFill>
                        <a:uFillTx/>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0.32</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b="1">
                          <a:latin typeface="Times New Roman" panose="02020603050405020304"/>
                          <a:ea typeface="Times New Roman" panose="02020603050405020304"/>
                        </a:rPr>
                        <a:t>0.32</a:t>
                      </a:r>
                      <a:endParaRPr lang="en-US" altLang="zh-CN" sz="1000" b="1">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0.35</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0.32</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0.58</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0.55</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0.60</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0.56</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0.64</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0.63</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0.67</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0.63</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285750">
                <a:tc>
                  <a:txBody>
                    <a:bodyPr/>
                    <a:p>
                      <a:pPr marL="0" indent="0" algn="ctr">
                        <a:lnSpc>
                          <a:spcPct val="120000"/>
                        </a:lnSpc>
                        <a:spcBef>
                          <a:spcPct val="0"/>
                        </a:spcBef>
                        <a:spcAft>
                          <a:spcPct val="0"/>
                        </a:spcAft>
                      </a:pPr>
                      <a:r>
                        <a:rPr lang="en-US" altLang="zh-CN" sz="1000">
                          <a:solidFill>
                            <a:schemeClr val="tx1"/>
                          </a:solidFill>
                          <a:uFillTx/>
                          <a:latin typeface="Times New Roman" panose="02020603050405020304"/>
                          <a:ea typeface="宋体" panose="02010600030101010101" pitchFamily="2" charset="-122"/>
                        </a:rPr>
                        <a:t>LSTM-attention</a:t>
                      </a:r>
                      <a:endParaRPr lang="en-US" altLang="zh-CN" sz="1000">
                        <a:solidFill>
                          <a:schemeClr val="tx1"/>
                        </a:solidFill>
                        <a:uFillTx/>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0.33</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0.31</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0.37</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0.31</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0.56</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0.54</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0.59</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0.55</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0.64</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0.65</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0.67</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0.64</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285115">
                <a:tc>
                  <a:txBody>
                    <a:bodyPr/>
                    <a:p>
                      <a:pPr marL="0" indent="0" algn="ctr">
                        <a:lnSpc>
                          <a:spcPct val="120000"/>
                        </a:lnSpc>
                        <a:spcBef>
                          <a:spcPct val="0"/>
                        </a:spcBef>
                        <a:spcAft>
                          <a:spcPct val="0"/>
                        </a:spcAft>
                      </a:pPr>
                      <a:r>
                        <a:rPr lang="en-US" altLang="zh-CN" sz="1000">
                          <a:solidFill>
                            <a:schemeClr val="tx1"/>
                          </a:solidFill>
                          <a:uFillTx/>
                          <a:latin typeface="Times New Roman" panose="02020603050405020304"/>
                          <a:ea typeface="宋体" panose="02010600030101010101" pitchFamily="2" charset="-122"/>
                        </a:rPr>
                        <a:t>BiLSTM-attention</a:t>
                      </a:r>
                      <a:endParaRPr lang="en-US" altLang="zh-CN" sz="1000">
                        <a:solidFill>
                          <a:schemeClr val="tx1"/>
                        </a:solidFill>
                        <a:uFillTx/>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b="1">
                          <a:latin typeface="Times New Roman" panose="02020603050405020304"/>
                          <a:ea typeface="Times New Roman" panose="02020603050405020304"/>
                        </a:rPr>
                        <a:t>0.33</a:t>
                      </a:r>
                      <a:endParaRPr lang="en-US" altLang="zh-CN" sz="1000" b="1">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0.31</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b="1">
                          <a:latin typeface="Times New Roman" panose="02020603050405020304"/>
                          <a:ea typeface="Times New Roman" panose="02020603050405020304"/>
                        </a:rPr>
                        <a:t>0.37</a:t>
                      </a:r>
                      <a:endParaRPr lang="en-US" altLang="zh-CN" sz="1000" b="1">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b="1">
                          <a:latin typeface="Times New Roman" panose="02020603050405020304"/>
                          <a:ea typeface="Times New Roman" panose="02020603050405020304"/>
                        </a:rPr>
                        <a:t>0.32</a:t>
                      </a:r>
                      <a:endParaRPr lang="en-US" altLang="zh-CN" sz="1000" b="1">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0.58</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0.54</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0.59</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0.56</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0.64</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0.65</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0.68</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0.64</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285115">
                <a:tc>
                  <a:txBody>
                    <a:bodyPr/>
                    <a:p>
                      <a:pPr marL="0" indent="0" algn="ctr">
                        <a:lnSpc>
                          <a:spcPct val="120000"/>
                        </a:lnSpc>
                        <a:spcBef>
                          <a:spcPct val="0"/>
                        </a:spcBef>
                        <a:spcAft>
                          <a:spcPct val="0"/>
                        </a:spcAft>
                      </a:pPr>
                      <a:r>
                        <a:rPr lang="en-US" altLang="zh-CN" sz="1000">
                          <a:solidFill>
                            <a:schemeClr val="tx1"/>
                          </a:solidFill>
                          <a:uFillTx/>
                          <a:latin typeface="Times New Roman" panose="02020603050405020304"/>
                          <a:ea typeface="宋体" panose="02010600030101010101" pitchFamily="2" charset="-122"/>
                        </a:rPr>
                        <a:t>BERT</a:t>
                      </a:r>
                      <a:endParaRPr lang="en-US" altLang="zh-CN" sz="1000">
                        <a:solidFill>
                          <a:schemeClr val="tx1"/>
                        </a:solidFill>
                        <a:uFillTx/>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0.25</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0.21</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0.28</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0.20</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0.59</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0.56</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0.62</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0.56</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b="1">
                          <a:latin typeface="Times New Roman" panose="02020603050405020304"/>
                          <a:ea typeface="Times New Roman" panose="02020603050405020304"/>
                        </a:rPr>
                        <a:t>0.75</a:t>
                      </a:r>
                      <a:endParaRPr lang="en-US" altLang="zh-CN" sz="1000" b="1">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b="1">
                          <a:latin typeface="Times New Roman" panose="02020603050405020304"/>
                          <a:ea typeface="Times New Roman" panose="02020603050405020304"/>
                        </a:rPr>
                        <a:t>0.75</a:t>
                      </a:r>
                      <a:endParaRPr lang="en-US" altLang="zh-CN" sz="1000" b="1">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b="1">
                          <a:latin typeface="Times New Roman" panose="02020603050405020304"/>
                          <a:ea typeface="Times New Roman" panose="02020603050405020304"/>
                        </a:rPr>
                        <a:t>0.78</a:t>
                      </a:r>
                      <a:endParaRPr lang="en-US" altLang="zh-CN" sz="1000" b="1">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b="1">
                          <a:latin typeface="Times New Roman" panose="02020603050405020304"/>
                          <a:ea typeface="Times New Roman" panose="02020603050405020304"/>
                        </a:rPr>
                        <a:t>0.75</a:t>
                      </a:r>
                      <a:endParaRPr lang="en-US" altLang="zh-CN" sz="1000" b="1">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285115">
                <a:tc>
                  <a:txBody>
                    <a:bodyPr/>
                    <a:p>
                      <a:pPr marL="0" indent="0" algn="ctr">
                        <a:lnSpc>
                          <a:spcPct val="120000"/>
                        </a:lnSpc>
                        <a:spcBef>
                          <a:spcPct val="0"/>
                        </a:spcBef>
                        <a:spcAft>
                          <a:spcPct val="0"/>
                        </a:spcAft>
                      </a:pPr>
                      <a:r>
                        <a:rPr lang="en-US" altLang="zh-CN" sz="1000">
                          <a:solidFill>
                            <a:schemeClr val="tx1"/>
                          </a:solidFill>
                          <a:uFillTx/>
                          <a:latin typeface="Times New Roman" panose="02020603050405020304"/>
                          <a:ea typeface="宋体" panose="02010600030101010101" pitchFamily="2" charset="-122"/>
                        </a:rPr>
                        <a:t>BERT(</a:t>
                      </a:r>
                      <a:r>
                        <a:rPr lang="zh-CN" sz="1000">
                          <a:solidFill>
                            <a:schemeClr val="tx1"/>
                          </a:solidFill>
                          <a:uFillTx/>
                          <a:latin typeface="Times New Roman" panose="02020603050405020304"/>
                          <a:ea typeface="宋体" panose="02010600030101010101" pitchFamily="2" charset="-122"/>
                        </a:rPr>
                        <a:t>微调</a:t>
                      </a:r>
                      <a:r>
                        <a:rPr lang="en-US" altLang="zh-CN" sz="1000">
                          <a:solidFill>
                            <a:schemeClr val="tx1"/>
                          </a:solidFill>
                          <a:uFillTx/>
                          <a:latin typeface="Times New Roman" panose="02020603050405020304"/>
                          <a:ea typeface="宋体" panose="02010600030101010101" pitchFamily="2" charset="-122"/>
                        </a:rPr>
                        <a:t>)</a:t>
                      </a:r>
                      <a:endParaRPr lang="en-US" altLang="zh-CN" sz="1000">
                        <a:solidFill>
                          <a:schemeClr val="tx1"/>
                        </a:solidFill>
                        <a:uFillTx/>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0.26</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0.22</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0.27</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0.20</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0.62</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0.56</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0.62</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0.57</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0.72</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0.74</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0.77</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0.73</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285115">
                <a:tc>
                  <a:txBody>
                    <a:bodyPr/>
                    <a:p>
                      <a:pPr marL="0" indent="0" algn="ctr">
                        <a:lnSpc>
                          <a:spcPct val="120000"/>
                        </a:lnSpc>
                        <a:spcBef>
                          <a:spcPct val="0"/>
                        </a:spcBef>
                        <a:spcAft>
                          <a:spcPct val="0"/>
                        </a:spcAft>
                      </a:pPr>
                      <a:r>
                        <a:rPr lang="en-US" altLang="zh-CN" sz="1000">
                          <a:solidFill>
                            <a:schemeClr val="tx1"/>
                          </a:solidFill>
                          <a:uFillTx/>
                          <a:latin typeface="Times New Roman" panose="02020603050405020304"/>
                          <a:ea typeface="宋体" panose="02010600030101010101" pitchFamily="2" charset="-122"/>
                        </a:rPr>
                        <a:t>mBERT</a:t>
                      </a:r>
                      <a:endParaRPr lang="en-US" altLang="zh-CN" sz="1000">
                        <a:solidFill>
                          <a:schemeClr val="tx1"/>
                        </a:solidFill>
                        <a:uFillTx/>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a:t>
                      </a:r>
                      <a:r>
                        <a:rPr lang="en-US" altLang="zh-CN" sz="1000">
                          <a:latin typeface="Times New Roman" panose="02020603050405020304"/>
                          <a:ea typeface="Times New Roman" panose="02020603050405020304"/>
                        </a:rPr>
                        <a:t>3</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a:t>
                      </a:r>
                      <a:r>
                        <a:rPr lang="en-US" altLang="zh-CN" sz="1000">
                          <a:latin typeface="Times New Roman" panose="02020603050405020304"/>
                          <a:ea typeface="Times New Roman" panose="02020603050405020304"/>
                        </a:rPr>
                        <a:t>1</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a:t>
                      </a:r>
                      <a:r>
                        <a:rPr lang="en-US" altLang="zh-CN" sz="1000">
                          <a:latin typeface="Times New Roman" panose="02020603050405020304"/>
                          <a:ea typeface="Times New Roman" panose="02020603050405020304"/>
                        </a:rPr>
                        <a:t>7</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a:t>
                      </a:r>
                      <a:r>
                        <a:rPr lang="en-US" altLang="zh-CN" sz="1000">
                          <a:latin typeface="Times New Roman" panose="02020603050405020304"/>
                          <a:ea typeface="Times New Roman" panose="02020603050405020304"/>
                        </a:rPr>
                        <a:t>0</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0.64</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0.64</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0.68</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0.64</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0.71</a:t>
                      </a:r>
                      <a:endParaRPr lang="en-US" altLang="zh-CN" sz="1000" b="1">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0.73</a:t>
                      </a:r>
                      <a:endParaRPr lang="en-US" altLang="zh-CN" sz="1000" b="1">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0.74</a:t>
                      </a:r>
                      <a:endParaRPr lang="en-US" altLang="zh-CN" sz="1000" b="1">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0.72</a:t>
                      </a:r>
                      <a:endParaRPr lang="en-US" altLang="zh-CN" sz="1000" b="1">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285115">
                <a:tc>
                  <a:txBody>
                    <a:bodyPr/>
                    <a:p>
                      <a:pPr marL="0" indent="0" algn="ctr">
                        <a:lnSpc>
                          <a:spcPct val="120000"/>
                        </a:lnSpc>
                        <a:spcBef>
                          <a:spcPct val="0"/>
                        </a:spcBef>
                        <a:spcAft>
                          <a:spcPct val="0"/>
                        </a:spcAft>
                      </a:pPr>
                      <a:r>
                        <a:rPr lang="en-US" altLang="zh-CN" sz="1000">
                          <a:solidFill>
                            <a:schemeClr val="tx1"/>
                          </a:solidFill>
                          <a:uFillTx/>
                          <a:latin typeface="Times New Roman" panose="02020603050405020304"/>
                          <a:ea typeface="宋体" panose="02010600030101010101" pitchFamily="2" charset="-122"/>
                        </a:rPr>
                        <a:t>mBERT(</a:t>
                      </a:r>
                      <a:r>
                        <a:rPr lang="zh-CN" sz="1000">
                          <a:solidFill>
                            <a:schemeClr val="tx1"/>
                          </a:solidFill>
                          <a:uFillTx/>
                          <a:latin typeface="Times New Roman" panose="02020603050405020304"/>
                          <a:ea typeface="宋体" panose="02010600030101010101" pitchFamily="2" charset="-122"/>
                        </a:rPr>
                        <a:t>微调</a:t>
                      </a:r>
                      <a:r>
                        <a:rPr lang="en-US" altLang="zh-CN" sz="1000">
                          <a:solidFill>
                            <a:schemeClr val="tx1"/>
                          </a:solidFill>
                          <a:uFillTx/>
                          <a:latin typeface="Times New Roman" panose="02020603050405020304"/>
                          <a:ea typeface="宋体" panose="02010600030101010101" pitchFamily="2" charset="-122"/>
                        </a:rPr>
                        <a:t>)</a:t>
                      </a:r>
                      <a:endParaRPr lang="en-US" altLang="zh-CN" sz="1000">
                        <a:solidFill>
                          <a:schemeClr val="tx1"/>
                        </a:solidFill>
                        <a:uFillTx/>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a:t>
                      </a:r>
                      <a:r>
                        <a:rPr lang="en-US" altLang="zh-CN" sz="1000">
                          <a:latin typeface="Times New Roman" panose="02020603050405020304"/>
                          <a:ea typeface="Times New Roman" panose="02020603050405020304"/>
                        </a:rPr>
                        <a:t>5</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0.22</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0.28</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0.21</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0.65</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0.63</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0.67</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0.64</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0.72</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0.72</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0.76</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0.72</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285750">
                <a:tc>
                  <a:txBody>
                    <a:bodyPr/>
                    <a:p>
                      <a:pPr marL="0" indent="0" algn="ctr">
                        <a:lnSpc>
                          <a:spcPct val="120000"/>
                        </a:lnSpc>
                        <a:spcBef>
                          <a:spcPct val="0"/>
                        </a:spcBef>
                        <a:spcAft>
                          <a:spcPct val="0"/>
                        </a:spcAft>
                      </a:pPr>
                      <a:r>
                        <a:rPr lang="en-US" altLang="zh-CN" sz="1000">
                          <a:solidFill>
                            <a:schemeClr val="tx1"/>
                          </a:solidFill>
                          <a:uFillTx/>
                          <a:latin typeface="Times New Roman" panose="02020603050405020304"/>
                          <a:ea typeface="宋体" panose="02010600030101010101" pitchFamily="2" charset="-122"/>
                        </a:rPr>
                        <a:t>ernie-m</a:t>
                      </a:r>
                      <a:endParaRPr lang="en-US" altLang="zh-CN" sz="1000">
                        <a:solidFill>
                          <a:schemeClr val="tx1"/>
                        </a:solidFill>
                        <a:uFillTx/>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0.23</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0.25</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0.33</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0.23</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b="1">
                          <a:latin typeface="Times New Roman" panose="02020603050405020304"/>
                          <a:ea typeface="Times New Roman" panose="02020603050405020304"/>
                        </a:rPr>
                        <a:t>0.68</a:t>
                      </a:r>
                      <a:endParaRPr lang="en-US" altLang="zh-CN" sz="1000" b="1">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b="1">
                          <a:latin typeface="Times New Roman" panose="02020603050405020304"/>
                          <a:ea typeface="Times New Roman" panose="02020603050405020304"/>
                        </a:rPr>
                        <a:t>0.68</a:t>
                      </a:r>
                      <a:endParaRPr lang="en-US" altLang="zh-CN" sz="1000" b="1">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b="1">
                          <a:latin typeface="Times New Roman" panose="02020603050405020304"/>
                          <a:ea typeface="Times New Roman" panose="02020603050405020304"/>
                        </a:rPr>
                        <a:t>0.71</a:t>
                      </a:r>
                      <a:endParaRPr lang="en-US" altLang="zh-CN" sz="1000" b="1">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b="1">
                          <a:latin typeface="Times New Roman" panose="02020603050405020304"/>
                          <a:ea typeface="Times New Roman" panose="02020603050405020304"/>
                        </a:rPr>
                        <a:t>0.68</a:t>
                      </a:r>
                      <a:endParaRPr lang="en-US" altLang="zh-CN" sz="1000" b="1">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0.73</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0.74</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0.76</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0.74</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284480">
                <a:tc>
                  <a:txBody>
                    <a:bodyPr/>
                    <a:p>
                      <a:pPr marL="0" indent="0" algn="ctr">
                        <a:lnSpc>
                          <a:spcPct val="120000"/>
                        </a:lnSpc>
                        <a:spcBef>
                          <a:spcPct val="0"/>
                        </a:spcBef>
                        <a:spcAft>
                          <a:spcPct val="0"/>
                        </a:spcAft>
                      </a:pPr>
                      <a:r>
                        <a:rPr lang="en-US" altLang="zh-CN" sz="1000">
                          <a:solidFill>
                            <a:schemeClr val="tx1"/>
                          </a:solidFill>
                          <a:uFillTx/>
                          <a:latin typeface="Times New Roman" panose="02020603050405020304"/>
                          <a:ea typeface="宋体" panose="02010600030101010101" pitchFamily="2" charset="-122"/>
                        </a:rPr>
                        <a:t>mT5</a:t>
                      </a:r>
                      <a:endParaRPr lang="en-US" altLang="zh-CN" sz="1000">
                        <a:solidFill>
                          <a:schemeClr val="tx1"/>
                        </a:solidFill>
                        <a:uFillTx/>
                        <a:latin typeface="Times New Roman" panose="02020603050405020304"/>
                        <a:ea typeface="宋体" panose="02010600030101010101" pitchFamily="2"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0.20</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0.20</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0.29</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0.19</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0.62</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0.68</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0.65</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0.63</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0.68</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0.74</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0.72</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0000"/>
                        </a:lnSpc>
                        <a:spcBef>
                          <a:spcPct val="0"/>
                        </a:spcBef>
                        <a:spcAft>
                          <a:spcPct val="0"/>
                        </a:spcAft>
                      </a:pPr>
                      <a:r>
                        <a:rPr lang="en-US" altLang="zh-CN" sz="1000">
                          <a:latin typeface="Times New Roman" panose="02020603050405020304"/>
                          <a:ea typeface="Times New Roman" panose="02020603050405020304"/>
                        </a:rPr>
                        <a:t>0.69</a:t>
                      </a:r>
                      <a:endParaRPr lang="en-US" altLang="zh-CN" sz="100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0" y="5815965"/>
            <a:ext cx="12192000" cy="1042035"/>
            <a:chOff x="0" y="5835"/>
            <a:chExt cx="19200" cy="4965"/>
          </a:xfrm>
        </p:grpSpPr>
        <p:sp>
          <p:nvSpPr>
            <p:cNvPr id="22" name="任意多边形 21"/>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2" name="文本框 1"/>
          <p:cNvSpPr txBox="1"/>
          <p:nvPr/>
        </p:nvSpPr>
        <p:spPr>
          <a:xfrm>
            <a:off x="2597785" y="946150"/>
            <a:ext cx="8142605" cy="460375"/>
          </a:xfrm>
          <a:prstGeom prst="rect">
            <a:avLst/>
          </a:prstGeom>
          <a:noFill/>
        </p:spPr>
        <p:txBody>
          <a:bodyPr wrap="square" rtlCol="0">
            <a:spAutoFit/>
          </a:bodyPr>
          <a:p>
            <a:pPr algn="ctr"/>
            <a:r>
              <a:rPr lang="zh-CN" altLang="en-US" sz="24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基于多尺度特征与混合注意力的社交媒体中文文本情感分析</a:t>
            </a:r>
            <a:endParaRPr lang="zh-CN" altLang="en-US" sz="24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
        <p:nvSpPr>
          <p:cNvPr id="7" name="文本框 6"/>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研究内容与方法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9" name="组合 8"/>
          <p:cNvGrpSpPr/>
          <p:nvPr/>
        </p:nvGrpSpPr>
        <p:grpSpPr>
          <a:xfrm>
            <a:off x="354965" y="450215"/>
            <a:ext cx="549275" cy="354330"/>
            <a:chOff x="559" y="541"/>
            <a:chExt cx="899" cy="580"/>
          </a:xfrm>
        </p:grpSpPr>
        <p:sp>
          <p:nvSpPr>
            <p:cNvPr id="10" name="椭圆 9"/>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椭圆 1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3" name="文本框 12"/>
          <p:cNvSpPr txBox="1"/>
          <p:nvPr>
            <p:custDataLst>
              <p:tags r:id="rId1"/>
            </p:custDataLst>
          </p:nvPr>
        </p:nvSpPr>
        <p:spPr>
          <a:xfrm>
            <a:off x="3647440" y="2383790"/>
            <a:ext cx="6050280" cy="417830"/>
          </a:xfrm>
          <a:prstGeom prst="rect">
            <a:avLst/>
          </a:prstGeom>
          <a:noFill/>
        </p:spPr>
        <p:txBody>
          <a:bodyPr wrap="square" rtlCol="0"/>
          <a:lstStyle/>
          <a:p>
            <a:pPr lvl="0" algn="ctr" fontAlgn="auto">
              <a:lnSpc>
                <a:spcPct val="110000"/>
              </a:lnSpc>
              <a:spcBef>
                <a:spcPts val="0"/>
              </a:spcBef>
              <a:buClrTx/>
              <a:buSzTx/>
              <a:buFontTx/>
            </a:pPr>
            <a:r>
              <a:rPr lang="zh-CN" altLang="en-US" sz="1800">
                <a:solidFill>
                  <a:schemeClr val="tx1">
                    <a:lumMod val="75000"/>
                    <a:lumOff val="25000"/>
                  </a:schemeClr>
                </a:solidFill>
                <a:latin typeface="汉仪旗黑-55简" panose="00020600040101010101" charset="-128"/>
                <a:ea typeface="汉仪旗黑-55简" panose="00020600040101010101" charset="-128"/>
                <a:sym typeface="+mn-ea"/>
              </a:rPr>
              <a:t>针对中文社交媒体文本情感特征稀疏、表达隐晦的问题</a:t>
            </a:r>
            <a:endParaRPr lang="zh-CN" sz="1800" spc="74">
              <a:solidFill>
                <a:srgbClr val="000000"/>
              </a:solidFill>
              <a:latin typeface="微软雅黑" panose="020B0503020204020204" charset="-122"/>
              <a:ea typeface="微软雅黑" panose="020B0503020204020204" charset="-122"/>
              <a:cs typeface="+mj-ea"/>
              <a:sym typeface="+mn-ea"/>
            </a:endParaRPr>
          </a:p>
        </p:txBody>
      </p:sp>
      <p:sp>
        <p:nvSpPr>
          <p:cNvPr id="14" name="椭圆 13"/>
          <p:cNvSpPr/>
          <p:nvPr>
            <p:custDataLst>
              <p:tags r:id="rId2"/>
            </p:custDataLst>
          </p:nvPr>
        </p:nvSpPr>
        <p:spPr>
          <a:xfrm>
            <a:off x="1968812" y="1970880"/>
            <a:ext cx="1264444" cy="1264444"/>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rPr>
              <a:t>问题</a:t>
            </a:r>
            <a:endPar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5" name="椭圆 14"/>
          <p:cNvSpPr/>
          <p:nvPr>
            <p:custDataLst>
              <p:tags r:id="rId3"/>
            </p:custDataLst>
          </p:nvPr>
        </p:nvSpPr>
        <p:spPr>
          <a:xfrm>
            <a:off x="2011992" y="4083525"/>
            <a:ext cx="1264444" cy="1264444"/>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r>
              <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rPr>
              <a:t>解决方案</a:t>
            </a:r>
            <a:endPar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6" name="文本框 15"/>
          <p:cNvSpPr txBox="1"/>
          <p:nvPr>
            <p:custDataLst>
              <p:tags r:id="rId4"/>
            </p:custDataLst>
          </p:nvPr>
        </p:nvSpPr>
        <p:spPr>
          <a:xfrm>
            <a:off x="3579495" y="4307840"/>
            <a:ext cx="6179185" cy="1256030"/>
          </a:xfrm>
          <a:prstGeom prst="rect">
            <a:avLst/>
          </a:prstGeom>
          <a:noFill/>
        </p:spPr>
        <p:txBody>
          <a:bodyPr wrap="square" rtlCol="0"/>
          <a:p>
            <a:pPr lvl="0" algn="just" fontAlgn="auto">
              <a:lnSpc>
                <a:spcPct val="110000"/>
              </a:lnSpc>
              <a:spcBef>
                <a:spcPts val="0"/>
              </a:spcBef>
              <a:buClrTx/>
              <a:buSzTx/>
              <a:buFontTx/>
            </a:pPr>
            <a:r>
              <a:rPr lang="zh-CN" altLang="en-US" sz="1800">
                <a:solidFill>
                  <a:schemeClr val="tx1">
                    <a:lumMod val="75000"/>
                    <a:lumOff val="25000"/>
                  </a:schemeClr>
                </a:solidFill>
                <a:latin typeface="汉仪旗黑-55简" panose="00020600040101010101" charset="-128"/>
                <a:ea typeface="汉仪旗黑-55简" panose="00020600040101010101" charset="-128"/>
                <a:sym typeface="+mn-ea"/>
              </a:rPr>
              <a:t>提出多尺度特征与混合注意力机制的情感分类模型。该模型通过提取全局语义特征，拼音和汉字偏旁的表层特征以及 HowNet 义原深层语义，结合混合注意力机制实现特征自适应融合。有效提升了情感分类的准确性与鲁棒性。</a:t>
            </a:r>
            <a:endParaRPr lang="zh-CN" altLang="en-US" sz="18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7" name="下箭头 16"/>
          <p:cNvSpPr/>
          <p:nvPr/>
        </p:nvSpPr>
        <p:spPr>
          <a:xfrm>
            <a:off x="6497955" y="3208020"/>
            <a:ext cx="350520" cy="69342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417830" y="733425"/>
            <a:ext cx="5038725" cy="4448175"/>
          </a:xfrm>
          <a:prstGeom prst="rect">
            <a:avLst/>
          </a:prstGeom>
        </p:spPr>
      </p:pic>
      <p:sp>
        <p:nvSpPr>
          <p:cNvPr id="14" name="文本框 13"/>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研究内容与方法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15" name="椭圆 14"/>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16" name="任意多边形 15"/>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9" name="文本框 8"/>
          <p:cNvSpPr txBox="1"/>
          <p:nvPr/>
        </p:nvSpPr>
        <p:spPr>
          <a:xfrm>
            <a:off x="2052320" y="5204460"/>
            <a:ext cx="2174875" cy="297180"/>
          </a:xfrm>
          <a:prstGeom prst="rect">
            <a:avLst/>
          </a:prstGeom>
          <a:noFill/>
        </p:spPr>
        <p:txBody>
          <a:bodyPr wrap="square" rtlCol="0">
            <a:spAutoFit/>
          </a:bodyPr>
          <a:p>
            <a:r>
              <a:rPr lang="zh-CN" altLang="en-US" sz="1335">
                <a:solidFill>
                  <a:schemeClr val="tx1">
                    <a:lumMod val="75000"/>
                    <a:lumOff val="25000"/>
                  </a:schemeClr>
                </a:solidFill>
                <a:latin typeface="汉仪旗黑-55简" panose="00020600040101010101" charset="-128"/>
                <a:ea typeface="汉仪旗黑-55简" panose="00020600040101010101" charset="-128"/>
              </a:rPr>
              <a:t>中文情感分析模型架构图</a:t>
            </a:r>
            <a:endParaRPr lang="zh-CN" altLang="en-US">
              <a:latin typeface="微软雅黑" panose="020B0503020204020204" charset="-122"/>
              <a:ea typeface="微软雅黑" panose="020B0503020204020204" charset="-122"/>
            </a:endParaRPr>
          </a:p>
        </p:txBody>
      </p:sp>
      <p:graphicFrame>
        <p:nvGraphicFramePr>
          <p:cNvPr id="12" name="表格 11"/>
          <p:cNvGraphicFramePr/>
          <p:nvPr>
            <p:custDataLst>
              <p:tags r:id="rId2"/>
            </p:custDataLst>
          </p:nvPr>
        </p:nvGraphicFramePr>
        <p:xfrm>
          <a:off x="5809615" y="2785110"/>
          <a:ext cx="5547360" cy="2193925"/>
        </p:xfrm>
        <a:graphic>
          <a:graphicData uri="http://schemas.openxmlformats.org/drawingml/2006/table">
            <a:tbl>
              <a:tblPr/>
              <a:tblGrid>
                <a:gridCol w="792480"/>
                <a:gridCol w="792480"/>
                <a:gridCol w="792480"/>
                <a:gridCol w="792480"/>
                <a:gridCol w="792480"/>
                <a:gridCol w="792480"/>
                <a:gridCol w="792480"/>
              </a:tblGrid>
              <a:tr h="438785">
                <a:tc rowSpan="2">
                  <a:txBody>
                    <a:bodyPr/>
                    <a:p>
                      <a:pPr marL="0" indent="0" algn="ctr">
                        <a:spcBef>
                          <a:spcPct val="0"/>
                        </a:spcBef>
                        <a:spcAft>
                          <a:spcPct val="0"/>
                        </a:spcAft>
                      </a:pPr>
                      <a:r>
                        <a:rPr lang="zh-CN" sz="1200">
                          <a:latin typeface="宋体" panose="02010600030101010101" pitchFamily="2" charset="-122"/>
                          <a:ea typeface="宋体" panose="02010600030101010101" pitchFamily="2" charset="-122"/>
                        </a:rPr>
                        <a:t>数据集</a:t>
                      </a:r>
                      <a:endParaRPr 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a:noFill/>
                    </a:lnB>
                    <a:noFill/>
                  </a:tcPr>
                </a:tc>
                <a:tc gridSpan="6">
                  <a:txBody>
                    <a:bodyPr/>
                    <a:p>
                      <a:pPr marL="0" indent="0" algn="ctr">
                        <a:spcBef>
                          <a:spcPct val="0"/>
                        </a:spcBef>
                        <a:spcAft>
                          <a:spcPct val="0"/>
                        </a:spcAft>
                      </a:pPr>
                      <a:r>
                        <a:rPr lang="zh-CN" sz="1200">
                          <a:latin typeface="宋体" panose="02010600030101010101" pitchFamily="2" charset="-122"/>
                          <a:ea typeface="宋体" panose="02010600030101010101" pitchFamily="2" charset="-122"/>
                        </a:rPr>
                        <a:t>类别数目</a:t>
                      </a:r>
                      <a:endParaRPr lang="zh-CN" sz="1200" b="0">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hMerge="1">
                  <a:tcP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c hMerge="1">
                  <a:tcP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c hMerge="1">
                  <a:tcP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c hMerge="1">
                  <a:tcP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c hMerge="1">
                  <a:tcPr>
                    <a:lnR>
                      <a:noFill/>
                    </a:ln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r>
              <a:tr h="438785">
                <a:tc vMerge="1">
                  <a:tcPr>
                    <a:lnL>
                      <a:noFill/>
                    </a:lnL>
                    <a:lnR>
                      <a:noFill/>
                    </a:lnR>
                    <a:lnB>
                      <a:noFill/>
                    </a:lnB>
                  </a:tcPr>
                </a:tc>
                <a:tc>
                  <a:txBody>
                    <a:bodyPr/>
                    <a:p>
                      <a:pPr marL="0" indent="0" algn="ctr">
                        <a:spcBef>
                          <a:spcPct val="0"/>
                        </a:spcBef>
                        <a:spcAft>
                          <a:spcPct val="0"/>
                        </a:spcAft>
                      </a:pPr>
                      <a:r>
                        <a:rPr lang="en-US" altLang="zh-CN" sz="1200" b="0">
                          <a:latin typeface="Times New Roman" panose="02020603050405020304"/>
                          <a:ea typeface="宋体" panose="02010600030101010101" pitchFamily="2" charset="-122"/>
                        </a:rPr>
                        <a:t>angry</a:t>
                      </a:r>
                      <a:endParaRPr lang="en-US" altLang="zh-CN" sz="1200" b="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200" b="0">
                          <a:latin typeface="Times New Roman" panose="02020603050405020304"/>
                          <a:ea typeface="宋体" panose="02010600030101010101" pitchFamily="2" charset="-122"/>
                        </a:rPr>
                        <a:t>neural</a:t>
                      </a:r>
                      <a:endParaRPr lang="en-US" altLang="zh-CN" sz="1200" b="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200" b="0">
                          <a:latin typeface="Times New Roman" panose="02020603050405020304"/>
                          <a:ea typeface="宋体" panose="02010600030101010101" pitchFamily="2" charset="-122"/>
                        </a:rPr>
                        <a:t>happy</a:t>
                      </a:r>
                      <a:endParaRPr lang="en-US" altLang="zh-CN" sz="1200" b="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200" b="0">
                          <a:latin typeface="Times New Roman" panose="02020603050405020304"/>
                          <a:ea typeface="宋体" panose="02010600030101010101" pitchFamily="2" charset="-122"/>
                        </a:rPr>
                        <a:t>sad</a:t>
                      </a:r>
                      <a:endParaRPr lang="en-US" altLang="zh-CN" sz="1200" b="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200" b="0">
                          <a:latin typeface="Times New Roman" panose="02020603050405020304"/>
                          <a:ea typeface="宋体" panose="02010600030101010101" pitchFamily="2" charset="-122"/>
                        </a:rPr>
                        <a:t>surprise</a:t>
                      </a:r>
                      <a:endParaRPr lang="en-US" altLang="zh-CN" sz="1200" b="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200" b="0">
                          <a:latin typeface="Times New Roman" panose="02020603050405020304"/>
                          <a:ea typeface="宋体" panose="02010600030101010101" pitchFamily="2" charset="-122"/>
                        </a:rPr>
                        <a:t>fear</a:t>
                      </a:r>
                      <a:endParaRPr lang="en-US" altLang="zh-CN" sz="1200" b="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r>
              <a:tr h="438785">
                <a:tc>
                  <a:txBody>
                    <a:bodyPr/>
                    <a:p>
                      <a:pPr marL="0" indent="0" algn="ctr">
                        <a:spcBef>
                          <a:spcPct val="0"/>
                        </a:spcBef>
                        <a:spcAft>
                          <a:spcPct val="0"/>
                        </a:spcAft>
                      </a:pPr>
                      <a:r>
                        <a:rPr lang="zh-CN" sz="1200">
                          <a:latin typeface="宋体" panose="02010600030101010101" pitchFamily="2" charset="-122"/>
                          <a:ea typeface="宋体" panose="02010600030101010101" pitchFamily="2" charset="-122"/>
                        </a:rPr>
                        <a:t>训练集</a:t>
                      </a:r>
                      <a:endParaRPr 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8344</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5749</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5379</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4990</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2086</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1220</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438785">
                <a:tc>
                  <a:txBody>
                    <a:bodyPr/>
                    <a:p>
                      <a:pPr marL="0" indent="0" algn="ctr">
                        <a:spcBef>
                          <a:spcPct val="0"/>
                        </a:spcBef>
                        <a:spcAft>
                          <a:spcPct val="0"/>
                        </a:spcAft>
                      </a:pPr>
                      <a:r>
                        <a:rPr lang="zh-CN" sz="1200">
                          <a:latin typeface="宋体" panose="02010600030101010101" pitchFamily="2" charset="-122"/>
                          <a:ea typeface="宋体" panose="02010600030101010101" pitchFamily="2" charset="-122"/>
                        </a:rPr>
                        <a:t>验证集</a:t>
                      </a:r>
                      <a:endParaRPr 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586</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420</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391</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346</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170</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87</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438785">
                <a:tc>
                  <a:txBody>
                    <a:bodyPr/>
                    <a:p>
                      <a:pPr marL="0" indent="0" algn="ctr">
                        <a:spcBef>
                          <a:spcPct val="0"/>
                        </a:spcBef>
                        <a:spcAft>
                          <a:spcPct val="0"/>
                        </a:spcAft>
                      </a:pPr>
                      <a:r>
                        <a:rPr lang="zh-CN" sz="1200">
                          <a:latin typeface="宋体" panose="02010600030101010101" pitchFamily="2" charset="-122"/>
                          <a:ea typeface="宋体" panose="02010600030101010101" pitchFamily="2" charset="-122"/>
                        </a:rPr>
                        <a:t>测试集</a:t>
                      </a:r>
                      <a:endParaRPr 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1508</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990</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1018</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900</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374</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210</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
        <p:nvSpPr>
          <p:cNvPr id="13" name="文本框 12"/>
          <p:cNvSpPr txBox="1"/>
          <p:nvPr/>
        </p:nvSpPr>
        <p:spPr>
          <a:xfrm>
            <a:off x="6310630" y="5204460"/>
            <a:ext cx="4649470" cy="297180"/>
          </a:xfrm>
          <a:prstGeom prst="rect">
            <a:avLst/>
          </a:prstGeom>
          <a:noFill/>
        </p:spPr>
        <p:txBody>
          <a:bodyPr wrap="square" rtlCol="0">
            <a:spAutoFit/>
          </a:bodyPr>
          <a:p>
            <a:r>
              <a:rPr lang="zh-CN" altLang="en-US" sz="1335">
                <a:solidFill>
                  <a:schemeClr val="tx1">
                    <a:lumMod val="75000"/>
                    <a:lumOff val="25000"/>
                  </a:schemeClr>
                </a:solidFill>
                <a:latin typeface="汉仪旗黑-55简" panose="00020600040101010101" charset="-128"/>
                <a:ea typeface="汉仪旗黑-55简" panose="00020600040101010101" charset="-128"/>
              </a:rPr>
              <a:t>数据标签分布情况（</a:t>
            </a:r>
            <a:r>
              <a:rPr lang="zh-CN" altLang="en-US" sz="1335">
                <a:solidFill>
                  <a:schemeClr val="tx1">
                    <a:lumMod val="75000"/>
                    <a:lumOff val="25000"/>
                  </a:schemeClr>
                </a:solidFill>
                <a:latin typeface="汉仪旗黑-55简" panose="00020600040101010101" charset="-128"/>
                <a:ea typeface="汉仪旗黑-55简" panose="00020600040101010101" charset="-128"/>
                <a:sym typeface="+mn-ea"/>
              </a:rPr>
              <a:t>SMP2020-EWECT通用微博数据集</a:t>
            </a:r>
            <a:r>
              <a:rPr lang="zh-CN" altLang="en-US" sz="1335">
                <a:solidFill>
                  <a:schemeClr val="tx1">
                    <a:lumMod val="75000"/>
                    <a:lumOff val="25000"/>
                  </a:schemeClr>
                </a:solidFill>
                <a:latin typeface="汉仪旗黑-55简" panose="00020600040101010101" charset="-128"/>
                <a:ea typeface="汉仪旗黑-55简" panose="00020600040101010101" charset="-128"/>
              </a:rPr>
              <a:t>）</a:t>
            </a:r>
            <a:endParaRPr lang="zh-CN" altLang="en-US">
              <a:latin typeface="微软雅黑" panose="020B0503020204020204" charset="-122"/>
              <a:ea typeface="微软雅黑" panose="020B0503020204020204" charset="-122"/>
            </a:endParaRPr>
          </a:p>
        </p:txBody>
      </p:sp>
      <p:sp>
        <p:nvSpPr>
          <p:cNvPr id="2" name="文本框 1"/>
          <p:cNvSpPr txBox="1"/>
          <p:nvPr/>
        </p:nvSpPr>
        <p:spPr>
          <a:xfrm>
            <a:off x="904240" y="5749290"/>
            <a:ext cx="10155555" cy="676275"/>
          </a:xfrm>
          <a:prstGeom prst="rect">
            <a:avLst/>
          </a:prstGeom>
          <a:noFill/>
        </p:spPr>
        <p:txBody>
          <a:bodyPr wrap="square" rtlCol="0">
            <a:noAutofit/>
          </a:bodyPr>
          <a:p>
            <a:r>
              <a:rPr lang="en-US" altLang="zh-CN"/>
              <a:t>[1]</a:t>
            </a:r>
            <a:r>
              <a:rPr lang="zh-CN" altLang="en-US"/>
              <a:t>张浩</a:t>
            </a:r>
            <a:r>
              <a:rPr lang="en-US" altLang="zh-CN"/>
              <a:t>,</a:t>
            </a:r>
            <a:r>
              <a:rPr lang="zh-CN" altLang="en-US"/>
              <a:t>李世琪</a:t>
            </a:r>
            <a:r>
              <a:rPr lang="en-US" altLang="zh-CN"/>
              <a:t>,</a:t>
            </a:r>
            <a:r>
              <a:rPr lang="zh-CN" altLang="en-US"/>
              <a:t>刘晓宇</a:t>
            </a:r>
            <a:r>
              <a:rPr lang="en-US" altLang="zh-CN"/>
              <a:t>,</a:t>
            </a:r>
            <a:r>
              <a:rPr lang="zh-CN" altLang="en-US"/>
              <a:t>等</a:t>
            </a:r>
            <a:r>
              <a:rPr lang="en-US" altLang="zh-CN"/>
              <a:t>.</a:t>
            </a:r>
            <a:r>
              <a:rPr lang="zh-CN" altLang="en-US"/>
              <a:t>基于多尺度特征与混合注意力的社交媒体文本情感分类研究</a:t>
            </a:r>
            <a:r>
              <a:rPr lang="en-US" altLang="zh-CN"/>
              <a:t>[J/OL].</a:t>
            </a:r>
            <a:r>
              <a:rPr lang="zh-CN" altLang="en-US"/>
              <a:t>内蒙古民族大学学报</a:t>
            </a:r>
            <a:r>
              <a:rPr lang="en-US" altLang="zh-CN"/>
              <a:t>(</a:t>
            </a:r>
            <a:r>
              <a:rPr lang="zh-CN" altLang="en-US"/>
              <a:t>自然科学版</a:t>
            </a:r>
            <a:r>
              <a:rPr lang="en-US" altLang="zh-CN"/>
              <a:t>),1-10.https://link.cnki.net/urlid/15.1220.N.20260313.1020.002.</a:t>
            </a:r>
            <a:endParaRPr lang="en-US" altLang="zh-CN"/>
          </a:p>
          <a:p>
            <a:endParaRPr lang="en-US" altLang="zh-CN"/>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5830" y="335598"/>
            <a:ext cx="3817620" cy="107632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研究内容与方法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a:p>
            <a:pPr algn="l">
              <a:lnSpc>
                <a:spcPct val="100000"/>
              </a:lnSpc>
            </a:pP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15" name="椭圆 14"/>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16" name="任意多边形 15"/>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graphicFrame>
        <p:nvGraphicFramePr>
          <p:cNvPr id="2" name="表格 1"/>
          <p:cNvGraphicFramePr/>
          <p:nvPr>
            <p:custDataLst>
              <p:tags r:id="rId1"/>
            </p:custDataLst>
          </p:nvPr>
        </p:nvGraphicFramePr>
        <p:xfrm>
          <a:off x="450215" y="1243330"/>
          <a:ext cx="4293235" cy="3013710"/>
        </p:xfrm>
        <a:graphic>
          <a:graphicData uri="http://schemas.openxmlformats.org/drawingml/2006/table">
            <a:tbl>
              <a:tblPr/>
              <a:tblGrid>
                <a:gridCol w="2088515"/>
                <a:gridCol w="588010"/>
                <a:gridCol w="514350"/>
                <a:gridCol w="514350"/>
                <a:gridCol w="588010"/>
              </a:tblGrid>
              <a:tr h="430530">
                <a:tc>
                  <a:txBody>
                    <a:bodyPr/>
                    <a:p>
                      <a:pPr marL="0" indent="0" algn="ctr">
                        <a:spcBef>
                          <a:spcPct val="0"/>
                        </a:spcBef>
                        <a:spcAft>
                          <a:spcPct val="0"/>
                        </a:spcAft>
                      </a:pPr>
                      <a:r>
                        <a:rPr lang="zh-CN" sz="1000">
                          <a:latin typeface="宋体" panose="02010600030101010101" pitchFamily="2" charset="-122"/>
                          <a:ea typeface="宋体" panose="02010600030101010101" pitchFamily="2" charset="-122"/>
                        </a:rPr>
                        <a:t>模型</a:t>
                      </a:r>
                      <a:endParaRPr lang="zh-CN" sz="1000">
                        <a:latin typeface="宋体" panose="02010600030101010101" pitchFamily="2" charset="-122"/>
                        <a:ea typeface="宋体" panose="02010600030101010101" pitchFamily="2" charset="-122"/>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ACC(%)</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P(%)</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R(%)</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F1(%)</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30530">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ERNIE-MLFF-DCTCN-Att</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78.85*</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76.50*</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r>
              <a:tr h="430530">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BERT-BiLSTM-Att</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78.16</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74.47</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76.24</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75.24</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r>
              <a:tr h="430530">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BERT-Att</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77.4*</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74.9*</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74.0*</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74.3*</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430530">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BERT+CFEBLS</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76.3*</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72.4*</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430530">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Qwen1.5-0.5B</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77.94</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74.83</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75.89</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75.09</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430530">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MFHA-ECM(ours)</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1">
                          <a:latin typeface="Times New Roman" panose="02020603050405020304"/>
                          <a:ea typeface="Times New Roman" panose="02020603050405020304"/>
                        </a:rPr>
                        <a:t>79.64</a:t>
                      </a:r>
                      <a:endParaRPr lang="en-US" altLang="zh-CN" sz="1000" b="1">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1">
                          <a:latin typeface="Times New Roman" panose="02020603050405020304"/>
                          <a:ea typeface="Times New Roman" panose="02020603050405020304"/>
                        </a:rPr>
                        <a:t>76.76</a:t>
                      </a:r>
                      <a:endParaRPr lang="en-US" altLang="zh-CN" sz="1000" b="1">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1">
                          <a:latin typeface="Times New Roman" panose="02020603050405020304"/>
                          <a:ea typeface="Times New Roman" panose="02020603050405020304"/>
                        </a:rPr>
                        <a:t>77.50</a:t>
                      </a:r>
                      <a:endParaRPr lang="en-US" altLang="zh-CN" sz="1000" b="1">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1">
                          <a:latin typeface="Times New Roman" panose="02020603050405020304"/>
                          <a:ea typeface="Times New Roman" panose="02020603050405020304"/>
                        </a:rPr>
                        <a:t>77.06</a:t>
                      </a:r>
                      <a:endParaRPr lang="en-US" altLang="zh-CN" sz="1000" b="1">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graphicFrame>
        <p:nvGraphicFramePr>
          <p:cNvPr id="3" name="表格 2"/>
          <p:cNvGraphicFramePr/>
          <p:nvPr>
            <p:custDataLst>
              <p:tags r:id="rId2"/>
            </p:custDataLst>
          </p:nvPr>
        </p:nvGraphicFramePr>
        <p:xfrm>
          <a:off x="6005830" y="1240790"/>
          <a:ext cx="4999990" cy="3016250"/>
        </p:xfrm>
        <a:graphic>
          <a:graphicData uri="http://schemas.openxmlformats.org/drawingml/2006/table">
            <a:tbl>
              <a:tblPr/>
              <a:tblGrid>
                <a:gridCol w="2519045"/>
                <a:gridCol w="620395"/>
                <a:gridCol w="620395"/>
                <a:gridCol w="619760"/>
                <a:gridCol w="620395"/>
              </a:tblGrid>
              <a:tr h="603250">
                <a:tc>
                  <a:txBody>
                    <a:bodyPr/>
                    <a:p>
                      <a:pPr marL="0" indent="0" algn="ctr">
                        <a:spcBef>
                          <a:spcPct val="0"/>
                        </a:spcBef>
                        <a:spcAft>
                          <a:spcPct val="0"/>
                        </a:spcAft>
                      </a:pPr>
                      <a:r>
                        <a:rPr lang="zh-CN" sz="1000">
                          <a:latin typeface="Times New Roman" panose="02020603050405020304"/>
                          <a:ea typeface="宋体" panose="02010600030101010101" pitchFamily="2" charset="-122"/>
                        </a:rPr>
                        <a:t>模型</a:t>
                      </a:r>
                      <a:endParaRPr lang="zh-CN" sz="1000">
                        <a:latin typeface="Times New Roman" panose="02020603050405020304"/>
                        <a:ea typeface="宋体" panose="02010600030101010101" pitchFamily="2" charset="-122"/>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a:latin typeface="Times New Roman" panose="02020603050405020304"/>
                          <a:ea typeface="Times New Roman" panose="02020603050405020304"/>
                        </a:rPr>
                        <a:t>ACC</a:t>
                      </a:r>
                      <a:r>
                        <a:rPr lang="en-US" altLang="zh-CN" sz="1000">
                          <a:latin typeface="Times New Roman" panose="02020603050405020304"/>
                          <a:ea typeface="Times New Roman" panose="02020603050405020304"/>
                        </a:rPr>
                        <a:t>(%)</a:t>
                      </a:r>
                      <a:endParaRPr lang="en-US" altLang="zh-CN" sz="100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a:latin typeface="Times New Roman" panose="02020603050405020304"/>
                          <a:ea typeface="Times New Roman" panose="02020603050405020304"/>
                        </a:rPr>
                        <a:t>P</a:t>
                      </a:r>
                      <a:r>
                        <a:rPr lang="en-US" altLang="zh-CN" sz="1000">
                          <a:latin typeface="Times New Roman" panose="02020603050405020304"/>
                          <a:ea typeface="Times New Roman" panose="02020603050405020304"/>
                        </a:rPr>
                        <a:t>(%)</a:t>
                      </a:r>
                      <a:endParaRPr lang="en-US" altLang="zh-CN" sz="100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a:latin typeface="Times New Roman" panose="02020603050405020304"/>
                          <a:ea typeface="Times New Roman" panose="02020603050405020304"/>
                        </a:rPr>
                        <a:t>R</a:t>
                      </a:r>
                      <a:r>
                        <a:rPr lang="en-US" altLang="zh-CN" sz="1000">
                          <a:latin typeface="Times New Roman" panose="02020603050405020304"/>
                          <a:ea typeface="Times New Roman" panose="02020603050405020304"/>
                        </a:rPr>
                        <a:t>(%)</a:t>
                      </a:r>
                      <a:endParaRPr lang="en-US" altLang="zh-CN" sz="100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a:latin typeface="Times New Roman" panose="02020603050405020304"/>
                          <a:ea typeface="Times New Roman" panose="02020603050405020304"/>
                        </a:rPr>
                        <a:t>F1</a:t>
                      </a:r>
                      <a:r>
                        <a:rPr lang="en-US" altLang="zh-CN" sz="1000">
                          <a:latin typeface="Times New Roman" panose="02020603050405020304"/>
                          <a:ea typeface="Times New Roman" panose="02020603050405020304"/>
                        </a:rPr>
                        <a:t>(%)</a:t>
                      </a:r>
                      <a:endParaRPr lang="en-US" altLang="zh-CN" sz="100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603250">
                <a:tc>
                  <a:txBody>
                    <a:bodyPr/>
                    <a:p>
                      <a:pPr marL="0" indent="0" algn="ctr">
                        <a:spcBef>
                          <a:spcPct val="0"/>
                        </a:spcBef>
                        <a:spcAft>
                          <a:spcPct val="0"/>
                        </a:spcAft>
                      </a:pPr>
                      <a:r>
                        <a:rPr lang="zh-CN" sz="1000">
                          <a:latin typeface="宋体" panose="02010600030101010101" pitchFamily="2" charset="-122"/>
                          <a:ea typeface="宋体" panose="02010600030101010101" pitchFamily="2" charset="-122"/>
                        </a:rPr>
                        <a:t>消融模型</a:t>
                      </a:r>
                      <a:r>
                        <a:rPr lang="en-US" altLang="zh-CN" sz="1000">
                          <a:latin typeface="Times New Roman" panose="02020603050405020304"/>
                          <a:ea typeface="Times New Roman" panose="02020603050405020304"/>
                        </a:rPr>
                        <a:t>1</a:t>
                      </a:r>
                      <a:endParaRPr lang="en-US" altLang="zh-CN" sz="100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78.82</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75.96</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76.20</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76.00</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r>
              <a:tr h="603250">
                <a:tc>
                  <a:txBody>
                    <a:bodyPr/>
                    <a:p>
                      <a:pPr marL="0" indent="0" algn="ctr">
                        <a:spcBef>
                          <a:spcPct val="0"/>
                        </a:spcBef>
                        <a:spcAft>
                          <a:spcPct val="0"/>
                        </a:spcAft>
                      </a:pPr>
                      <a:r>
                        <a:rPr lang="zh-CN" sz="1000">
                          <a:latin typeface="宋体" panose="02010600030101010101" pitchFamily="2" charset="-122"/>
                          <a:ea typeface="宋体" panose="02010600030101010101" pitchFamily="2" charset="-122"/>
                        </a:rPr>
                        <a:t>消融模型</a:t>
                      </a:r>
                      <a:r>
                        <a:rPr lang="en-US" altLang="zh-CN" sz="1000">
                          <a:latin typeface="Times New Roman" panose="02020603050405020304"/>
                          <a:ea typeface="Times New Roman" panose="02020603050405020304"/>
                        </a:rPr>
                        <a:t>2</a:t>
                      </a:r>
                      <a:endParaRPr lang="en-US" altLang="zh-CN" sz="100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79.02</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75.29</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78.19</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76.49</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603250">
                <a:tc>
                  <a:txBody>
                    <a:bodyPr/>
                    <a:p>
                      <a:pPr marL="0" indent="0" algn="ctr">
                        <a:spcBef>
                          <a:spcPct val="0"/>
                        </a:spcBef>
                        <a:spcAft>
                          <a:spcPct val="0"/>
                        </a:spcAft>
                      </a:pPr>
                      <a:r>
                        <a:rPr lang="zh-CN" sz="1000">
                          <a:latin typeface="宋体" panose="02010600030101010101" pitchFamily="2" charset="-122"/>
                          <a:ea typeface="宋体" panose="02010600030101010101" pitchFamily="2" charset="-122"/>
                        </a:rPr>
                        <a:t>消融模型</a:t>
                      </a:r>
                      <a:r>
                        <a:rPr lang="en-US" altLang="zh-CN" sz="1000">
                          <a:latin typeface="Times New Roman" panose="02020603050405020304"/>
                          <a:ea typeface="Times New Roman" panose="02020603050405020304"/>
                        </a:rPr>
                        <a:t>3</a:t>
                      </a:r>
                      <a:endParaRPr lang="en-US" altLang="zh-CN" sz="100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79.56</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76.37</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77.42</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76.84</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603250">
                <a:tc>
                  <a:txBody>
                    <a:bodyPr/>
                    <a:p>
                      <a:pPr marL="0" indent="0" algn="ctr">
                        <a:spcBef>
                          <a:spcPct val="0"/>
                        </a:spcBef>
                        <a:spcAft>
                          <a:spcPct val="0"/>
                        </a:spcAft>
                      </a:pPr>
                      <a:r>
                        <a:rPr lang="zh-CN" sz="1000">
                          <a:latin typeface="Times New Roman" panose="02020603050405020304"/>
                          <a:ea typeface="宋体" panose="02010600030101010101" pitchFamily="2" charset="-122"/>
                        </a:rPr>
                        <a:t>消融模型</a:t>
                      </a:r>
                      <a:r>
                        <a:rPr lang="en-US" altLang="zh-CN" sz="1000">
                          <a:latin typeface="Times New Roman" panose="02020603050405020304"/>
                          <a:ea typeface="Times New Roman" panose="02020603050405020304"/>
                        </a:rPr>
                        <a:t>4</a:t>
                      </a:r>
                      <a:endParaRPr lang="en-US" altLang="zh-CN" sz="100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79.64</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76.76</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77.50</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77.0</a:t>
                      </a:r>
                      <a:r>
                        <a:rPr lang="en-US" altLang="zh-CN" sz="1000" b="0">
                          <a:latin typeface="Times New Roman" panose="02020603050405020304"/>
                          <a:ea typeface="Times New Roman" panose="02020603050405020304"/>
                        </a:rPr>
                        <a:t>6</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0" y="5815965"/>
            <a:ext cx="12192000" cy="1042035"/>
            <a:chOff x="0" y="5835"/>
            <a:chExt cx="19200" cy="4965"/>
          </a:xfrm>
        </p:grpSpPr>
        <p:sp>
          <p:nvSpPr>
            <p:cNvPr id="5" name="任意多边形 4"/>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6" name="文本框 5"/>
          <p:cNvSpPr txBox="1"/>
          <p:nvPr/>
        </p:nvSpPr>
        <p:spPr>
          <a:xfrm>
            <a:off x="2510790" y="946150"/>
            <a:ext cx="7924800" cy="408305"/>
          </a:xfrm>
          <a:prstGeom prst="rect">
            <a:avLst/>
          </a:prstGeom>
          <a:noFill/>
        </p:spPr>
        <p:txBody>
          <a:bodyPr wrap="square" rtlCol="0">
            <a:noAutofit/>
          </a:bodyPr>
          <a:p>
            <a:pPr algn="ctr"/>
            <a:r>
              <a:rPr lang="zh-CN" altLang="en-US" sz="24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基于情感知识增强与多层次对比学习的传统蒙文情感分析</a:t>
            </a:r>
            <a:endParaRPr lang="zh-CN" altLang="en-US" sz="24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
        <p:nvSpPr>
          <p:cNvPr id="20" name="文本框 19"/>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研究内容与方法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21" name="椭圆 20"/>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椭圆 2"/>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3" name="文本框 12"/>
          <p:cNvSpPr txBox="1"/>
          <p:nvPr>
            <p:custDataLst>
              <p:tags r:id="rId1"/>
            </p:custDataLst>
          </p:nvPr>
        </p:nvSpPr>
        <p:spPr>
          <a:xfrm>
            <a:off x="3248660" y="2383790"/>
            <a:ext cx="6632575" cy="417830"/>
          </a:xfrm>
          <a:prstGeom prst="rect">
            <a:avLst/>
          </a:prstGeom>
          <a:noFill/>
        </p:spPr>
        <p:txBody>
          <a:bodyPr wrap="square" rtlCol="0"/>
          <a:lstStyle/>
          <a:p>
            <a:pPr lvl="0" algn="ctr" fontAlgn="auto">
              <a:lnSpc>
                <a:spcPct val="110000"/>
              </a:lnSpc>
              <a:spcBef>
                <a:spcPts val="0"/>
              </a:spcBef>
              <a:buClrTx/>
              <a:buSzTx/>
              <a:buFontTx/>
            </a:pPr>
            <a:r>
              <a:rPr lang="zh-CN" altLang="en-US" sz="1800">
                <a:solidFill>
                  <a:schemeClr val="tx1">
                    <a:lumMod val="75000"/>
                    <a:lumOff val="25000"/>
                  </a:schemeClr>
                </a:solidFill>
                <a:latin typeface="汉仪旗黑-55简" panose="00020600040101010101" charset="-128"/>
                <a:ea typeface="汉仪旗黑-55简" panose="00020600040101010101" charset="-128"/>
                <a:sym typeface="+mn-ea"/>
              </a:rPr>
              <a:t>针对传统蒙文情感分析中低资源、噪声强及类间可分性差的问题</a:t>
            </a:r>
            <a:endParaRPr lang="zh-CN" sz="1800" spc="74">
              <a:solidFill>
                <a:srgbClr val="000000"/>
              </a:solidFill>
              <a:latin typeface="微软雅黑" panose="020B0503020204020204" charset="-122"/>
              <a:ea typeface="微软雅黑" panose="020B0503020204020204" charset="-122"/>
              <a:cs typeface="+mj-ea"/>
              <a:sym typeface="+mn-ea"/>
            </a:endParaRPr>
          </a:p>
        </p:txBody>
      </p:sp>
      <p:sp>
        <p:nvSpPr>
          <p:cNvPr id="16" name="椭圆 15"/>
          <p:cNvSpPr/>
          <p:nvPr>
            <p:custDataLst>
              <p:tags r:id="rId2"/>
            </p:custDataLst>
          </p:nvPr>
        </p:nvSpPr>
        <p:spPr>
          <a:xfrm>
            <a:off x="1768787" y="1970880"/>
            <a:ext cx="1264444" cy="1264444"/>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rPr>
              <a:t>问题</a:t>
            </a:r>
            <a:endPar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7" name="椭圆 16"/>
          <p:cNvSpPr/>
          <p:nvPr>
            <p:custDataLst>
              <p:tags r:id="rId3"/>
            </p:custDataLst>
          </p:nvPr>
        </p:nvSpPr>
        <p:spPr>
          <a:xfrm>
            <a:off x="1811967" y="4083525"/>
            <a:ext cx="1264444" cy="1264444"/>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r>
              <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rPr>
              <a:t>解决方案</a:t>
            </a:r>
            <a:endPar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9" name="文本框 18"/>
          <p:cNvSpPr txBox="1"/>
          <p:nvPr>
            <p:custDataLst>
              <p:tags r:id="rId4"/>
            </p:custDataLst>
          </p:nvPr>
        </p:nvSpPr>
        <p:spPr>
          <a:xfrm>
            <a:off x="3248025" y="4307840"/>
            <a:ext cx="6633210" cy="1256030"/>
          </a:xfrm>
          <a:prstGeom prst="rect">
            <a:avLst/>
          </a:prstGeom>
          <a:noFill/>
        </p:spPr>
        <p:txBody>
          <a:bodyPr wrap="square" rtlCol="0"/>
          <a:p>
            <a:pPr lvl="0" algn="just" fontAlgn="auto">
              <a:lnSpc>
                <a:spcPct val="110000"/>
              </a:lnSpc>
              <a:spcBef>
                <a:spcPts val="0"/>
              </a:spcBef>
              <a:buClrTx/>
              <a:buSzTx/>
              <a:buFontTx/>
            </a:pPr>
            <a:r>
              <a:rPr lang="zh-CN" altLang="en-US" sz="1800">
                <a:solidFill>
                  <a:schemeClr val="tx1">
                    <a:lumMod val="75000"/>
                    <a:lumOff val="25000"/>
                  </a:schemeClr>
                </a:solidFill>
                <a:latin typeface="汉仪旗黑-55简" panose="00020600040101010101" charset="-128"/>
                <a:ea typeface="汉仪旗黑-55简" panose="00020600040101010101" charset="-128"/>
                <a:sym typeface="+mn-ea"/>
              </a:rPr>
              <a:t>提出一种基于情感知识增强与多层次对比学习的蒙文情感分析方法。该方法通过融合语言学、外部情感知识与深层语义的多层次表示，结合情感感知注意力与门控特征融合机制，并引入多层次对比学习以优化模型区分能力。实验表明，所提方法有效提升了蒙文情感分类的准确性与鲁棒性。</a:t>
            </a:r>
            <a:endParaRPr lang="zh-CN" altLang="en-US" sz="1800">
              <a:solidFill>
                <a:schemeClr val="tx1">
                  <a:lumMod val="75000"/>
                  <a:lumOff val="25000"/>
                </a:schemeClr>
              </a:solidFill>
              <a:latin typeface="汉仪旗黑-55简" panose="00020600040101010101" charset="-128"/>
              <a:ea typeface="汉仪旗黑-55简" panose="00020600040101010101" charset="-128"/>
              <a:sym typeface="+mn-ea"/>
            </a:endParaRPr>
          </a:p>
          <a:p>
            <a:pPr lvl="0" algn="just" fontAlgn="auto">
              <a:lnSpc>
                <a:spcPct val="110000"/>
              </a:lnSpc>
              <a:spcBef>
                <a:spcPts val="0"/>
              </a:spcBef>
              <a:buClrTx/>
              <a:buSzTx/>
              <a:buFontTx/>
            </a:pPr>
            <a:endParaRPr lang="zh-CN" altLang="en-US" sz="18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2" name="下箭头 21"/>
          <p:cNvSpPr/>
          <p:nvPr/>
        </p:nvSpPr>
        <p:spPr>
          <a:xfrm>
            <a:off x="6297930" y="3208020"/>
            <a:ext cx="350520" cy="69342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267"/>
          <p:cNvPicPr>
            <a:picLocks noChangeAspect="1"/>
          </p:cNvPicPr>
          <p:nvPr/>
        </p:nvPicPr>
        <p:blipFill>
          <a:blip r:embed="rId1"/>
          <a:stretch>
            <a:fillRect/>
          </a:stretch>
        </p:blipFill>
        <p:spPr>
          <a:xfrm>
            <a:off x="710565" y="527685"/>
            <a:ext cx="10293985" cy="5064125"/>
          </a:xfrm>
          <a:prstGeom prst="rect">
            <a:avLst/>
          </a:prstGeom>
          <a:noFill/>
          <a:ln>
            <a:noFill/>
          </a:ln>
        </p:spPr>
      </p:pic>
      <p:grpSp>
        <p:nvGrpSpPr>
          <p:cNvPr id="42" name="组合 41"/>
          <p:cNvGrpSpPr/>
          <p:nvPr/>
        </p:nvGrpSpPr>
        <p:grpSpPr>
          <a:xfrm>
            <a:off x="0" y="5815965"/>
            <a:ext cx="12192000" cy="1042035"/>
            <a:chOff x="0" y="5835"/>
            <a:chExt cx="19200" cy="4965"/>
          </a:xfrm>
        </p:grpSpPr>
        <p:sp>
          <p:nvSpPr>
            <p:cNvPr id="5" name="任意多边形 4"/>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20" name="文本框 19"/>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研究内容与方法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21" name="椭圆 20"/>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椭圆 2"/>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 name="文本框 1"/>
          <p:cNvSpPr txBox="1"/>
          <p:nvPr/>
        </p:nvSpPr>
        <p:spPr>
          <a:xfrm>
            <a:off x="1376045" y="5836920"/>
            <a:ext cx="9373235" cy="521970"/>
          </a:xfrm>
          <a:prstGeom prst="rect">
            <a:avLst/>
          </a:prstGeom>
          <a:noFill/>
        </p:spPr>
        <p:txBody>
          <a:bodyPr wrap="square" rtlCol="0">
            <a:spAutoFit/>
          </a:bodyPr>
          <a:p>
            <a:r>
              <a:rPr lang="en-US" altLang="zh-CN"/>
              <a:t>Mongolian Sentiment Analysis with Emotion Knowledge Enhancement and Multi-level Contrastive Learning</a:t>
            </a:r>
            <a:br>
              <a:rPr lang="en-US" altLang="zh-CN"/>
            </a:br>
            <a:r>
              <a:rPr lang="en-US" altLang="zh-CN"/>
              <a:t>neurocomputing</a:t>
            </a:r>
            <a:r>
              <a:rPr lang="zh-CN" altLang="en-US">
                <a:ea typeface="宋体" panose="02010600030101010101" pitchFamily="2" charset="-122"/>
              </a:rPr>
              <a:t>（</a:t>
            </a:r>
            <a:r>
              <a:rPr lang="zh-CN" altLang="en-US">
                <a:ea typeface="宋体" panose="02010600030101010101" pitchFamily="2" charset="-122"/>
              </a:rPr>
              <a:t>在投）</a:t>
            </a:r>
            <a:endParaRPr lang="zh-CN" altLang="en-US">
              <a:ea typeface="宋体" panose="0201060003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0" y="5815965"/>
            <a:ext cx="12192000" cy="1042035"/>
            <a:chOff x="0" y="5835"/>
            <a:chExt cx="19200" cy="4965"/>
          </a:xfrm>
        </p:grpSpPr>
        <p:sp>
          <p:nvSpPr>
            <p:cNvPr id="5" name="任意多边形 4"/>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20" name="文本框 19"/>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研究内容与方法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21" name="椭圆 20"/>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椭圆 2"/>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aphicFrame>
        <p:nvGraphicFramePr>
          <p:cNvPr id="2" name="表格 1"/>
          <p:cNvGraphicFramePr/>
          <p:nvPr/>
        </p:nvGraphicFramePr>
        <p:xfrm>
          <a:off x="3545523" y="1340485"/>
          <a:ext cx="5258435" cy="1910080"/>
        </p:xfrm>
        <a:graphic>
          <a:graphicData uri="http://schemas.openxmlformats.org/drawingml/2006/table">
            <a:tbl>
              <a:tblPr/>
              <a:tblGrid>
                <a:gridCol w="1388745"/>
                <a:gridCol w="948690"/>
                <a:gridCol w="894715"/>
                <a:gridCol w="856615"/>
                <a:gridCol w="1169670"/>
              </a:tblGrid>
              <a:tr h="0">
                <a:tc>
                  <a:txBody>
                    <a:bodyPr/>
                    <a:p>
                      <a:pPr marL="0" indent="0" algn="ctr" fontAlgn="base">
                        <a:spcBef>
                          <a:spcPct val="0"/>
                        </a:spcBef>
                        <a:spcAft>
                          <a:spcPct val="0"/>
                        </a:spcAft>
                      </a:pPr>
                      <a:r>
                        <a:rPr lang="zh-CN" sz="1100" i="0">
                          <a:latin typeface="Times New Roman" panose="02020603050405020304"/>
                          <a:ea typeface="宋体" panose="02010600030101010101" pitchFamily="2" charset="-122"/>
                        </a:rPr>
                        <a:t>模型</a:t>
                      </a:r>
                      <a:endParaRPr lang="zh-CN" sz="1100" i="0">
                        <a:latin typeface="Times New Roman" panose="02020603050405020304"/>
                        <a:ea typeface="宋体" panose="02010600030101010101" pitchFamily="2" charset="-122"/>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ACC(%)</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P(%)</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R(%)</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F1(%)</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fontAlgn="base">
                        <a:spcBef>
                          <a:spcPct val="0"/>
                        </a:spcBef>
                        <a:spcAft>
                          <a:spcPct val="0"/>
                        </a:spcAft>
                      </a:pPr>
                      <a:r>
                        <a:rPr lang="en-US" altLang="zh-CN" sz="1100" i="0">
                          <a:latin typeface="Times New Roman" panose="02020603050405020304"/>
                          <a:ea typeface="宋体" panose="02010600030101010101" pitchFamily="2" charset="-122"/>
                        </a:rPr>
                        <a:t>CNN</a:t>
                      </a:r>
                      <a:endParaRPr lang="en-US" altLang="zh-CN" sz="1100" i="0">
                        <a:latin typeface="Times New Roman" panose="02020603050405020304"/>
                        <a:ea typeface="宋体" panose="02010600030101010101" pitchFamily="2" charset="-122"/>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34.26</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32.22</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31.63</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31.36</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r>
              <a:tr h="0">
                <a:tc>
                  <a:txBody>
                    <a:bodyPr/>
                    <a:p>
                      <a:pPr marL="0" indent="0" algn="ctr" fontAlgn="base">
                        <a:spcBef>
                          <a:spcPct val="0"/>
                        </a:spcBef>
                        <a:spcAft>
                          <a:spcPct val="0"/>
                        </a:spcAft>
                      </a:pPr>
                      <a:r>
                        <a:rPr lang="en-US" altLang="zh-CN" sz="1100" i="0">
                          <a:latin typeface="Times New Roman" panose="02020603050405020304"/>
                          <a:ea typeface="宋体" panose="02010600030101010101" pitchFamily="2" charset="-122"/>
                        </a:rPr>
                        <a:t>BiGRU</a:t>
                      </a:r>
                      <a:endParaRPr lang="en-US" altLang="zh-CN" sz="1100" i="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36.60</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33.03</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34.70</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33.31</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0">
                <a:tc>
                  <a:txBody>
                    <a:bodyPr/>
                    <a:p>
                      <a:pPr marL="0" indent="0" algn="ctr" fontAlgn="base">
                        <a:spcBef>
                          <a:spcPct val="0"/>
                        </a:spcBef>
                        <a:spcAft>
                          <a:spcPct val="0"/>
                        </a:spcAft>
                      </a:pPr>
                      <a:r>
                        <a:rPr lang="en-US" altLang="zh-CN" sz="1100" i="0">
                          <a:latin typeface="Times New Roman" panose="02020603050405020304"/>
                          <a:ea typeface="宋体" panose="02010600030101010101" pitchFamily="2" charset="-122"/>
                        </a:rPr>
                        <a:t>BiLSTM-attention</a:t>
                      </a:r>
                      <a:endParaRPr lang="en-US" altLang="zh-CN" sz="1100" i="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36.96</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33.05</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33.66</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33.05</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0">
                <a:tc>
                  <a:txBody>
                    <a:bodyPr/>
                    <a:p>
                      <a:pPr marL="0" indent="0" algn="ctr" fontAlgn="base">
                        <a:spcBef>
                          <a:spcPct val="0"/>
                        </a:spcBef>
                        <a:spcAft>
                          <a:spcPct val="0"/>
                        </a:spcAft>
                      </a:pPr>
                      <a:r>
                        <a:rPr lang="en-US" altLang="zh-CN" sz="1100" i="0">
                          <a:latin typeface="Times New Roman" panose="02020603050405020304"/>
                          <a:ea typeface="宋体" panose="02010600030101010101" pitchFamily="2" charset="-122"/>
                        </a:rPr>
                        <a:t>MTSA-CG</a:t>
                      </a:r>
                      <a:endParaRPr lang="en-US" altLang="zh-CN" sz="1100" i="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31.64</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28.70</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29.97</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28.55</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0">
                <a:tc>
                  <a:txBody>
                    <a:bodyPr/>
                    <a:p>
                      <a:pPr marL="0" indent="0" algn="ctr" fontAlgn="base">
                        <a:spcBef>
                          <a:spcPct val="0"/>
                        </a:spcBef>
                        <a:spcAft>
                          <a:spcPct val="0"/>
                        </a:spcAft>
                      </a:pPr>
                      <a:r>
                        <a:rPr lang="en-US" altLang="zh-CN" sz="1100" i="0">
                          <a:latin typeface="Times New Roman" panose="02020603050405020304"/>
                          <a:ea typeface="宋体" panose="02010600030101010101" pitchFamily="2" charset="-122"/>
                        </a:rPr>
                        <a:t>MMA</a:t>
                      </a:r>
                      <a:endParaRPr lang="en-US" altLang="zh-CN" sz="1100" i="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24.74</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22.75</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22.42</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21.17</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0">
                <a:tc>
                  <a:txBody>
                    <a:bodyPr/>
                    <a:p>
                      <a:pPr marL="0" indent="0" algn="ctr" fontAlgn="base">
                        <a:spcBef>
                          <a:spcPct val="0"/>
                        </a:spcBef>
                        <a:spcAft>
                          <a:spcPct val="0"/>
                        </a:spcAft>
                      </a:pPr>
                      <a:r>
                        <a:rPr lang="en-US" altLang="zh-CN" sz="1100" i="0">
                          <a:latin typeface="Times New Roman" panose="02020603050405020304"/>
                          <a:ea typeface="宋体" panose="02010600030101010101" pitchFamily="2" charset="-122"/>
                        </a:rPr>
                        <a:t>BPE-ATT-BERT</a:t>
                      </a:r>
                      <a:endParaRPr lang="en-US" altLang="zh-CN" sz="1100" i="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24.58</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21.25</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20.91</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19.44</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0">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Ours</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b="1" i="0">
                          <a:latin typeface="Times New Roman" panose="02020603050405020304"/>
                          <a:ea typeface="Times New Roman" panose="02020603050405020304"/>
                        </a:rPr>
                        <a:t>42.04</a:t>
                      </a:r>
                      <a:endParaRPr lang="en-US" altLang="zh-CN" sz="1100" b="1" i="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b="1" i="0">
                          <a:latin typeface="Times New Roman" panose="02020603050405020304"/>
                          <a:ea typeface="Times New Roman" panose="02020603050405020304"/>
                        </a:rPr>
                        <a:t>38.02</a:t>
                      </a:r>
                      <a:endParaRPr lang="en-US" altLang="zh-CN" sz="1100" b="1" i="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b="1" i="0">
                          <a:latin typeface="Times New Roman" panose="02020603050405020304"/>
                          <a:ea typeface="Times New Roman" panose="02020603050405020304"/>
                        </a:rPr>
                        <a:t>38.80</a:t>
                      </a:r>
                      <a:endParaRPr lang="en-US" altLang="zh-CN" sz="1100" b="1" i="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b="1" i="0">
                          <a:latin typeface="Times New Roman" panose="02020603050405020304"/>
                          <a:ea typeface="Times New Roman" panose="02020603050405020304"/>
                        </a:rPr>
                        <a:t>38.25</a:t>
                      </a:r>
                      <a:endParaRPr lang="en-US" altLang="zh-CN" sz="1100" b="1" i="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graphicFrame>
        <p:nvGraphicFramePr>
          <p:cNvPr id="4" name="表格 3"/>
          <p:cNvGraphicFramePr/>
          <p:nvPr/>
        </p:nvGraphicFramePr>
        <p:xfrm>
          <a:off x="2885123" y="4319270"/>
          <a:ext cx="6058535" cy="0"/>
        </p:xfrm>
        <a:graphic>
          <a:graphicData uri="http://schemas.openxmlformats.org/drawingml/2006/table">
            <a:tbl>
              <a:tblPr/>
              <a:tblGrid>
                <a:gridCol w="1791970"/>
                <a:gridCol w="1346835"/>
                <a:gridCol w="941705"/>
                <a:gridCol w="941705"/>
                <a:gridCol w="1036320"/>
              </a:tblGrid>
              <a:tr h="0">
                <a:tc>
                  <a:txBody>
                    <a:bodyPr/>
                    <a:p>
                      <a:pPr marL="0" indent="0" algn="ctr" fontAlgn="base">
                        <a:spcBef>
                          <a:spcPct val="0"/>
                        </a:spcBef>
                        <a:spcAft>
                          <a:spcPct val="0"/>
                        </a:spcAft>
                      </a:pPr>
                      <a:r>
                        <a:rPr lang="zh-CN" sz="1100" i="0">
                          <a:latin typeface="Times New Roman" panose="02020603050405020304"/>
                          <a:ea typeface="宋体" panose="02010600030101010101" pitchFamily="2" charset="-122"/>
                        </a:rPr>
                        <a:t>模型</a:t>
                      </a:r>
                      <a:endParaRPr lang="zh-CN" sz="1100" i="0">
                        <a:latin typeface="Times New Roman" panose="02020603050405020304"/>
                        <a:ea typeface="宋体" panose="02010600030101010101" pitchFamily="2" charset="-122"/>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ACC(%)</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P(%)</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R(%)</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F1(%)</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fontAlgn="base">
                        <a:spcBef>
                          <a:spcPct val="0"/>
                        </a:spcBef>
                        <a:spcAft>
                          <a:spcPct val="0"/>
                        </a:spcAft>
                      </a:pPr>
                      <a:r>
                        <a:rPr lang="zh-CN" sz="1100" i="0">
                          <a:latin typeface="Times New Roman" panose="02020603050405020304"/>
                          <a:ea typeface="宋体" panose="02010600030101010101" pitchFamily="2" charset="-122"/>
                        </a:rPr>
                        <a:t>消融模型</a:t>
                      </a:r>
                      <a:r>
                        <a:rPr lang="en-US" altLang="zh-CN" sz="1100" i="0">
                          <a:latin typeface="Times New Roman" panose="02020603050405020304"/>
                          <a:ea typeface="Times New Roman" panose="02020603050405020304"/>
                        </a:rPr>
                        <a:t>1</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40.98</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37.49</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37.73</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37.26</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r>
              <a:tr h="0">
                <a:tc>
                  <a:txBody>
                    <a:bodyPr/>
                    <a:p>
                      <a:pPr marL="0" indent="0" algn="ctr" fontAlgn="base">
                        <a:spcBef>
                          <a:spcPct val="0"/>
                        </a:spcBef>
                        <a:spcAft>
                          <a:spcPct val="0"/>
                        </a:spcAft>
                      </a:pPr>
                      <a:r>
                        <a:rPr lang="zh-CN" sz="1100" i="0">
                          <a:latin typeface="宋体" panose="02010600030101010101" pitchFamily="2" charset="-122"/>
                          <a:ea typeface="宋体" panose="02010600030101010101" pitchFamily="2" charset="-122"/>
                        </a:rPr>
                        <a:t>消融模型</a:t>
                      </a:r>
                      <a:r>
                        <a:rPr lang="en-US" altLang="zh-CN" sz="1100" i="0">
                          <a:latin typeface="Times New Roman" panose="02020603050405020304"/>
                          <a:ea typeface="Times New Roman" panose="02020603050405020304"/>
                        </a:rPr>
                        <a:t>2</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41.74</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37.75</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37.75</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37.64</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0">
                <a:tc>
                  <a:txBody>
                    <a:bodyPr/>
                    <a:p>
                      <a:pPr marL="0" indent="0" algn="ctr" fontAlgn="base">
                        <a:spcBef>
                          <a:spcPct val="0"/>
                        </a:spcBef>
                        <a:spcAft>
                          <a:spcPct val="0"/>
                        </a:spcAft>
                      </a:pPr>
                      <a:r>
                        <a:rPr lang="zh-CN" sz="1100" i="0">
                          <a:latin typeface="宋体" panose="02010600030101010101" pitchFamily="2" charset="-122"/>
                          <a:ea typeface="宋体" panose="02010600030101010101" pitchFamily="2" charset="-122"/>
                        </a:rPr>
                        <a:t>消融模型</a:t>
                      </a:r>
                      <a:r>
                        <a:rPr lang="en-US" altLang="zh-CN" sz="1100" i="0">
                          <a:latin typeface="Times New Roman" panose="02020603050405020304"/>
                          <a:ea typeface="Times New Roman" panose="02020603050405020304"/>
                        </a:rPr>
                        <a:t>3</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41.54</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37.62</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38.29</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37.87</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0">
                <a:tc>
                  <a:txBody>
                    <a:bodyPr/>
                    <a:p>
                      <a:pPr marL="0" indent="0" algn="ctr" fontAlgn="base">
                        <a:spcBef>
                          <a:spcPct val="0"/>
                        </a:spcBef>
                        <a:spcAft>
                          <a:spcPct val="0"/>
                        </a:spcAft>
                      </a:pPr>
                      <a:r>
                        <a:rPr lang="zh-CN" sz="1100" i="0">
                          <a:latin typeface="Times New Roman" panose="02020603050405020304"/>
                          <a:ea typeface="宋体" panose="02010600030101010101" pitchFamily="2" charset="-122"/>
                        </a:rPr>
                        <a:t>本章</a:t>
                      </a:r>
                      <a:r>
                        <a:rPr lang="zh-CN" sz="1100" i="0">
                          <a:latin typeface="Times New Roman" panose="02020603050405020304"/>
                          <a:ea typeface="宋体" panose="02010600030101010101" pitchFamily="2" charset="-122"/>
                        </a:rPr>
                        <a:t>模型</a:t>
                      </a:r>
                      <a:endParaRPr lang="zh-CN" sz="1100" i="0">
                        <a:latin typeface="Times New Roman" panose="02020603050405020304"/>
                        <a:ea typeface="宋体" panose="02010600030101010101" pitchFamily="2" charset="-122"/>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42.04</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38.02</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38.80</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38.25</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0" y="5815965"/>
            <a:ext cx="12192000" cy="1042035"/>
            <a:chOff x="0" y="5835"/>
            <a:chExt cx="19200" cy="4965"/>
          </a:xfrm>
        </p:grpSpPr>
        <p:sp>
          <p:nvSpPr>
            <p:cNvPr id="5" name="任意多边形 4"/>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20" name="文本框 19"/>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研究内容与方法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21" name="椭圆 20"/>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椭圆 2"/>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6" name="文本框 5"/>
          <p:cNvSpPr txBox="1"/>
          <p:nvPr/>
        </p:nvSpPr>
        <p:spPr>
          <a:xfrm>
            <a:off x="2277745" y="936625"/>
            <a:ext cx="8428990" cy="408305"/>
          </a:xfrm>
          <a:prstGeom prst="rect">
            <a:avLst/>
          </a:prstGeom>
          <a:noFill/>
        </p:spPr>
        <p:txBody>
          <a:bodyPr wrap="square" rtlCol="0">
            <a:noAutofit/>
          </a:bodyPr>
          <a:p>
            <a:pPr algn="ctr"/>
            <a:r>
              <a:rPr lang="zh-CN" altLang="en-US" sz="24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基于智能体辅助的三级蒸馏与动态纠错的多语言文本情感分析</a:t>
            </a:r>
            <a:endParaRPr lang="zh-CN" altLang="en-US" sz="24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
        <p:nvSpPr>
          <p:cNvPr id="13" name="文本框 12"/>
          <p:cNvSpPr txBox="1"/>
          <p:nvPr>
            <p:custDataLst>
              <p:tags r:id="rId1"/>
            </p:custDataLst>
          </p:nvPr>
        </p:nvSpPr>
        <p:spPr>
          <a:xfrm>
            <a:off x="3267710" y="2240915"/>
            <a:ext cx="6632575" cy="636905"/>
          </a:xfrm>
          <a:prstGeom prst="rect">
            <a:avLst/>
          </a:prstGeom>
          <a:noFill/>
        </p:spPr>
        <p:txBody>
          <a:bodyPr wrap="square" rtlCol="0"/>
          <a:lstStyle/>
          <a:p>
            <a:pPr lvl="0" algn="ctr" fontAlgn="auto">
              <a:lnSpc>
                <a:spcPct val="110000"/>
              </a:lnSpc>
              <a:spcBef>
                <a:spcPts val="0"/>
              </a:spcBef>
              <a:buClrTx/>
              <a:buSzTx/>
              <a:buFontTx/>
            </a:pPr>
            <a:r>
              <a:rPr lang="zh-CN" altLang="en-US" sz="1800">
                <a:solidFill>
                  <a:schemeClr val="tx1">
                    <a:lumMod val="75000"/>
                    <a:lumOff val="25000"/>
                  </a:schemeClr>
                </a:solidFill>
                <a:latin typeface="汉仪旗黑-55简" panose="00020600040101010101" charset="-128"/>
                <a:ea typeface="汉仪旗黑-55简" panose="00020600040101010101" charset="-128"/>
                <a:sym typeface="+mn-ea"/>
              </a:rPr>
              <a:t>针对中文、传统蒙文、新蒙文多语言情感分析中知识迁移效率低、低资源语言易过拟合的难题</a:t>
            </a:r>
            <a:endParaRPr lang="zh-CN" sz="1800" spc="74">
              <a:solidFill>
                <a:srgbClr val="000000"/>
              </a:solidFill>
              <a:latin typeface="微软雅黑" panose="020B0503020204020204" charset="-122"/>
              <a:ea typeface="微软雅黑" panose="020B0503020204020204" charset="-122"/>
              <a:cs typeface="+mj-ea"/>
              <a:sym typeface="+mn-ea"/>
            </a:endParaRPr>
          </a:p>
        </p:txBody>
      </p:sp>
      <p:sp>
        <p:nvSpPr>
          <p:cNvPr id="16" name="椭圆 15"/>
          <p:cNvSpPr/>
          <p:nvPr>
            <p:custDataLst>
              <p:tags r:id="rId2"/>
            </p:custDataLst>
          </p:nvPr>
        </p:nvSpPr>
        <p:spPr>
          <a:xfrm>
            <a:off x="1787837" y="1970880"/>
            <a:ext cx="1264444" cy="1264444"/>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rPr>
              <a:t>问题</a:t>
            </a:r>
            <a:endPar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7" name="椭圆 16"/>
          <p:cNvSpPr/>
          <p:nvPr>
            <p:custDataLst>
              <p:tags r:id="rId3"/>
            </p:custDataLst>
          </p:nvPr>
        </p:nvSpPr>
        <p:spPr>
          <a:xfrm>
            <a:off x="1831017" y="4083525"/>
            <a:ext cx="1264444" cy="1264444"/>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r>
              <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rPr>
              <a:t>解决方案</a:t>
            </a:r>
            <a:endPar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9" name="文本框 18"/>
          <p:cNvSpPr txBox="1"/>
          <p:nvPr>
            <p:custDataLst>
              <p:tags r:id="rId4"/>
            </p:custDataLst>
          </p:nvPr>
        </p:nvSpPr>
        <p:spPr>
          <a:xfrm>
            <a:off x="3267075" y="4307840"/>
            <a:ext cx="6633210" cy="1256030"/>
          </a:xfrm>
          <a:prstGeom prst="rect">
            <a:avLst/>
          </a:prstGeom>
          <a:noFill/>
        </p:spPr>
        <p:txBody>
          <a:bodyPr wrap="square" rtlCol="0"/>
          <a:p>
            <a:pPr lvl="0" algn="just" fontAlgn="auto">
              <a:lnSpc>
                <a:spcPct val="110000"/>
              </a:lnSpc>
              <a:spcBef>
                <a:spcPts val="0"/>
              </a:spcBef>
              <a:buClrTx/>
              <a:buSzTx/>
              <a:buFontTx/>
            </a:pPr>
            <a:r>
              <a:rPr lang="zh-CN" altLang="en-US" sz="1800">
                <a:solidFill>
                  <a:schemeClr val="tx1">
                    <a:lumMod val="75000"/>
                    <a:lumOff val="25000"/>
                  </a:schemeClr>
                </a:solidFill>
                <a:latin typeface="汉仪旗黑-55简" panose="00020600040101010101" charset="-128"/>
                <a:ea typeface="汉仪旗黑-55简" panose="00020600040101010101" charset="-128"/>
                <a:sym typeface="+mn-ea"/>
              </a:rPr>
              <a:t>提出一种智能体辅助三级蒸馏与动态纠错的情感分析模型。该模型通过构建</a:t>
            </a:r>
            <a:r>
              <a:rPr lang="en-US" altLang="zh-CN" sz="1800">
                <a:solidFill>
                  <a:schemeClr val="tx1">
                    <a:lumMod val="75000"/>
                    <a:lumOff val="25000"/>
                  </a:schemeClr>
                </a:solidFill>
                <a:latin typeface="汉仪旗黑-55简" panose="00020600040101010101" charset="-128"/>
                <a:ea typeface="汉仪旗黑-55简" panose="00020600040101010101" charset="-128"/>
                <a:sym typeface="+mn-ea"/>
              </a:rPr>
              <a:t>“</a:t>
            </a:r>
            <a:r>
              <a:rPr lang="zh-CN" altLang="en-US" sz="1800">
                <a:solidFill>
                  <a:schemeClr val="tx1">
                    <a:lumMod val="75000"/>
                    <a:lumOff val="25000"/>
                  </a:schemeClr>
                </a:solidFill>
                <a:latin typeface="汉仪旗黑-55简" panose="00020600040101010101" charset="-128"/>
                <a:ea typeface="汉仪旗黑-55简" panose="00020600040101010101" charset="-128"/>
                <a:sym typeface="+mn-ea"/>
              </a:rPr>
              <a:t>教授</a:t>
            </a:r>
            <a:r>
              <a:rPr lang="en-US" altLang="zh-CN" sz="1800">
                <a:solidFill>
                  <a:schemeClr val="tx1">
                    <a:lumMod val="75000"/>
                    <a:lumOff val="25000"/>
                  </a:schemeClr>
                </a:solidFill>
                <a:latin typeface="汉仪旗黑-55简" panose="00020600040101010101" charset="-128"/>
                <a:ea typeface="汉仪旗黑-55简" panose="00020600040101010101" charset="-128"/>
                <a:sym typeface="+mn-ea"/>
              </a:rPr>
              <a:t>-</a:t>
            </a:r>
            <a:r>
              <a:rPr lang="zh-CN" altLang="en-US" sz="1800">
                <a:solidFill>
                  <a:schemeClr val="tx1">
                    <a:lumMod val="75000"/>
                    <a:lumOff val="25000"/>
                  </a:schemeClr>
                </a:solidFill>
                <a:latin typeface="汉仪旗黑-55简" panose="00020600040101010101" charset="-128"/>
                <a:ea typeface="汉仪旗黑-55简" panose="00020600040101010101" charset="-128"/>
                <a:sym typeface="+mn-ea"/>
              </a:rPr>
              <a:t>副教授</a:t>
            </a:r>
            <a:r>
              <a:rPr lang="en-US" altLang="zh-CN" sz="1800">
                <a:solidFill>
                  <a:schemeClr val="tx1">
                    <a:lumMod val="75000"/>
                    <a:lumOff val="25000"/>
                  </a:schemeClr>
                </a:solidFill>
                <a:latin typeface="汉仪旗黑-55简" panose="00020600040101010101" charset="-128"/>
                <a:ea typeface="汉仪旗黑-55简" panose="00020600040101010101" charset="-128"/>
                <a:sym typeface="+mn-ea"/>
              </a:rPr>
              <a:t>-</a:t>
            </a:r>
            <a:r>
              <a:rPr lang="zh-CN" altLang="en-US" sz="1800">
                <a:solidFill>
                  <a:schemeClr val="tx1">
                    <a:lumMod val="75000"/>
                    <a:lumOff val="25000"/>
                  </a:schemeClr>
                </a:solidFill>
                <a:latin typeface="汉仪旗黑-55简" panose="00020600040101010101" charset="-128"/>
                <a:ea typeface="汉仪旗黑-55简" panose="00020600040101010101" charset="-128"/>
                <a:sym typeface="+mn-ea"/>
              </a:rPr>
              <a:t>讲师</a:t>
            </a:r>
            <a:r>
              <a:rPr lang="en-US" altLang="zh-CN" sz="1800">
                <a:solidFill>
                  <a:schemeClr val="tx1">
                    <a:lumMod val="75000"/>
                    <a:lumOff val="25000"/>
                  </a:schemeClr>
                </a:solidFill>
                <a:latin typeface="汉仪旗黑-55简" panose="00020600040101010101" charset="-128"/>
                <a:ea typeface="汉仪旗黑-55简" panose="00020600040101010101" charset="-128"/>
                <a:sym typeface="+mn-ea"/>
              </a:rPr>
              <a:t>”</a:t>
            </a:r>
            <a:r>
              <a:rPr lang="zh-CN" altLang="en-US" sz="1800">
                <a:solidFill>
                  <a:schemeClr val="tx1">
                    <a:lumMod val="75000"/>
                    <a:lumOff val="25000"/>
                  </a:schemeClr>
                </a:solidFill>
                <a:latin typeface="汉仪旗黑-55简" panose="00020600040101010101" charset="-128"/>
                <a:ea typeface="汉仪旗黑-55简" panose="00020600040101010101" charset="-128"/>
                <a:sym typeface="+mn-ea"/>
              </a:rPr>
              <a:t>三级蒸馏框架实现深层知识迁移，并引入动态纠错机制，最终以自适应加权集成方式融合多语言模型优势。有效提升了多语言场景下情感分析的性能与鲁棒性。</a:t>
            </a:r>
            <a:endParaRPr lang="zh-CN" altLang="en-US" sz="1800">
              <a:solidFill>
                <a:schemeClr val="tx1">
                  <a:lumMod val="75000"/>
                  <a:lumOff val="25000"/>
                </a:schemeClr>
              </a:solidFill>
              <a:latin typeface="汉仪旗黑-55简" panose="00020600040101010101" charset="-128"/>
              <a:ea typeface="汉仪旗黑-55简" panose="00020600040101010101" charset="-128"/>
              <a:sym typeface="+mn-ea"/>
            </a:endParaRPr>
          </a:p>
          <a:p>
            <a:pPr lvl="0" algn="just" fontAlgn="auto">
              <a:lnSpc>
                <a:spcPct val="110000"/>
              </a:lnSpc>
              <a:spcBef>
                <a:spcPts val="0"/>
              </a:spcBef>
              <a:buClrTx/>
              <a:buSzTx/>
              <a:buFontTx/>
            </a:pPr>
            <a:endParaRPr lang="zh-CN" altLang="en-US" sz="18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2" name="下箭头 21"/>
          <p:cNvSpPr/>
          <p:nvPr/>
        </p:nvSpPr>
        <p:spPr>
          <a:xfrm>
            <a:off x="6316980" y="3208020"/>
            <a:ext cx="350520" cy="69342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0" y="6345555"/>
            <a:ext cx="12191365" cy="512445"/>
            <a:chOff x="0" y="5835"/>
            <a:chExt cx="19200" cy="4965"/>
          </a:xfrm>
        </p:grpSpPr>
        <p:sp>
          <p:nvSpPr>
            <p:cNvPr id="5" name="任意多边形 4"/>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20" name="文本框 19"/>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研究内容与方法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21" name="椭圆 20"/>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椭圆 2"/>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pic>
        <p:nvPicPr>
          <p:cNvPr id="4" name="图片 3"/>
          <p:cNvPicPr>
            <a:picLocks noChangeAspect="1"/>
          </p:cNvPicPr>
          <p:nvPr/>
        </p:nvPicPr>
        <p:blipFill>
          <a:blip r:embed="rId1"/>
          <a:stretch>
            <a:fillRect/>
          </a:stretch>
        </p:blipFill>
        <p:spPr>
          <a:xfrm>
            <a:off x="281305" y="805180"/>
            <a:ext cx="11359515" cy="554101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0" y="5967730"/>
            <a:ext cx="12191365" cy="890270"/>
            <a:chOff x="0" y="5835"/>
            <a:chExt cx="19200" cy="4965"/>
          </a:xfrm>
        </p:grpSpPr>
        <p:sp>
          <p:nvSpPr>
            <p:cNvPr id="5" name="任意多边形 4"/>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20" name="文本框 19"/>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研究内容与方法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21" name="椭圆 20"/>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椭圆 2"/>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aphicFrame>
        <p:nvGraphicFramePr>
          <p:cNvPr id="4" name="表格 3"/>
          <p:cNvGraphicFramePr/>
          <p:nvPr/>
        </p:nvGraphicFramePr>
        <p:xfrm>
          <a:off x="3066733" y="1209040"/>
          <a:ext cx="6058535" cy="0"/>
        </p:xfrm>
        <a:graphic>
          <a:graphicData uri="http://schemas.openxmlformats.org/drawingml/2006/table">
            <a:tbl>
              <a:tblPr/>
              <a:tblGrid>
                <a:gridCol w="2265045"/>
                <a:gridCol w="1196340"/>
                <a:gridCol w="837565"/>
                <a:gridCol w="837565"/>
                <a:gridCol w="922020"/>
              </a:tblGrid>
              <a:tr h="0">
                <a:tc>
                  <a:txBody>
                    <a:bodyPr/>
                    <a:p>
                      <a:pPr marL="0" indent="0" algn="ctr" fontAlgn="base">
                        <a:spcBef>
                          <a:spcPct val="0"/>
                        </a:spcBef>
                        <a:spcAft>
                          <a:spcPct val="0"/>
                        </a:spcAft>
                      </a:pPr>
                      <a:r>
                        <a:rPr lang="zh-CN" sz="1100" i="0">
                          <a:latin typeface="Times New Roman" panose="02020603050405020304"/>
                          <a:ea typeface="宋体" panose="02010600030101010101" pitchFamily="2" charset="-122"/>
                        </a:rPr>
                        <a:t>模型</a:t>
                      </a:r>
                      <a:endParaRPr lang="zh-CN" sz="1100" i="0">
                        <a:latin typeface="Times New Roman" panose="02020603050405020304"/>
                        <a:ea typeface="宋体" panose="02010600030101010101" pitchFamily="2" charset="-122"/>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ACC(%)</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P(%)</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R(%)</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F1(%)</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fontAlgn="base">
                        <a:spcBef>
                          <a:spcPct val="0"/>
                        </a:spcBef>
                        <a:spcAft>
                          <a:spcPct val="0"/>
                        </a:spcAft>
                      </a:pPr>
                      <a:r>
                        <a:rPr lang="en-US" altLang="zh-CN" sz="1100" i="0">
                          <a:latin typeface="Times New Roman" panose="02020603050405020304"/>
                          <a:ea typeface="宋体" panose="02010600030101010101" pitchFamily="2" charset="-122"/>
                        </a:rPr>
                        <a:t>CNN</a:t>
                      </a:r>
                      <a:endParaRPr lang="en-US" altLang="zh-CN" sz="1100" i="0">
                        <a:latin typeface="Times New Roman" panose="02020603050405020304"/>
                        <a:ea typeface="宋体" panose="02010600030101010101" pitchFamily="2" charset="-122"/>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67.32</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67.26</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61.10</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62.48</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r>
              <a:tr h="0">
                <a:tc>
                  <a:txBody>
                    <a:bodyPr/>
                    <a:p>
                      <a:pPr marL="0" indent="0" algn="ctr" fontAlgn="base">
                        <a:spcBef>
                          <a:spcPct val="0"/>
                        </a:spcBef>
                        <a:spcAft>
                          <a:spcPct val="0"/>
                        </a:spcAft>
                      </a:pPr>
                      <a:r>
                        <a:rPr lang="en-US" altLang="zh-CN" sz="1100" i="0">
                          <a:latin typeface="Times New Roman" panose="02020603050405020304"/>
                          <a:ea typeface="宋体" panose="02010600030101010101" pitchFamily="2" charset="-122"/>
                        </a:rPr>
                        <a:t>BiGRU</a:t>
                      </a:r>
                      <a:endParaRPr lang="en-US" altLang="zh-CN" sz="1100" i="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69.32</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67.57</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64.32</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65.02</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0">
                <a:tc>
                  <a:txBody>
                    <a:bodyPr/>
                    <a:p>
                      <a:pPr marL="0" indent="0" algn="ctr" fontAlgn="base">
                        <a:spcBef>
                          <a:spcPct val="0"/>
                        </a:spcBef>
                        <a:spcAft>
                          <a:spcPct val="0"/>
                        </a:spcAft>
                      </a:pPr>
                      <a:r>
                        <a:rPr lang="en-US" altLang="zh-CN" sz="1100" i="0">
                          <a:latin typeface="Times New Roman" panose="02020603050405020304"/>
                          <a:ea typeface="宋体" panose="02010600030101010101" pitchFamily="2" charset="-122"/>
                        </a:rPr>
                        <a:t>BiLSTM-attention</a:t>
                      </a:r>
                      <a:endParaRPr lang="en-US" altLang="zh-CN" sz="1100" i="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68.42</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65.95</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64.65</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64.55</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0">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mbert</a:t>
                      </a:r>
                      <a:endParaRPr lang="en-US" altLang="zh-CN" sz="1100" i="0">
                        <a:highlight>
                          <a:srgbClr val="00FF00"/>
                        </a:highlight>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73.00</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70.58</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68.97</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69.36</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0">
                <a:tc>
                  <a:txBody>
                    <a:bodyPr/>
                    <a:p>
                      <a:pPr marL="0" indent="0" algn="ctr" fontAlgn="base">
                        <a:spcBef>
                          <a:spcPct val="0"/>
                        </a:spcBef>
                        <a:spcAft>
                          <a:spcPct val="0"/>
                        </a:spcAft>
                      </a:pPr>
                      <a:r>
                        <a:rPr lang="en-US" altLang="zh-CN" sz="1200" i="0">
                          <a:latin typeface="Times New Roman" panose="02020603050405020304"/>
                          <a:ea typeface="Times New Roman" panose="02020603050405020304"/>
                        </a:rPr>
                        <a:t>XLM-R Multi</a:t>
                      </a:r>
                      <a:endParaRPr lang="en-US" altLang="zh-CN" sz="1200" i="0">
                        <a:highlight>
                          <a:srgbClr val="00FF00"/>
                        </a:highlight>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58.61</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59.17</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55.22</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56.43</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0">
                <a:tc>
                  <a:txBody>
                    <a:bodyPr/>
                    <a:p>
                      <a:pPr marL="0" indent="0" algn="ctr" fontAlgn="base">
                        <a:spcBef>
                          <a:spcPct val="0"/>
                        </a:spcBef>
                        <a:spcAft>
                          <a:spcPct val="0"/>
                        </a:spcAft>
                      </a:pPr>
                      <a:r>
                        <a:rPr lang="en-US" altLang="zh-CN" sz="1100" i="0">
                          <a:latin typeface="Times New Roman" panose="02020603050405020304"/>
                          <a:ea typeface="宋体" panose="02010600030101010101" pitchFamily="2" charset="-122"/>
                        </a:rPr>
                        <a:t>UMM-style</a:t>
                      </a:r>
                      <a:endParaRPr lang="en-US" altLang="zh-CN" sz="1100" i="0">
                        <a:highlight>
                          <a:srgbClr val="00FF00"/>
                        </a:highlight>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54.61</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53.84</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49.28</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50.52</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0">
                <a:tc>
                  <a:txBody>
                    <a:bodyPr/>
                    <a:p>
                      <a:pPr marL="0" indent="0" algn="ctr" fontAlgn="base">
                        <a:spcBef>
                          <a:spcPct val="0"/>
                        </a:spcBef>
                        <a:spcAft>
                          <a:spcPct val="0"/>
                        </a:spcAft>
                      </a:pPr>
                      <a:r>
                        <a:rPr lang="zh-CN" sz="1100" i="0">
                          <a:latin typeface="Times New Roman" panose="02020603050405020304"/>
                          <a:ea typeface="宋体" panose="02010600030101010101" pitchFamily="2" charset="-122"/>
                        </a:rPr>
                        <a:t>本章模型</a:t>
                      </a:r>
                      <a:endParaRPr lang="zh-CN" sz="1100" i="0">
                        <a:highlight>
                          <a:srgbClr val="00FF00"/>
                        </a:highlight>
                        <a:latin typeface="Times New Roman" panose="02020603050405020304"/>
                        <a:ea typeface="宋体" panose="02010600030101010101" pitchFamily="2" charset="-122"/>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b="1" i="0">
                          <a:latin typeface="Times New Roman" panose="02020603050405020304"/>
                          <a:ea typeface="Times New Roman" panose="02020603050405020304"/>
                        </a:rPr>
                        <a:t>78.90</a:t>
                      </a:r>
                      <a:endParaRPr lang="en-US" altLang="zh-CN" sz="1100" b="1" i="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b="1" i="0">
                          <a:latin typeface="Times New Roman" panose="02020603050405020304"/>
                          <a:ea typeface="Times New Roman" panose="02020603050405020304"/>
                        </a:rPr>
                        <a:t>76.03</a:t>
                      </a:r>
                      <a:endParaRPr lang="en-US" altLang="zh-CN" sz="1100" b="1" i="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b="1" i="0">
                          <a:latin typeface="Times New Roman" panose="02020603050405020304"/>
                          <a:ea typeface="Times New Roman" panose="02020603050405020304"/>
                        </a:rPr>
                        <a:t>77.48</a:t>
                      </a:r>
                      <a:endParaRPr lang="en-US" altLang="zh-CN" sz="1100" b="1" i="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b="1" i="0">
                          <a:latin typeface="Times New Roman" panose="02020603050405020304"/>
                          <a:ea typeface="Times New Roman" panose="02020603050405020304"/>
                        </a:rPr>
                        <a:t>76.64</a:t>
                      </a:r>
                      <a:endParaRPr lang="en-US" altLang="zh-CN" sz="1100" b="1" i="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graphicFrame>
        <p:nvGraphicFramePr>
          <p:cNvPr id="6" name="表格 5"/>
          <p:cNvGraphicFramePr/>
          <p:nvPr/>
        </p:nvGraphicFramePr>
        <p:xfrm>
          <a:off x="2933383" y="4308475"/>
          <a:ext cx="6058535" cy="0"/>
        </p:xfrm>
        <a:graphic>
          <a:graphicData uri="http://schemas.openxmlformats.org/drawingml/2006/table">
            <a:tbl>
              <a:tblPr/>
              <a:tblGrid>
                <a:gridCol w="1791970"/>
                <a:gridCol w="1346835"/>
                <a:gridCol w="941705"/>
                <a:gridCol w="941705"/>
                <a:gridCol w="1036320"/>
              </a:tblGrid>
              <a:tr h="0">
                <a:tc>
                  <a:txBody>
                    <a:bodyPr/>
                    <a:p>
                      <a:pPr marL="0" indent="0" algn="ctr" fontAlgn="base">
                        <a:spcBef>
                          <a:spcPct val="0"/>
                        </a:spcBef>
                        <a:spcAft>
                          <a:spcPct val="0"/>
                        </a:spcAft>
                      </a:pPr>
                      <a:r>
                        <a:rPr lang="zh-CN" sz="1100" i="0">
                          <a:latin typeface="Times New Roman" panose="02020603050405020304"/>
                          <a:ea typeface="宋体" panose="02010600030101010101" pitchFamily="2" charset="-122"/>
                        </a:rPr>
                        <a:t>模型</a:t>
                      </a:r>
                      <a:endParaRPr lang="zh-CN" sz="1100" i="0">
                        <a:latin typeface="Times New Roman" panose="02020603050405020304"/>
                        <a:ea typeface="宋体" panose="02010600030101010101" pitchFamily="2" charset="-122"/>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ACC(%)</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P(%)</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R(%)</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F1(%)</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fontAlgn="base">
                        <a:spcBef>
                          <a:spcPct val="0"/>
                        </a:spcBef>
                        <a:spcAft>
                          <a:spcPct val="0"/>
                        </a:spcAft>
                      </a:pPr>
                      <a:r>
                        <a:rPr lang="zh-CN" sz="1100" i="0">
                          <a:latin typeface="Times New Roman" panose="02020603050405020304"/>
                          <a:ea typeface="宋体" panose="02010600030101010101" pitchFamily="2" charset="-122"/>
                        </a:rPr>
                        <a:t>消融模型</a:t>
                      </a:r>
                      <a:r>
                        <a:rPr lang="en-US" altLang="zh-CN" sz="1100" i="0">
                          <a:latin typeface="Times New Roman" panose="02020603050405020304"/>
                          <a:ea typeface="Times New Roman" panose="02020603050405020304"/>
                        </a:rPr>
                        <a:t>1</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78.68</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75.79</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75.52</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75.61</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r>
              <a:tr h="0">
                <a:tc>
                  <a:txBody>
                    <a:bodyPr/>
                    <a:p>
                      <a:pPr marL="0" indent="0" algn="ctr" fontAlgn="base">
                        <a:spcBef>
                          <a:spcPct val="0"/>
                        </a:spcBef>
                        <a:spcAft>
                          <a:spcPct val="0"/>
                        </a:spcAft>
                      </a:pPr>
                      <a:r>
                        <a:rPr lang="zh-CN" sz="1100" i="0">
                          <a:latin typeface="宋体" panose="02010600030101010101" pitchFamily="2" charset="-122"/>
                          <a:ea typeface="宋体" panose="02010600030101010101" pitchFamily="2" charset="-122"/>
                        </a:rPr>
                        <a:t>消融模型</a:t>
                      </a:r>
                      <a:r>
                        <a:rPr lang="en-US" altLang="zh-CN" sz="1100" i="0">
                          <a:latin typeface="Times New Roman" panose="02020603050405020304"/>
                          <a:ea typeface="Times New Roman" panose="02020603050405020304"/>
                        </a:rPr>
                        <a:t>2</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78.62</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75.82</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75.91</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75.83</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0">
                <a:tc>
                  <a:txBody>
                    <a:bodyPr/>
                    <a:p>
                      <a:pPr marL="0" indent="0" algn="ctr" fontAlgn="base">
                        <a:spcBef>
                          <a:spcPct val="0"/>
                        </a:spcBef>
                        <a:spcAft>
                          <a:spcPct val="0"/>
                        </a:spcAft>
                      </a:pPr>
                      <a:r>
                        <a:rPr lang="zh-CN" sz="1100" i="0">
                          <a:latin typeface="宋体" panose="02010600030101010101" pitchFamily="2" charset="-122"/>
                          <a:ea typeface="宋体" panose="02010600030101010101" pitchFamily="2" charset="-122"/>
                        </a:rPr>
                        <a:t>消融模型</a:t>
                      </a:r>
                      <a:r>
                        <a:rPr lang="en-US" altLang="zh-CN" sz="1100" i="0">
                          <a:latin typeface="Times New Roman" panose="02020603050405020304"/>
                          <a:ea typeface="Times New Roman" panose="02020603050405020304"/>
                        </a:rPr>
                        <a:t>3</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78.70</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76.09</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76.60</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76.26</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0">
                <a:tc>
                  <a:txBody>
                    <a:bodyPr/>
                    <a:p>
                      <a:pPr marL="0" indent="0" algn="ctr" fontAlgn="base">
                        <a:spcBef>
                          <a:spcPct val="0"/>
                        </a:spcBef>
                        <a:spcAft>
                          <a:spcPct val="0"/>
                        </a:spcAft>
                      </a:pPr>
                      <a:r>
                        <a:rPr lang="zh-CN" sz="1100" i="0">
                          <a:latin typeface="Times New Roman" panose="02020603050405020304"/>
                          <a:ea typeface="宋体" panose="02010600030101010101" pitchFamily="2" charset="-122"/>
                        </a:rPr>
                        <a:t>消融模型</a:t>
                      </a:r>
                      <a:r>
                        <a:rPr lang="en-US" altLang="zh-CN" sz="1100" i="0">
                          <a:latin typeface="Times New Roman" panose="02020603050405020304"/>
                          <a:ea typeface="Times New Roman" panose="02020603050405020304"/>
                        </a:rPr>
                        <a:t>4</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78.90</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76.03</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77.48</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fontAlgn="base">
                        <a:spcBef>
                          <a:spcPct val="0"/>
                        </a:spcBef>
                        <a:spcAft>
                          <a:spcPct val="0"/>
                        </a:spcAft>
                      </a:pPr>
                      <a:r>
                        <a:rPr lang="en-US" altLang="zh-CN" sz="1100" i="0">
                          <a:latin typeface="Times New Roman" panose="02020603050405020304"/>
                          <a:ea typeface="Times New Roman" panose="02020603050405020304"/>
                        </a:rPr>
                        <a:t>76.64</a:t>
                      </a:r>
                      <a:endParaRPr lang="en-US" altLang="zh-CN" sz="1100" i="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文本框 11"/>
          <p:cNvSpPr txBox="1"/>
          <p:nvPr/>
        </p:nvSpPr>
        <p:spPr>
          <a:xfrm>
            <a:off x="3928269" y="1815928"/>
            <a:ext cx="4335463" cy="1076325"/>
          </a:xfrm>
          <a:prstGeom prst="rect">
            <a:avLst/>
          </a:prstGeom>
          <a:noFill/>
        </p:spPr>
        <p:txBody>
          <a:bodyPr wrap="square" lIns="91440" tIns="45720" rIns="91440" bIns="45720" rtlCol="0">
            <a:spAutoFit/>
          </a:bodyPr>
          <a:lstStyle/>
          <a:p>
            <a:pPr algn="ctr"/>
            <a:r>
              <a:rPr lang="en-US" altLang="zh-CN" sz="6400" b="1" dirty="0" smtClean="0">
                <a:solidFill>
                  <a:srgbClr val="5E7397"/>
                </a:solidFill>
                <a:latin typeface="汉仪旗黑-55简" panose="00020600040101010101" charset="-128"/>
                <a:ea typeface="汉仪旗黑-55简" panose="00020600040101010101" charset="-128"/>
                <a:cs typeface="汉仪旗黑-55简" panose="00020600040101010101" charset="-128"/>
                <a:sym typeface="+mn-ea"/>
              </a:rPr>
              <a:t>PART 03</a:t>
            </a:r>
            <a:endParaRPr lang="en-US" altLang="zh-CN" sz="6400" b="1" dirty="0" smtClean="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sp>
        <p:nvSpPr>
          <p:cNvPr id="80" name="文本框 79"/>
          <p:cNvSpPr txBox="1"/>
          <p:nvPr/>
        </p:nvSpPr>
        <p:spPr>
          <a:xfrm>
            <a:off x="2437765" y="2739390"/>
            <a:ext cx="7317740" cy="1014730"/>
          </a:xfrm>
          <a:prstGeom prst="rect">
            <a:avLst/>
          </a:prstGeom>
          <a:noFill/>
        </p:spPr>
        <p:txBody>
          <a:bodyPr wrap="square" rtlCol="0">
            <a:spAutoFit/>
          </a:bodyPr>
          <a:p>
            <a:pPr algn="ctr">
              <a:lnSpc>
                <a:spcPct val="100000"/>
              </a:lnSpc>
            </a:pPr>
            <a:r>
              <a:rPr lang="zh-CN" altLang="en-US" sz="6000" dirty="0">
                <a:solidFill>
                  <a:srgbClr val="5E7397"/>
                </a:solidFill>
                <a:latin typeface="汉仪旗黑-55简" panose="00020600040101010101" charset="-128"/>
                <a:ea typeface="汉仪旗黑-55简" panose="00020600040101010101" charset="-128"/>
                <a:cs typeface="汉仪旗黑-55简" panose="00020600040101010101" charset="-128"/>
              </a:rPr>
              <a:t>总结与</a:t>
            </a:r>
            <a:r>
              <a:rPr lang="zh-CN" altLang="en-US" sz="6000" dirty="0">
                <a:solidFill>
                  <a:srgbClr val="5E7397"/>
                </a:solidFill>
                <a:latin typeface="汉仪旗黑-55简" panose="00020600040101010101" charset="-128"/>
                <a:ea typeface="汉仪旗黑-55简" panose="00020600040101010101" charset="-128"/>
                <a:cs typeface="汉仪旗黑-55简" panose="00020600040101010101" charset="-128"/>
              </a:rPr>
              <a:t>展望</a:t>
            </a:r>
            <a:endParaRPr lang="zh-CN" altLang="en-US" sz="6000" dirty="0">
              <a:solidFill>
                <a:srgbClr val="5E7397"/>
              </a:solidFill>
              <a:latin typeface="汉仪旗黑-55简" panose="00020600040101010101" charset="-128"/>
              <a:ea typeface="汉仪旗黑-55简" panose="00020600040101010101" charset="-128"/>
              <a:cs typeface="汉仪旗黑-55简" panose="00020600040101010101" charset="-128"/>
            </a:endParaRPr>
          </a:p>
        </p:txBody>
      </p:sp>
      <p:grpSp>
        <p:nvGrpSpPr>
          <p:cNvPr id="36" name="组合 35"/>
          <p:cNvGrpSpPr/>
          <p:nvPr/>
        </p:nvGrpSpPr>
        <p:grpSpPr>
          <a:xfrm>
            <a:off x="0" y="4085590"/>
            <a:ext cx="12192000" cy="2772410"/>
            <a:chOff x="0" y="5835"/>
            <a:chExt cx="19200" cy="4965"/>
          </a:xfrm>
        </p:grpSpPr>
        <p:sp>
          <p:nvSpPr>
            <p:cNvPr id="3" name="任意多边形 2"/>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 name="任意多边形 1"/>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grpSp>
        <p:nvGrpSpPr>
          <p:cNvPr id="38" name="组合 37"/>
          <p:cNvGrpSpPr/>
          <p:nvPr/>
        </p:nvGrpSpPr>
        <p:grpSpPr>
          <a:xfrm>
            <a:off x="10673080" y="440690"/>
            <a:ext cx="990600" cy="396240"/>
            <a:chOff x="17095" y="476"/>
            <a:chExt cx="1560" cy="624"/>
          </a:xfrm>
          <a:solidFill>
            <a:srgbClr val="ACAECF"/>
          </a:solidFill>
        </p:grpSpPr>
        <p:sp>
          <p:nvSpPr>
            <p:cNvPr id="40" name="椭圆 39"/>
            <p:cNvSpPr/>
            <p:nvPr/>
          </p:nvSpPr>
          <p:spPr>
            <a:xfrm>
              <a:off x="17095"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2" name="椭圆 41"/>
            <p:cNvSpPr/>
            <p:nvPr/>
          </p:nvSpPr>
          <p:spPr>
            <a:xfrm>
              <a:off x="17537"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3" name="椭圆 42"/>
            <p:cNvSpPr/>
            <p:nvPr/>
          </p:nvSpPr>
          <p:spPr>
            <a:xfrm>
              <a:off x="18421"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4" name="椭圆 43"/>
            <p:cNvSpPr/>
            <p:nvPr/>
          </p:nvSpPr>
          <p:spPr>
            <a:xfrm>
              <a:off x="17979"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5" name="椭圆 44"/>
            <p:cNvSpPr/>
            <p:nvPr/>
          </p:nvSpPr>
          <p:spPr>
            <a:xfrm>
              <a:off x="17095"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6" name="椭圆 45"/>
            <p:cNvSpPr/>
            <p:nvPr/>
          </p:nvSpPr>
          <p:spPr>
            <a:xfrm>
              <a:off x="17537"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7" name="椭圆 46"/>
            <p:cNvSpPr/>
            <p:nvPr/>
          </p:nvSpPr>
          <p:spPr>
            <a:xfrm>
              <a:off x="18421"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8" name="椭圆 47"/>
            <p:cNvSpPr/>
            <p:nvPr/>
          </p:nvSpPr>
          <p:spPr>
            <a:xfrm>
              <a:off x="17979"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grpSp>
      <p:sp>
        <p:nvSpPr>
          <p:cNvPr id="49" name="任意多边形 48"/>
          <p:cNvSpPr/>
          <p:nvPr/>
        </p:nvSpPr>
        <p:spPr>
          <a:xfrm flipH="1" flipV="1">
            <a:off x="0" y="0"/>
            <a:ext cx="3636010" cy="1015365"/>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2" h="1900">
                <a:moveTo>
                  <a:pt x="7742" y="0"/>
                </a:moveTo>
                <a:lnTo>
                  <a:pt x="7742" y="1900"/>
                </a:lnTo>
                <a:lnTo>
                  <a:pt x="0" y="1900"/>
                </a:lnTo>
                <a:lnTo>
                  <a:pt x="145" y="1881"/>
                </a:lnTo>
                <a:cubicBezTo>
                  <a:pt x="2818" y="1528"/>
                  <a:pt x="5425" y="917"/>
                  <a:pt x="7621" y="49"/>
                </a:cubicBezTo>
                <a:lnTo>
                  <a:pt x="7742"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pic>
        <p:nvPicPr>
          <p:cNvPr id="9" name="图片 8" descr="31393935333939383b31373432363535313bd1a7cebbc3b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7540" y="1036955"/>
            <a:ext cx="756920" cy="756920"/>
          </a:xfrm>
          <a:prstGeom prst="rect">
            <a:avLst/>
          </a:prstGeom>
        </p:spPr>
      </p:pic>
      <p:sp>
        <p:nvSpPr>
          <p:cNvPr id="12" name="圆角矩形 11"/>
          <p:cNvSpPr/>
          <p:nvPr/>
        </p:nvSpPr>
        <p:spPr>
          <a:xfrm>
            <a:off x="2406000" y="3763645"/>
            <a:ext cx="7380000" cy="28800"/>
          </a:xfrm>
          <a:prstGeom prst="roundRect">
            <a:avLst>
              <a:gd name="adj" fmla="val 50000"/>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0" y="5967730"/>
            <a:ext cx="12191365" cy="890270"/>
            <a:chOff x="0" y="5835"/>
            <a:chExt cx="19200" cy="4965"/>
          </a:xfrm>
        </p:grpSpPr>
        <p:sp>
          <p:nvSpPr>
            <p:cNvPr id="5" name="任意多边形 4"/>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20" name="文本框 19"/>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总结与</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展望</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21" name="椭圆 20"/>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椭圆 2"/>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 name="文本框 1"/>
          <p:cNvSpPr txBox="1"/>
          <p:nvPr/>
        </p:nvSpPr>
        <p:spPr>
          <a:xfrm>
            <a:off x="2169795" y="1532890"/>
            <a:ext cx="9849485" cy="1441450"/>
          </a:xfrm>
          <a:prstGeom prst="rect">
            <a:avLst/>
          </a:prstGeom>
          <a:noFill/>
        </p:spPr>
        <p:txBody>
          <a:bodyPr wrap="square" rtlCol="0">
            <a:noAutofit/>
          </a:bodyPr>
          <a:p>
            <a:r>
              <a:rPr lang="zh-CN" altLang="en-US"/>
              <a:t>本研究面向社交媒体多语言情感分析任务，针对数据资源稀缺、语言特性差异与知识迁移效率低等挑战，系统开展了从数据构建到模型创新的系列工作。首先，构建了高质量中</a:t>
            </a:r>
            <a:r>
              <a:rPr lang="en-US" altLang="zh-CN"/>
              <a:t>-</a:t>
            </a:r>
            <a:r>
              <a:rPr lang="zh-CN" altLang="en-US"/>
              <a:t>蒙</a:t>
            </a:r>
            <a:r>
              <a:rPr lang="en-US" altLang="zh-CN"/>
              <a:t>-</a:t>
            </a:r>
            <a:r>
              <a:rPr lang="zh-CN" altLang="en-US"/>
              <a:t>新蒙三语平行情感语料库。其次，针对中文文本情感线索稀疏的问题，提出融合多尺度特征与混合注意力的分类模型。接着，针对传统蒙文低资源、高噪声的难题，设计了情感知识增强与多层次对比学习的层次化分析方法。最后，面向多语言场景，创新性地提出智能体辅助的三级蒸馏与动态纠错的情感</a:t>
            </a:r>
            <a:r>
              <a:rPr lang="zh-CN" altLang="en-US"/>
              <a:t>分析框架，实现了高效的知识迁移与模型集成。实验表明，所提出的模型在各项任务上均取得了显著性能提升，为低资源语言的情感分析及</a:t>
            </a:r>
            <a:r>
              <a:rPr lang="zh-CN" altLang="en-US"/>
              <a:t>多语言应用提供了有效的解决方案。</a:t>
            </a:r>
            <a:endParaRPr lang="zh-CN" altLang="en-US"/>
          </a:p>
        </p:txBody>
      </p:sp>
      <p:sp>
        <p:nvSpPr>
          <p:cNvPr id="16" name="椭圆 15"/>
          <p:cNvSpPr/>
          <p:nvPr>
            <p:custDataLst>
              <p:tags r:id="rId1"/>
            </p:custDataLst>
          </p:nvPr>
        </p:nvSpPr>
        <p:spPr>
          <a:xfrm>
            <a:off x="835337" y="1589880"/>
            <a:ext cx="1264444" cy="1264444"/>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rPr>
              <a:t>总结</a:t>
            </a:r>
            <a:endPar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7" name="椭圆 16"/>
          <p:cNvSpPr/>
          <p:nvPr>
            <p:custDataLst>
              <p:tags r:id="rId2"/>
            </p:custDataLst>
          </p:nvPr>
        </p:nvSpPr>
        <p:spPr>
          <a:xfrm>
            <a:off x="888042" y="3702525"/>
            <a:ext cx="1264444" cy="1264444"/>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r>
              <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rPr>
              <a:t>展望</a:t>
            </a:r>
            <a:endPar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7" name="文本框 6"/>
          <p:cNvSpPr txBox="1"/>
          <p:nvPr/>
        </p:nvSpPr>
        <p:spPr>
          <a:xfrm>
            <a:off x="2267585" y="3962400"/>
            <a:ext cx="9636125" cy="737235"/>
          </a:xfrm>
          <a:prstGeom prst="rect">
            <a:avLst/>
          </a:prstGeom>
          <a:noFill/>
        </p:spPr>
        <p:txBody>
          <a:bodyPr wrap="square" rtlCol="0">
            <a:spAutoFit/>
          </a:bodyPr>
          <a:p>
            <a:r>
              <a:rPr lang="zh-CN" altLang="en-US"/>
              <a:t>尽管本文在多语言情感分析上取得了一定进展，未来工作仍可从以下两方面深入：一是构建更大规模、多领域、高质量的多语言情感语料库，拓展数据来源并提升对齐质量；二是推动研究向多模态（融合图像、语音等）情感分析及舆情监测、智能服务等实际应用场景拓展，以提升对复杂情感的综合理解与应用落地能力。</a:t>
            </a: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0" y="5967730"/>
            <a:ext cx="12191365" cy="890270"/>
            <a:chOff x="0" y="5835"/>
            <a:chExt cx="19200" cy="4965"/>
          </a:xfrm>
        </p:grpSpPr>
        <p:sp>
          <p:nvSpPr>
            <p:cNvPr id="5" name="任意多边形 4"/>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20" name="文本框 19"/>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在读期间成果</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21" name="椭圆 20"/>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椭圆 2"/>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4" name="文本框 3"/>
          <p:cNvSpPr txBox="1"/>
          <p:nvPr/>
        </p:nvSpPr>
        <p:spPr>
          <a:xfrm>
            <a:off x="271145" y="1233170"/>
            <a:ext cx="11581765" cy="3538220"/>
          </a:xfrm>
          <a:prstGeom prst="rect">
            <a:avLst/>
          </a:prstGeom>
          <a:noFill/>
        </p:spPr>
        <p:txBody>
          <a:bodyPr wrap="square" rtlCol="0">
            <a:spAutoFit/>
          </a:bodyPr>
          <a:p>
            <a:r>
              <a:rPr lang="en-US" altLang="zh-CN"/>
              <a:t>[1]</a:t>
            </a:r>
            <a:r>
              <a:rPr lang="zh-CN" altLang="en-US"/>
              <a:t>张浩</a:t>
            </a:r>
            <a:r>
              <a:rPr lang="en-US" altLang="zh-CN"/>
              <a:t>,</a:t>
            </a:r>
            <a:r>
              <a:rPr lang="zh-CN" altLang="en-US"/>
              <a:t>李世琪</a:t>
            </a:r>
            <a:r>
              <a:rPr lang="en-US" altLang="zh-CN"/>
              <a:t>,</a:t>
            </a:r>
            <a:r>
              <a:rPr lang="zh-CN" altLang="en-US"/>
              <a:t>刁宇峰</a:t>
            </a:r>
            <a:r>
              <a:rPr lang="en-US" altLang="zh-CN"/>
              <a:t>,</a:t>
            </a:r>
            <a:r>
              <a:rPr lang="zh-CN" altLang="en-US"/>
              <a:t>等</a:t>
            </a:r>
            <a:r>
              <a:rPr lang="en-US" altLang="zh-CN"/>
              <a:t>.</a:t>
            </a:r>
            <a:r>
              <a:rPr lang="zh-CN" altLang="en-US"/>
              <a:t>多语言平行情感语料库的构建与研究</a:t>
            </a:r>
            <a:r>
              <a:rPr lang="en-US" altLang="zh-CN"/>
              <a:t>[J].</a:t>
            </a:r>
            <a:r>
              <a:rPr lang="zh-CN" altLang="en-US"/>
              <a:t>计算机科学与探索</a:t>
            </a:r>
            <a:r>
              <a:rPr lang="en-US" altLang="zh-CN"/>
              <a:t>,2025,19(09):2506-2519.</a:t>
            </a:r>
            <a:br>
              <a:rPr lang="en-US" altLang="zh-CN"/>
            </a:br>
            <a:br>
              <a:rPr lang="en-US" altLang="zh-CN"/>
            </a:br>
            <a:r>
              <a:rPr lang="en-US" altLang="zh-CN"/>
              <a:t>[2]</a:t>
            </a:r>
            <a:r>
              <a:rPr lang="zh-CN" altLang="en-US"/>
              <a:t>张浩</a:t>
            </a:r>
            <a:r>
              <a:rPr lang="en-US" altLang="zh-CN"/>
              <a:t>,</a:t>
            </a:r>
            <a:r>
              <a:rPr lang="zh-CN" altLang="en-US"/>
              <a:t>李世琪</a:t>
            </a:r>
            <a:r>
              <a:rPr lang="en-US" altLang="zh-CN"/>
              <a:t>,</a:t>
            </a:r>
            <a:r>
              <a:rPr lang="zh-CN" altLang="en-US"/>
              <a:t>刘晓宇</a:t>
            </a:r>
            <a:r>
              <a:rPr lang="en-US" altLang="zh-CN"/>
              <a:t>,</a:t>
            </a:r>
            <a:r>
              <a:rPr lang="zh-CN" altLang="en-US"/>
              <a:t>等</a:t>
            </a:r>
            <a:r>
              <a:rPr lang="en-US" altLang="zh-CN"/>
              <a:t>.</a:t>
            </a:r>
            <a:r>
              <a:rPr lang="zh-CN" altLang="en-US"/>
              <a:t>基于多尺度特征与混合注意力的社交媒体文本情感分类研究</a:t>
            </a:r>
            <a:r>
              <a:rPr lang="en-US" altLang="zh-CN"/>
              <a:t>[J/OL].</a:t>
            </a:r>
            <a:r>
              <a:rPr lang="zh-CN" altLang="en-US"/>
              <a:t>内蒙古民族大学学报</a:t>
            </a:r>
            <a:r>
              <a:rPr lang="en-US" altLang="zh-CN"/>
              <a:t>(</a:t>
            </a:r>
            <a:r>
              <a:rPr lang="zh-CN" altLang="en-US"/>
              <a:t>自然科学版</a:t>
            </a:r>
            <a:r>
              <a:rPr lang="en-US" altLang="zh-CN"/>
              <a:t>),</a:t>
            </a:r>
            <a:br>
              <a:rPr lang="en-US" altLang="zh-CN"/>
            </a:br>
            <a:r>
              <a:rPr lang="en-US" altLang="zh-CN"/>
              <a:t>1-10.https://link.cnki.net/urlid/15.1220.N.20260313.1020.002.</a:t>
            </a:r>
            <a:br>
              <a:rPr lang="en-US" altLang="zh-CN"/>
            </a:br>
            <a:br>
              <a:rPr lang="en-US" altLang="zh-CN"/>
            </a:br>
            <a:r>
              <a:rPr lang="en-US" altLang="zh-CN"/>
              <a:t>[3]</a:t>
            </a:r>
            <a:r>
              <a:rPr lang="zh-CN" altLang="en-US"/>
              <a:t>李世琪</a:t>
            </a:r>
            <a:r>
              <a:rPr lang="en-US" altLang="zh-CN"/>
              <a:t>,</a:t>
            </a:r>
            <a:r>
              <a:rPr lang="zh-CN" altLang="en-US"/>
              <a:t>刁宇峰</a:t>
            </a:r>
            <a:r>
              <a:rPr lang="en-US" altLang="zh-CN"/>
              <a:t>,</a:t>
            </a:r>
            <a:r>
              <a:rPr lang="zh-CN" altLang="en-US"/>
              <a:t>张浩</a:t>
            </a:r>
            <a:r>
              <a:rPr lang="en-US" altLang="zh-CN"/>
              <a:t>,</a:t>
            </a:r>
            <a:r>
              <a:rPr lang="zh-CN" altLang="en-US"/>
              <a:t>等</a:t>
            </a:r>
            <a:r>
              <a:rPr lang="en-US" altLang="zh-CN"/>
              <a:t>.</a:t>
            </a:r>
            <a:r>
              <a:rPr lang="zh-CN" altLang="en-US"/>
              <a:t>基于层次数据增强的多维度特征融合社交媒体抑郁症识别</a:t>
            </a:r>
            <a:r>
              <a:rPr lang="en-US" altLang="zh-CN"/>
              <a:t>[J].</a:t>
            </a:r>
            <a:r>
              <a:rPr lang="zh-CN" altLang="en-US"/>
              <a:t>计算机工程与应用</a:t>
            </a:r>
            <a:r>
              <a:rPr lang="en-US" altLang="zh-CN"/>
              <a:t>,2025,61(19):127-136.</a:t>
            </a:r>
            <a:endParaRPr lang="en-US" altLang="zh-CN"/>
          </a:p>
          <a:p>
            <a:br>
              <a:rPr lang="en-US" altLang="zh-CN"/>
            </a:br>
            <a:r>
              <a:rPr lang="en-US" altLang="zh-CN"/>
              <a:t>[4]</a:t>
            </a:r>
            <a:r>
              <a:rPr lang="zh-CN" altLang="en-US"/>
              <a:t>李世琪</a:t>
            </a:r>
            <a:r>
              <a:rPr lang="en-US" altLang="zh-CN"/>
              <a:t>,</a:t>
            </a:r>
            <a:r>
              <a:rPr lang="zh-CN" altLang="en-US"/>
              <a:t>张浩</a:t>
            </a:r>
            <a:r>
              <a:rPr lang="en-US" altLang="zh-CN"/>
              <a:t>,</a:t>
            </a:r>
            <a:r>
              <a:rPr lang="zh-CN" altLang="en-US"/>
              <a:t>刁宇峰</a:t>
            </a:r>
            <a:r>
              <a:rPr lang="en-US" altLang="zh-CN"/>
              <a:t>.</a:t>
            </a:r>
            <a:r>
              <a:rPr lang="zh-CN" altLang="en-US"/>
              <a:t>基于医疗知识图谱的问答系统研究</a:t>
            </a:r>
            <a:r>
              <a:rPr lang="en-US" altLang="zh-CN"/>
              <a:t>[J].</a:t>
            </a:r>
            <a:r>
              <a:rPr lang="zh-CN" altLang="en-US"/>
              <a:t>内蒙古民族大学学报</a:t>
            </a:r>
            <a:r>
              <a:rPr lang="en-US" altLang="zh-CN"/>
              <a:t>(</a:t>
            </a:r>
            <a:r>
              <a:rPr lang="zh-CN" altLang="en-US"/>
              <a:t>自然科学版</a:t>
            </a:r>
            <a:r>
              <a:rPr lang="en-US" altLang="zh-CN"/>
              <a:t>),2024,39(05):68-73.</a:t>
            </a:r>
            <a:br>
              <a:rPr lang="en-US" altLang="zh-CN"/>
            </a:br>
            <a:br>
              <a:rPr lang="en-US" altLang="zh-CN"/>
            </a:br>
            <a:r>
              <a:rPr lang="en-US" altLang="zh-CN"/>
              <a:t>[5]</a:t>
            </a:r>
            <a:r>
              <a:rPr lang="zh-CN" altLang="en-US"/>
              <a:t>刁宇峰</a:t>
            </a:r>
            <a:r>
              <a:rPr lang="en-US" altLang="zh-CN"/>
              <a:t>; </a:t>
            </a:r>
            <a:r>
              <a:rPr lang="zh-CN" altLang="en-US"/>
              <a:t>李世琪</a:t>
            </a:r>
            <a:r>
              <a:rPr lang="en-US" altLang="zh-CN"/>
              <a:t>; </a:t>
            </a:r>
            <a:r>
              <a:rPr lang="zh-CN" altLang="en-US"/>
              <a:t>张浩</a:t>
            </a:r>
            <a:r>
              <a:rPr lang="en-US" altLang="zh-CN"/>
              <a:t>; </a:t>
            </a:r>
            <a:r>
              <a:rPr lang="zh-CN" altLang="en-US"/>
              <a:t>杨亮</a:t>
            </a:r>
            <a:r>
              <a:rPr lang="en-US" altLang="zh-CN"/>
              <a:t>; </a:t>
            </a:r>
            <a:r>
              <a:rPr lang="zh-CN" altLang="en-US"/>
              <a:t>樊小超</a:t>
            </a:r>
            <a:r>
              <a:rPr lang="en-US" altLang="zh-CN"/>
              <a:t>; </a:t>
            </a:r>
            <a:r>
              <a:rPr lang="zh-CN" altLang="en-US"/>
              <a:t>林鸿飞</a:t>
            </a:r>
            <a:r>
              <a:rPr lang="en-US" altLang="zh-CN"/>
              <a:t>.</a:t>
            </a:r>
            <a:r>
              <a:rPr lang="zh-CN" altLang="en-US"/>
              <a:t>用于情感原因检测的混合注意力机制深度排序神经网络模型的排序方法</a:t>
            </a:r>
            <a:r>
              <a:rPr lang="en-US" altLang="zh-CN"/>
              <a:t>:CN118227730A[P].2024.06.21.</a:t>
            </a:r>
            <a:br>
              <a:rPr lang="en-US" altLang="zh-CN"/>
            </a:br>
            <a:endParaRPr lang="en-US" altLang="zh-CN"/>
          </a:p>
          <a:p>
            <a:r>
              <a:rPr lang="en-US" altLang="zh-CN"/>
              <a:t>[6]</a:t>
            </a:r>
            <a:r>
              <a:rPr lang="zh-CN" altLang="en-US"/>
              <a:t>刁宇峰</a:t>
            </a:r>
            <a:r>
              <a:rPr lang="en-US" altLang="zh-CN"/>
              <a:t>; </a:t>
            </a:r>
            <a:r>
              <a:rPr lang="zh-CN" altLang="en-US"/>
              <a:t>李世琪</a:t>
            </a:r>
            <a:r>
              <a:rPr lang="en-US" altLang="zh-CN"/>
              <a:t>; </a:t>
            </a:r>
            <a:r>
              <a:rPr lang="zh-CN" altLang="en-US"/>
              <a:t>张浩</a:t>
            </a:r>
            <a:r>
              <a:rPr lang="en-US" altLang="zh-CN"/>
              <a:t>; </a:t>
            </a:r>
            <a:r>
              <a:rPr lang="zh-CN" altLang="en-US"/>
              <a:t>杨亮</a:t>
            </a:r>
            <a:r>
              <a:rPr lang="en-US" altLang="zh-CN"/>
              <a:t>; </a:t>
            </a:r>
            <a:r>
              <a:rPr lang="zh-CN" altLang="en-US"/>
              <a:t>樊小超</a:t>
            </a:r>
            <a:r>
              <a:rPr lang="en-US" altLang="zh-CN"/>
              <a:t>; </a:t>
            </a:r>
            <a:r>
              <a:rPr lang="zh-CN" altLang="en-US"/>
              <a:t>林鸿飞</a:t>
            </a:r>
            <a:r>
              <a:rPr lang="en-US" altLang="zh-CN"/>
              <a:t>.</a:t>
            </a:r>
            <a:r>
              <a:rPr lang="zh-CN" altLang="en-US"/>
              <a:t>基于上下文表示的多跳注意力网络的讽刺检测网络及检测方法</a:t>
            </a:r>
            <a:r>
              <a:rPr lang="en-US" altLang="zh-CN"/>
              <a:t>:CN118656435A[P].2024.09.17.</a:t>
            </a:r>
            <a:endParaRPr lang="en-US" altLang="zh-CN"/>
          </a:p>
          <a:p>
            <a:endParaRPr lang="en-US" altLang="zh-CN"/>
          </a:p>
          <a:p>
            <a:endParaRPr lang="en-US" altLang="zh-CN"/>
          </a:p>
          <a:p>
            <a:endParaRPr lang="en-US" altLang="zh-CN"/>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p:nvSpPr>
        <p:spPr>
          <a:xfrm>
            <a:off x="3048001" y="1431015"/>
            <a:ext cx="6096000" cy="1691640"/>
          </a:xfrm>
          <a:prstGeom prst="rect">
            <a:avLst/>
          </a:prstGeom>
          <a:noFill/>
        </p:spPr>
        <p:txBody>
          <a:bodyPr wrap="square" lIns="91440" tIns="45720" rIns="91440" bIns="45720" rtlCol="0">
            <a:spAutoFit/>
          </a:bodyPr>
          <a:lstStyle/>
          <a:p>
            <a:pPr algn="ctr">
              <a:defRPr/>
            </a:pPr>
            <a:r>
              <a:rPr lang="en-US" altLang="zh-CN" sz="104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THANKS</a:t>
            </a:r>
            <a:endParaRPr lang="en-US" altLang="zh-CN" sz="104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sp>
        <p:nvSpPr>
          <p:cNvPr id="2" name="文本框 1"/>
          <p:cNvSpPr txBox="1"/>
          <p:nvPr/>
        </p:nvSpPr>
        <p:spPr>
          <a:xfrm>
            <a:off x="3274033" y="2795742"/>
            <a:ext cx="5643936" cy="748030"/>
          </a:xfrm>
          <a:prstGeom prst="rect">
            <a:avLst/>
          </a:prstGeom>
          <a:noFill/>
        </p:spPr>
        <p:txBody>
          <a:bodyPr wrap="square" lIns="91440" tIns="45720" rIns="91440" bIns="45720" rtlCol="0">
            <a:spAutoFit/>
          </a:bodyPr>
          <a:lstStyle/>
          <a:p>
            <a:pPr algn="ctr">
              <a:defRPr/>
            </a:pPr>
            <a:r>
              <a:rPr lang="zh-CN" altLang="en-US" sz="4265"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请各位老师批评</a:t>
            </a:r>
            <a:r>
              <a:rPr lang="zh-CN" altLang="en-US" sz="4265"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指正</a:t>
            </a:r>
            <a:endParaRPr lang="zh-CN" altLang="en-US" sz="4265"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6" name="组合 35"/>
          <p:cNvGrpSpPr/>
          <p:nvPr/>
        </p:nvGrpSpPr>
        <p:grpSpPr>
          <a:xfrm>
            <a:off x="0" y="4085590"/>
            <a:ext cx="12192000" cy="2772410"/>
            <a:chOff x="0" y="5835"/>
            <a:chExt cx="19200" cy="4965"/>
          </a:xfrm>
        </p:grpSpPr>
        <p:sp>
          <p:nvSpPr>
            <p:cNvPr id="4" name="任意多边形 3"/>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1" name="任意多边形 20"/>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grpSp>
        <p:nvGrpSpPr>
          <p:cNvPr id="38" name="组合 37"/>
          <p:cNvGrpSpPr/>
          <p:nvPr/>
        </p:nvGrpSpPr>
        <p:grpSpPr>
          <a:xfrm>
            <a:off x="10673080" y="440690"/>
            <a:ext cx="990600" cy="396240"/>
            <a:chOff x="17095" y="476"/>
            <a:chExt cx="1560" cy="624"/>
          </a:xfrm>
          <a:solidFill>
            <a:srgbClr val="ACAECF"/>
          </a:solidFill>
        </p:grpSpPr>
        <p:sp>
          <p:nvSpPr>
            <p:cNvPr id="40" name="椭圆 39"/>
            <p:cNvSpPr/>
            <p:nvPr/>
          </p:nvSpPr>
          <p:spPr>
            <a:xfrm>
              <a:off x="17095"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2" name="椭圆 41"/>
            <p:cNvSpPr/>
            <p:nvPr/>
          </p:nvSpPr>
          <p:spPr>
            <a:xfrm>
              <a:off x="17537"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3" name="椭圆 42"/>
            <p:cNvSpPr/>
            <p:nvPr/>
          </p:nvSpPr>
          <p:spPr>
            <a:xfrm>
              <a:off x="18421"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4" name="椭圆 43"/>
            <p:cNvSpPr/>
            <p:nvPr/>
          </p:nvSpPr>
          <p:spPr>
            <a:xfrm>
              <a:off x="17979"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5" name="椭圆 44"/>
            <p:cNvSpPr/>
            <p:nvPr/>
          </p:nvSpPr>
          <p:spPr>
            <a:xfrm>
              <a:off x="17095"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6" name="椭圆 45"/>
            <p:cNvSpPr/>
            <p:nvPr/>
          </p:nvSpPr>
          <p:spPr>
            <a:xfrm>
              <a:off x="17537"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7" name="椭圆 46"/>
            <p:cNvSpPr/>
            <p:nvPr/>
          </p:nvSpPr>
          <p:spPr>
            <a:xfrm>
              <a:off x="18421"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8" name="椭圆 47"/>
            <p:cNvSpPr/>
            <p:nvPr/>
          </p:nvSpPr>
          <p:spPr>
            <a:xfrm>
              <a:off x="17979"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grpSp>
      <p:sp>
        <p:nvSpPr>
          <p:cNvPr id="50" name="任意多边形 49"/>
          <p:cNvSpPr/>
          <p:nvPr/>
        </p:nvSpPr>
        <p:spPr>
          <a:xfrm flipH="1" flipV="1">
            <a:off x="0" y="0"/>
            <a:ext cx="3636010" cy="1015365"/>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2" h="1900">
                <a:moveTo>
                  <a:pt x="7742" y="0"/>
                </a:moveTo>
                <a:lnTo>
                  <a:pt x="7742" y="1900"/>
                </a:lnTo>
                <a:lnTo>
                  <a:pt x="0" y="1900"/>
                </a:lnTo>
                <a:lnTo>
                  <a:pt x="145" y="1881"/>
                </a:lnTo>
                <a:cubicBezTo>
                  <a:pt x="2818" y="1528"/>
                  <a:pt x="5425" y="917"/>
                  <a:pt x="7621" y="49"/>
                </a:cubicBezTo>
                <a:lnTo>
                  <a:pt x="7742"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56" name="文本框 55"/>
          <p:cNvSpPr txBox="1"/>
          <p:nvPr/>
        </p:nvSpPr>
        <p:spPr>
          <a:xfrm>
            <a:off x="3018155" y="5072380"/>
            <a:ext cx="6155690" cy="368300"/>
          </a:xfrm>
          <a:prstGeom prst="rect">
            <a:avLst/>
          </a:prstGeom>
          <a:noFill/>
        </p:spPr>
        <p:txBody>
          <a:bodyPr wrap="square" rtlCol="0">
            <a:spAutoFit/>
          </a:bodyPr>
          <a:p>
            <a:pPr algn="ctr"/>
            <a:r>
              <a:rPr lang="zh-CN"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计算机科学与技术学院</a:t>
            </a:r>
            <a:r>
              <a:rPr lang="zh-CN" alt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   </a:t>
            </a:r>
            <a:r>
              <a:rPr lang="en-US" altLang="zh-CN"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    </a:t>
            </a:r>
            <a:r>
              <a:rPr lang="zh-CN" alt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专业：</a:t>
            </a:r>
            <a:r>
              <a:rPr lang="en-US" altLang="zh-CN" sz="1800" dirty="0">
                <a:solidFill>
                  <a:srgbClr val="5E7397"/>
                </a:solidFill>
                <a:latin typeface="汉仪旗黑-55简" panose="00020600040101010101" charset="-128"/>
                <a:ea typeface="汉仪旗黑-55简" panose="00020600040101010101" charset="-128"/>
                <a:cs typeface="汉仪旗黑-55简" panose="00020600040101010101" charset="-128"/>
              </a:rPr>
              <a:t> </a:t>
            </a:r>
            <a:r>
              <a:rPr 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23</a:t>
            </a:r>
            <a:r>
              <a:rPr lang="zh-CN" alt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电子</a:t>
            </a:r>
            <a:r>
              <a:rPr lang="zh-CN" alt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信息</a:t>
            </a:r>
            <a:endParaRPr lang="zh-CN" alt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endParaRPr>
          </a:p>
        </p:txBody>
      </p:sp>
      <p:grpSp>
        <p:nvGrpSpPr>
          <p:cNvPr id="57" name="组合 56"/>
          <p:cNvGrpSpPr/>
          <p:nvPr/>
        </p:nvGrpSpPr>
        <p:grpSpPr>
          <a:xfrm rot="0">
            <a:off x="3815080" y="4627245"/>
            <a:ext cx="4563110" cy="330835"/>
            <a:chOff x="5500" y="7882"/>
            <a:chExt cx="8221" cy="596"/>
          </a:xfrm>
          <a:solidFill>
            <a:srgbClr val="5E7397"/>
          </a:solidFill>
        </p:grpSpPr>
        <p:sp>
          <p:nvSpPr>
            <p:cNvPr id="58" name="矩形 26"/>
            <p:cNvSpPr/>
            <p:nvPr/>
          </p:nvSpPr>
          <p:spPr>
            <a:xfrm>
              <a:off x="5500" y="7882"/>
              <a:ext cx="3870" cy="596"/>
            </a:xfrm>
            <a:prstGeom prst="roundRect">
              <a:avLst>
                <a:gd name="adj" fmla="val 50000"/>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10000"/>
                </a:lnSpc>
                <a:spcBef>
                  <a:spcPts val="0"/>
                </a:spcBef>
                <a:spcAft>
                  <a:spcPts val="0"/>
                </a:spcAft>
              </a:pPr>
              <a:r>
                <a:rPr lang="zh-CN" altLang="en-US" sz="1800" dirty="0">
                  <a:solidFill>
                    <a:schemeClr val="bg1"/>
                  </a:solidFill>
                  <a:latin typeface="汉仪旗黑-55简" panose="00020600040101010101" charset="-128"/>
                  <a:ea typeface="汉仪旗黑-55简" panose="00020600040101010101" charset="-128"/>
                  <a:cs typeface="汉仪旗黑-55简" panose="00020600040101010101" charset="-128"/>
                </a:rPr>
                <a:t>答辩人</a:t>
              </a:r>
              <a:r>
                <a:rPr lang="zh-CN" altLang="en-US" sz="1800" dirty="0" smtClean="0">
                  <a:solidFill>
                    <a:schemeClr val="bg1"/>
                  </a:solidFill>
                  <a:latin typeface="汉仪旗黑-55简" panose="00020600040101010101" charset="-128"/>
                  <a:ea typeface="汉仪旗黑-55简" panose="00020600040101010101" charset="-128"/>
                  <a:cs typeface="汉仪旗黑-55简" panose="00020600040101010101" charset="-128"/>
                </a:rPr>
                <a:t>：</a:t>
              </a:r>
              <a:r>
                <a:rPr lang="zh-CN" altLang="en-US" sz="1800" dirty="0" err="1">
                  <a:solidFill>
                    <a:schemeClr val="bg1"/>
                  </a:solidFill>
                  <a:latin typeface="汉仪旗黑-55简" panose="00020600040101010101" charset="-128"/>
                  <a:ea typeface="汉仪旗黑-55简" panose="00020600040101010101" charset="-128"/>
                  <a:cs typeface="汉仪旗黑-55简" panose="00020600040101010101" charset="-128"/>
                </a:rPr>
                <a:t>张浩</a:t>
              </a:r>
              <a:endParaRPr lang="zh-CN" altLang="en-US" sz="1800" dirty="0" err="1">
                <a:solidFill>
                  <a:schemeClr val="bg1"/>
                </a:solidFill>
                <a:latin typeface="汉仪旗黑-55简" panose="00020600040101010101" charset="-128"/>
                <a:ea typeface="汉仪旗黑-55简" panose="00020600040101010101" charset="-128"/>
                <a:cs typeface="汉仪旗黑-55简" panose="00020600040101010101" charset="-128"/>
              </a:endParaRPr>
            </a:p>
          </p:txBody>
        </p:sp>
        <p:sp>
          <p:nvSpPr>
            <p:cNvPr id="59" name="矩形 27"/>
            <p:cNvSpPr/>
            <p:nvPr/>
          </p:nvSpPr>
          <p:spPr>
            <a:xfrm>
              <a:off x="9843" y="7882"/>
              <a:ext cx="3879" cy="596"/>
            </a:xfrm>
            <a:prstGeom prst="roundRect">
              <a:avLst>
                <a:gd name="adj" fmla="val 50000"/>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10000"/>
                </a:lnSpc>
                <a:spcBef>
                  <a:spcPts val="0"/>
                </a:spcBef>
                <a:spcAft>
                  <a:spcPts val="0"/>
                </a:spcAft>
              </a:pPr>
              <a:r>
                <a:rPr lang="zh-CN" altLang="en-US" sz="1800" dirty="0">
                  <a:solidFill>
                    <a:schemeClr val="bg1"/>
                  </a:solidFill>
                  <a:latin typeface="汉仪旗黑-55简" panose="00020600040101010101" charset="-128"/>
                  <a:ea typeface="汉仪旗黑-55简" panose="00020600040101010101" charset="-128"/>
                  <a:cs typeface="汉仪旗黑-55简" panose="00020600040101010101" charset="-128"/>
                </a:rPr>
                <a:t>导师</a:t>
              </a:r>
              <a:r>
                <a:rPr lang="zh-CN" altLang="en-US" sz="1800" dirty="0" smtClean="0">
                  <a:solidFill>
                    <a:schemeClr val="bg1"/>
                  </a:solidFill>
                  <a:latin typeface="汉仪旗黑-55简" panose="00020600040101010101" charset="-128"/>
                  <a:ea typeface="汉仪旗黑-55简" panose="00020600040101010101" charset="-128"/>
                  <a:cs typeface="汉仪旗黑-55简" panose="00020600040101010101" charset="-128"/>
                </a:rPr>
                <a:t>：</a:t>
              </a:r>
              <a:r>
                <a:rPr lang="zh-CN" altLang="en-US" sz="1800" dirty="0" err="1">
                  <a:solidFill>
                    <a:schemeClr val="bg1"/>
                  </a:solidFill>
                  <a:latin typeface="汉仪旗黑-55简" panose="00020600040101010101" charset="-128"/>
                  <a:ea typeface="汉仪旗黑-55简" panose="00020600040101010101" charset="-128"/>
                  <a:cs typeface="汉仪旗黑-55简" panose="00020600040101010101" charset="-128"/>
                </a:rPr>
                <a:t>刁宇峰</a:t>
              </a:r>
              <a:endParaRPr lang="zh-CN" altLang="en-US" sz="1800" dirty="0" err="1">
                <a:solidFill>
                  <a:schemeClr val="bg1"/>
                </a:solidFill>
                <a:latin typeface="汉仪旗黑-55简" panose="00020600040101010101" charset="-128"/>
                <a:ea typeface="汉仪旗黑-55简" panose="00020600040101010101" charset="-128"/>
                <a:cs typeface="汉仪旗黑-55简" panose="00020600040101010101" charset="-128"/>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tags/tag1.xml><?xml version="1.0" encoding="utf-8"?>
<p:tagLst xmlns:p="http://schemas.openxmlformats.org/presentationml/2006/main">
  <p:tag name="KSO_WM_DIAGRAM_VIRTUALLY_FRAME" val="{&quot;height&quot;:211.1,&quot;left&quot;:126.1,&quot;top&quot;:212.2,&quot;width&quot;:688.7}"/>
</p:tagLst>
</file>

<file path=ppt/tags/tag2.xml><?xml version="1.0" encoding="utf-8"?>
<p:tagLst xmlns:p="http://schemas.openxmlformats.org/presentationml/2006/main">
  <p:tag name="KSO_WM_DIAGRAM_VIRTUALLY_FRAME" val="{&quot;height&quot;:211.1,&quot;left&quot;:126.1,&quot;top&quot;:212.2,&quot;width&quot;:688.7}"/>
</p:tagLst>
</file>

<file path=ppt/tags/tag3.xml><?xml version="1.0" encoding="utf-8"?>
<p:tagLst xmlns:p="http://schemas.openxmlformats.org/presentationml/2006/main">
  <p:tag name="KSO_WM_DIAGRAM_VIRTUALLY_FRAME" val="{&quot;height&quot;:211.1,&quot;left&quot;:126.1,&quot;top&quot;:212.2,&quot;width&quot;:688.7}"/>
</p:tagLst>
</file>

<file path=ppt/tags/tag4.xml><?xml version="1.0" encoding="utf-8"?>
<p:tagLst xmlns:p="http://schemas.openxmlformats.org/presentationml/2006/main">
  <p:tag name="KSO_WM_DIAGRAM_VIRTUALLY_FRAME" val="{&quot;height&quot;:211.1,&quot;left&quot;:126.1,&quot;top&quot;:212.2,&quot;width&quot;:688.7}"/>
</p:tagLst>
</file>

<file path=ppt/tags/tag5.xml><?xml version="1.0" encoding="utf-8"?>
<p:tagLst xmlns:p="http://schemas.openxmlformats.org/presentationml/2006/main">
  <p:tag name="KSO_WM_DIAGRAM_VIRTUALLY_FRAME" val="{&quot;height&quot;:211.1,&quot;left&quot;:126.1,&quot;top&quot;:212.2,&quot;width&quot;:688.7}"/>
</p:tagLst>
</file>

<file path=ppt/tags/tag6.xml><?xml version="1.0" encoding="utf-8"?>
<p:tagLst xmlns:p="http://schemas.openxmlformats.org/presentationml/2006/main">
  <p:tag name="KSO_WM_DIAGRAM_VIRTUALLY_FRAME" val="{&quot;height&quot;:211.1,&quot;left&quot;:126.1,&quot;top&quot;:212.2,&quot;width&quot;:688.7}"/>
</p:tagLst>
</file>

<file path=ppt/tags/tag7.xml><?xml version="1.0" encoding="utf-8"?>
<p:tagLst xmlns:p="http://schemas.openxmlformats.org/presentationml/2006/main">
  <p:tag name="KSO_WM_DIAGRAM_VIRTUALLY_FRAME" val="{&quot;height&quot;:211.1,&quot;left&quot;:126.1,&quot;top&quot;:212.2,&quot;width&quot;:688.7}"/>
</p:tagLst>
</file>

<file path=ppt/tags/tag8.xml><?xml version="1.0" encoding="utf-8"?>
<p:tagLst xmlns:p="http://schemas.openxmlformats.org/presentationml/2006/main">
  <p:tag name="KSO_WM_DIAGRAM_VIRTUALLY_FRAME" val="{&quot;height&quot;:211.1,&quot;left&quot;:126.1,&quot;top&quot;:212.2,&quot;width&quot;:688.7}"/>
</p:tagLst>
</file>

<file path=ppt/tags/tag9.xml><?xml version="1.0" encoding="utf-8"?>
<p:tagLst xmlns:p="http://schemas.openxmlformats.org/presentationml/2006/main">
  <p:tag name="KSO_WM_DIAGRAM_VIRTUALLY_FRAME" val="{&quot;height&quot;:211.1,&quot;left&quot;:126.1,&quot;top&quot;:212.2,&quot;width&quot;:688.7}"/>
</p:tagLst>
</file>

<file path=ppt/tags/tag10.xml><?xml version="1.0" encoding="utf-8"?>
<p:tagLst xmlns:p="http://schemas.openxmlformats.org/presentationml/2006/main">
  <p:tag name="KSO_WM_DIAGRAM_VIRTUALLY_FRAME" val="{&quot;height&quot;:211.1,&quot;left&quot;:126.1,&quot;top&quot;:212.2,&quot;width&quot;:688.7}"/>
</p:tagLst>
</file>

<file path=ppt/tags/tag11.xml><?xml version="1.0" encoding="utf-8"?>
<p:tagLst xmlns:p="http://schemas.openxmlformats.org/presentationml/2006/main">
  <p:tag name="KSO_WM_DIAGRAM_VIRTUALLY_FRAME" val="{&quot;height&quot;:211.1,&quot;left&quot;:126.1,&quot;top&quot;:212.2,&quot;width&quot;:688.7}"/>
</p:tagLst>
</file>

<file path=ppt/tags/tag12.xml><?xml version="1.0" encoding="utf-8"?>
<p:tagLst xmlns:p="http://schemas.openxmlformats.org/presentationml/2006/main">
  <p:tag name="KSO_WM_DIAGRAM_VIRTUALLY_FRAME" val="{&quot;height&quot;:211.1,&quot;left&quot;:126.1,&quot;top&quot;:212.2,&quot;width&quot;:688.7}"/>
</p:tagLst>
</file>

<file path=ppt/tags/tag13.xml><?xml version="1.0" encoding="utf-8"?>
<p:tagLst xmlns:p="http://schemas.openxmlformats.org/presentationml/2006/main">
  <p:tag name="KSO_WM_DIAGRAM_VIRTUALLY_FRAME" val="{&quot;height&quot;:318.6,&quot;left&quot;:125.3,&quot;top&quot;:129.1,&quot;width&quot;:709.4}"/>
</p:tagLst>
</file>

<file path=ppt/tags/tag14.xml><?xml version="1.0" encoding="utf-8"?>
<p:tagLst xmlns:p="http://schemas.openxmlformats.org/presentationml/2006/main">
  <p:tag name="KSO_WM_DIAGRAM_VIRTUALLY_FRAME" val="{&quot;height&quot;:318.6,&quot;left&quot;:125.3,&quot;top&quot;:129.1,&quot;width&quot;:709.4}"/>
</p:tagLst>
</file>

<file path=ppt/tags/tag15.xml><?xml version="1.0" encoding="utf-8"?>
<p:tagLst xmlns:p="http://schemas.openxmlformats.org/presentationml/2006/main">
  <p:tag name="KSO_WM_DIAGRAM_VIRTUALLY_FRAME" val="{&quot;height&quot;:318.6,&quot;left&quot;:125.3,&quot;top&quot;:129.1,&quot;width&quot;:709.4}"/>
</p:tagLst>
</file>

<file path=ppt/tags/tag16.xml><?xml version="1.0" encoding="utf-8"?>
<p:tagLst xmlns:p="http://schemas.openxmlformats.org/presentationml/2006/main">
  <p:tag name="KSO_WM_DIAGRAM_VIRTUALLY_FRAME" val="{&quot;height&quot;:318.6,&quot;left&quot;:125.3,&quot;top&quot;:129.1,&quot;width&quot;:709.4}"/>
</p:tagLst>
</file>

<file path=ppt/tags/tag17.xml><?xml version="1.0" encoding="utf-8"?>
<p:tagLst xmlns:p="http://schemas.openxmlformats.org/presentationml/2006/main">
  <p:tag name="KSO_WM_DIAGRAM_VIRTUALLY_FRAME" val="{&quot;height&quot;:318.6,&quot;left&quot;:125.3,&quot;top&quot;:129.1,&quot;width&quot;:709.4}"/>
</p:tagLst>
</file>

<file path=ppt/tags/tag18.xml><?xml version="1.0" encoding="utf-8"?>
<p:tagLst xmlns:p="http://schemas.openxmlformats.org/presentationml/2006/main">
  <p:tag name="KSO_WM_DIAGRAM_VIRTUALLY_FRAME" val="{&quot;height&quot;:318.6,&quot;left&quot;:125.3,&quot;top&quot;:129.1,&quot;width&quot;:709.4}"/>
</p:tagLst>
</file>

<file path=ppt/tags/tag19.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0.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1.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2.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3.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4.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5.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6.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7.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8.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9.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30.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31.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32.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33.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34.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35.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36.xml><?xml version="1.0" encoding="utf-8"?>
<p:tagLst xmlns:p="http://schemas.openxmlformats.org/presentationml/2006/main">
  <p:tag name="KSO_WM_DIAGRAM_VIRTUALLY_FRAME" val="{&quot;height&quot;:412.85,&quot;left&quot;:470.35,&quot;top&quot;:35.5,&quot;width&quot;:421.6}"/>
</p:tagLst>
</file>

<file path=ppt/tags/tag37.xml><?xml version="1.0" encoding="utf-8"?>
<p:tagLst xmlns:p="http://schemas.openxmlformats.org/presentationml/2006/main">
  <p:tag name="KSO_WM_DIAGRAM_VIRTUALLY_FRAME" val="{&quot;height&quot;:412.85,&quot;left&quot;:470.35,&quot;top&quot;:35.5,&quot;width&quot;:421.6}"/>
</p:tagLst>
</file>

<file path=ppt/tags/tag38.xml><?xml version="1.0" encoding="utf-8"?>
<p:tagLst xmlns:p="http://schemas.openxmlformats.org/presentationml/2006/main">
  <p:tag name="KSO_WM_DIAGRAM_VIRTUALLY_FRAME" val="{&quot;height&quot;:412.85,&quot;left&quot;:470.35,&quot;top&quot;:35.5,&quot;width&quot;:421.6}"/>
</p:tagLst>
</file>

<file path=ppt/tags/tag39.xml><?xml version="1.0" encoding="utf-8"?>
<p:tagLst xmlns:p="http://schemas.openxmlformats.org/presentationml/2006/main">
  <p:tag name="KSO_WM_DIAGRAM_VIRTUALLY_FRAME" val="{&quot;height&quot;:412.85,&quot;left&quot;:470.35,&quot;top&quot;:35.5,&quot;width&quot;:421.6}"/>
</p:tagLst>
</file>

<file path=ppt/tags/tag40.xml><?xml version="1.0" encoding="utf-8"?>
<p:tagLst xmlns:p="http://schemas.openxmlformats.org/presentationml/2006/main">
  <p:tag name="KSO_WM_DIAGRAM_VIRTUALLY_FRAME" val="{&quot;height&quot;:412.85,&quot;left&quot;:470.35,&quot;top&quot;:35.5,&quot;width&quot;:421.6}"/>
</p:tagLst>
</file>

<file path=ppt/tags/tag41.xml><?xml version="1.0" encoding="utf-8"?>
<p:tagLst xmlns:p="http://schemas.openxmlformats.org/presentationml/2006/main">
  <p:tag name="KSO_WM_DIAGRAM_VIRTUALLY_FRAME" val="{&quot;height&quot;:412.85,&quot;left&quot;:470.35,&quot;top&quot;:35.5,&quot;width&quot;:421.6}"/>
</p:tagLst>
</file>

<file path=ppt/tags/tag42.xml><?xml version="1.0" encoding="utf-8"?>
<p:tagLst xmlns:p="http://schemas.openxmlformats.org/presentationml/2006/main">
  <p:tag name="KSO_WM_DIAGRAM_VIRTUALLY_FRAME" val="{&quot;height&quot;:412.85,&quot;left&quot;:470.35,&quot;top&quot;:35.5,&quot;width&quot;:421.6}"/>
</p:tagLst>
</file>

<file path=ppt/tags/tag43.xml><?xml version="1.0" encoding="utf-8"?>
<p:tagLst xmlns:p="http://schemas.openxmlformats.org/presentationml/2006/main">
  <p:tag name="KSO_WM_DIAGRAM_VIRTUALLY_FRAME" val="{&quot;height&quot;:412.85,&quot;left&quot;:470.35,&quot;top&quot;:35.5,&quot;width&quot;:421.6}"/>
</p:tagLst>
</file>

<file path=ppt/tags/tag44.xml><?xml version="1.0" encoding="utf-8"?>
<p:tagLst xmlns:p="http://schemas.openxmlformats.org/presentationml/2006/main">
  <p:tag name="KSO_WM_DIAGRAM_VIRTUALLY_FRAME" val="{&quot;height&quot;:412.85,&quot;left&quot;:470.35,&quot;top&quot;:35.5,&quot;width&quot;:421.6}"/>
</p:tagLst>
</file>

<file path=ppt/tags/tag45.xml><?xml version="1.0" encoding="utf-8"?>
<p:tagLst xmlns:p="http://schemas.openxmlformats.org/presentationml/2006/main">
  <p:tag name="KSO_WM_DIAGRAM_VIRTUALLY_FRAME" val="{&quot;height&quot;:412.85,&quot;left&quot;:470.35,&quot;top&quot;:35.5,&quot;width&quot;:421.6}"/>
</p:tagLst>
</file>

<file path=ppt/tags/tag46.xml><?xml version="1.0" encoding="utf-8"?>
<p:tagLst xmlns:p="http://schemas.openxmlformats.org/presentationml/2006/main">
  <p:tag name="KSO_WM_DIAGRAM_VIRTUALLY_FRAME" val="{&quot;height&quot;:412.85,&quot;left&quot;:470.35,&quot;top&quot;:35.5,&quot;width&quot;:421.6}"/>
</p:tagLst>
</file>

<file path=ppt/tags/tag47.xml><?xml version="1.0" encoding="utf-8"?>
<p:tagLst xmlns:p="http://schemas.openxmlformats.org/presentationml/2006/main">
  <p:tag name="KSO_WM_DIAGRAM_VIRTUALLY_FRAME" val="{&quot;height&quot;:412.85,&quot;left&quot;:470.35,&quot;top&quot;:35.5,&quot;width&quot;:421.6}"/>
</p:tagLst>
</file>

<file path=ppt/tags/tag48.xml><?xml version="1.0" encoding="utf-8"?>
<p:tagLst xmlns:p="http://schemas.openxmlformats.org/presentationml/2006/main">
  <p:tag name="KSO_WM_UNIT_ISCONTENTSTITLE" val="0"/>
  <p:tag name="KSO_WM_UNIT_PRESET_TEXT" val="请添加标题"/>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LAYERLEVEL" val="1_1_1_1"/>
  <p:tag name="KSO_WM_TAG_VERSION" val="1.0"/>
  <p:tag name="KSO_WM_BEAUTIFY_FLAG" val="#wm#"/>
  <p:tag name="KSO_WM_TEMPLATE_CATEGORY" val="custom"/>
  <p:tag name="KSO_WM_TEMPLATE_INDEX" val="20204328"/>
  <p:tag name="KSO_WM_UNIT_ID" val="custom20204328_36*n_h_h_a*1_1_2_1"/>
  <p:tag name="KSO_WM_UNIT_ISNUMDGMTITLE" val="0"/>
  <p:tag name="KSO_WM_UNIT_TEXT_FILL_FORE_SCHEMECOLOR_INDEX" val="6"/>
  <p:tag name="KSO_WM_UNIT_TEXT_FILL_TYPE" val="1"/>
  <p:tag name="KSO_WM_UNIT_USESOURCEFORMAT_APPLY" val="1"/>
  <p:tag name="KSO_WM_DIAGRAM_VIRTUALLY_FRAME" val="{&quot;height&quot;:347.51259842519687,&quot;left&quot;:63,&quot;top&quot;:90.58740157480315,&quot;width&quot;:702.05}"/>
</p:tagLst>
</file>

<file path=ppt/tags/tag49.xml><?xml version="1.0" encoding="utf-8"?>
<p:tagLst xmlns:p="http://schemas.openxmlformats.org/presentationml/2006/main">
  <p:tag name="KSO_WM_UNIT_ISCONTENTSTITLE" val="0"/>
  <p:tag name="KSO_WM_UNIT_PRESET_TEXT" val="添加标题"/>
  <p:tag name="KSO_WM_UNIT_NOCLEAR" val="0"/>
  <p:tag name="KSO_WM_UNIT_VALUE" val="1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LAYERLEVEL" val="1_1_1"/>
  <p:tag name="KSO_WM_TAG_VERSION" val="1.0"/>
  <p:tag name="KSO_WM_BEAUTIFY_FLAG" val="#wm#"/>
  <p:tag name="KSO_WM_TEMPLATE_CATEGORY" val="custom"/>
  <p:tag name="KSO_WM_TEMPLATE_INDEX" val="20204328"/>
  <p:tag name="KSO_WM_UNIT_ID" val="custom20204328_36*n_h_a*1_1_1"/>
  <p:tag name="KSO_WM_UNIT_ISNUMDGMTITLE" val="0"/>
  <p:tag name="KSO_WM_UNIT_FILL_FORE_SCHEMECOLOR_INDEX" val="5"/>
  <p:tag name="KSO_WM_UNIT_FILL_TYPE" val="1"/>
  <p:tag name="KSO_WM_UNIT_TEXT_FILL_FORE_SCHEMECOLOR_INDEX" val="14"/>
  <p:tag name="KSO_WM_UNIT_TEXT_FILL_TYPE" val="1"/>
  <p:tag name="KSO_WM_UNIT_USESOURCEFORMAT_APPLY" val="1"/>
  <p:tag name="KSO_WM_DIAGRAM_VIRTUALLY_FRAME" val="{&quot;height&quot;:347.51259842519687,&quot;left&quot;:63,&quot;top&quot;:90.58740157480315,&quot;width&quot;:702.05}"/>
</p:tagLst>
</file>

<file path=ppt/tags/tag50.xml><?xml version="1.0" encoding="utf-8"?>
<p:tagLst xmlns:p="http://schemas.openxmlformats.org/presentationml/2006/main">
  <p:tag name="KSO_WM_UNIT_ISCONTENTSTITLE" val="0"/>
  <p:tag name="KSO_WM_UNIT_PRESET_TEXT" val="添加标题"/>
  <p:tag name="KSO_WM_UNIT_NOCLEAR" val="0"/>
  <p:tag name="KSO_WM_UNIT_VALUE" val="1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LAYERLEVEL" val="1_1_1"/>
  <p:tag name="KSO_WM_TAG_VERSION" val="1.0"/>
  <p:tag name="KSO_WM_BEAUTIFY_FLAG" val="#wm#"/>
  <p:tag name="KSO_WM_TEMPLATE_CATEGORY" val="custom"/>
  <p:tag name="KSO_WM_TEMPLATE_INDEX" val="20204328"/>
  <p:tag name="KSO_WM_UNIT_ID" val="custom20204328_36*n_h_a*1_1_1"/>
  <p:tag name="KSO_WM_UNIT_ISNUMDGMTITLE" val="0"/>
  <p:tag name="KSO_WM_UNIT_FILL_FORE_SCHEMECOLOR_INDEX" val="5"/>
  <p:tag name="KSO_WM_UNIT_FILL_TYPE" val="1"/>
  <p:tag name="KSO_WM_UNIT_TEXT_FILL_FORE_SCHEMECOLOR_INDEX" val="14"/>
  <p:tag name="KSO_WM_UNIT_TEXT_FILL_TYPE" val="1"/>
  <p:tag name="KSO_WM_UNIT_USESOURCEFORMAT_APPLY" val="1"/>
  <p:tag name="KSO_WM_DIAGRAM_VIRTUALLY_FRAME" val="{&quot;height&quot;:347.51259842519687,&quot;left&quot;:63,&quot;top&quot;:90.58740157480315,&quot;width&quot;:702.05}"/>
</p:tagLst>
</file>

<file path=ppt/tags/tag51.xml><?xml version="1.0" encoding="utf-8"?>
<p:tagLst xmlns:p="http://schemas.openxmlformats.org/presentationml/2006/main">
  <p:tag name="KSO_WM_UNIT_ISCONTENTSTITLE" val="0"/>
  <p:tag name="KSO_WM_UNIT_PRESET_TEXT" val="请添加标题"/>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LAYERLEVEL" val="1_1_1_1"/>
  <p:tag name="KSO_WM_TAG_VERSION" val="1.0"/>
  <p:tag name="KSO_WM_BEAUTIFY_FLAG" val="#wm#"/>
  <p:tag name="KSO_WM_TEMPLATE_CATEGORY" val="custom"/>
  <p:tag name="KSO_WM_TEMPLATE_INDEX" val="20204328"/>
  <p:tag name="KSO_WM_UNIT_ID" val="custom20204328_36*n_h_h_a*1_1_2_1"/>
  <p:tag name="KSO_WM_UNIT_ISNUMDGMTITLE" val="0"/>
  <p:tag name="KSO_WM_UNIT_TEXT_FILL_FORE_SCHEMECOLOR_INDEX" val="6"/>
  <p:tag name="KSO_WM_UNIT_TEXT_FILL_TYPE" val="1"/>
  <p:tag name="KSO_WM_UNIT_USESOURCEFORMAT_APPLY" val="1"/>
  <p:tag name="KSO_WM_DIAGRAM_VIRTUALLY_FRAME" val="{&quot;height&quot;:347.51259842519687,&quot;left&quot;:63,&quot;top&quot;:90.58740157480315,&quot;width&quot;:702.05}"/>
</p:tagLst>
</file>

<file path=ppt/tags/tag52.xml><?xml version="1.0" encoding="utf-8"?>
<p:tagLst xmlns:p="http://schemas.openxmlformats.org/presentationml/2006/main">
  <p:tag name="KSO_WM_DIAGRAM_VIRTUALLY_FRAME" val="{&quot;height&quot;:348.85,&quot;left&quot;:119.75,&quot;top&quot;:106.75,&quot;width&quot;:720.55}"/>
</p:tagLst>
</file>

<file path=ppt/tags/tag53.xml><?xml version="1.0" encoding="utf-8"?>
<p:tagLst xmlns:p="http://schemas.openxmlformats.org/presentationml/2006/main">
  <p:tag name="KSO_WM_DIAGRAM_VIRTUALLY_FRAME" val="{&quot;height&quot;:348.85,&quot;left&quot;:119.75,&quot;top&quot;:106.75,&quot;width&quot;:720.55}"/>
</p:tagLst>
</file>

<file path=ppt/tags/tag54.xml><?xml version="1.0" encoding="utf-8"?>
<p:tagLst xmlns:p="http://schemas.openxmlformats.org/presentationml/2006/main">
  <p:tag name="KSO_WM_UNIT_TABLE_BEAUTIFY" val="smartTable{ed0f1905-3d2d-41ac-97a1-9685d43e5b40}"/>
  <p:tag name="TABLE_ENDDRAG_ORIGIN_RECT" val="373*208"/>
  <p:tag name="TABLE_ENDDRAG_RECT" val="254*134*373*208"/>
  <p:tag name="TABLE_AUTOADJUST_FLAG" val="1"/>
</p:tagLst>
</file>

<file path=ppt/tags/tag55.xml><?xml version="1.0" encoding="utf-8"?>
<p:tagLst xmlns:p="http://schemas.openxmlformats.org/presentationml/2006/main">
  <p:tag name="KSO_WM_DIAGRAM_VIRTUALLY_FRAME" val="{&quot;height&quot;:348.85,&quot;left&quot;:119.75,&quot;top&quot;:106.75,&quot;width&quot;:720.55}"/>
</p:tagLst>
</file>

<file path=ppt/tags/tag56.xml><?xml version="1.0" encoding="utf-8"?>
<p:tagLst xmlns:p="http://schemas.openxmlformats.org/presentationml/2006/main">
  <p:tag name="KSO_WM_DIAGRAM_VIRTUALLY_FRAME" val="{&quot;height&quot;:348.85,&quot;left&quot;:119.75,&quot;top&quot;:106.75,&quot;width&quot;:720.55}"/>
</p:tagLst>
</file>

<file path=ppt/tags/tag57.xml><?xml version="1.0" encoding="utf-8"?>
<p:tagLst xmlns:p="http://schemas.openxmlformats.org/presentationml/2006/main">
  <p:tag name="TABLE_ENDDRAG_ORIGIN_RECT" val="516*359"/>
  <p:tag name="TABLE_ENDDRAG_RECT" val="223*82*516*359"/>
</p:tagLst>
</file>

<file path=ppt/tags/tag58.xml><?xml version="1.0" encoding="utf-8"?>
<p:tagLst xmlns:p="http://schemas.openxmlformats.org/presentationml/2006/main">
  <p:tag name="KSO_WM_DIAGRAM_VIRTUALLY_FRAME" val="{&quot;height&quot;:348.85,&quot;left&quot;:119.75,&quot;top&quot;:106.75,&quot;width&quot;:720.55}"/>
</p:tagLst>
</file>

<file path=ppt/tags/tag59.xml><?xml version="1.0" encoding="utf-8"?>
<p:tagLst xmlns:p="http://schemas.openxmlformats.org/presentationml/2006/main">
  <p:tag name="KSO_WM_DIAGRAM_VIRTUALLY_FRAME" val="{&quot;height&quot;:348.85,&quot;left&quot;:119.75,&quot;top&quot;:106.75,&quot;width&quot;:720.55}"/>
</p:tagLst>
</file>

<file path=ppt/tags/tag60.xml><?xml version="1.0" encoding="utf-8"?>
<p:tagLst xmlns:p="http://schemas.openxmlformats.org/presentationml/2006/main">
  <p:tag name="TABLE_ENDDRAG_ORIGIN_RECT" val="546*267"/>
  <p:tag name="TABLE_ENDDRAG_RECT" val="177*88*546*267"/>
</p:tagLst>
</file>

<file path=ppt/tags/tag61.xml><?xml version="1.0" encoding="utf-8"?>
<p:tagLst xmlns:p="http://schemas.openxmlformats.org/presentationml/2006/main">
  <p:tag name="KSO_WM_UNIT_ISCONTENTSTITLE" val="0"/>
  <p:tag name="KSO_WM_UNIT_PRESET_TEXT" val="请添加标题"/>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LAYERLEVEL" val="1_1_1_1"/>
  <p:tag name="KSO_WM_TAG_VERSION" val="1.0"/>
  <p:tag name="KSO_WM_BEAUTIFY_FLAG" val="#wm#"/>
  <p:tag name="KSO_WM_TEMPLATE_CATEGORY" val="custom"/>
  <p:tag name="KSO_WM_TEMPLATE_INDEX" val="20204328"/>
  <p:tag name="KSO_WM_UNIT_ID" val="custom20204328_36*n_h_h_a*1_1_2_1"/>
  <p:tag name="KSO_WM_UNIT_ISNUMDGMTITLE" val="0"/>
  <p:tag name="KSO_WM_UNIT_TEXT_FILL_FORE_SCHEMECOLOR_INDEX" val="6"/>
  <p:tag name="KSO_WM_UNIT_TEXT_FILL_TYPE" val="1"/>
  <p:tag name="KSO_WM_UNIT_USESOURCEFORMAT_APPLY" val="1"/>
  <p:tag name="KSO_WM_DIAGRAM_VIRTUALLY_FRAME" val="{&quot;height&quot;:347.51259842519687,&quot;left&quot;:63,&quot;top&quot;:90.58740157480315,&quot;width&quot;:702.05}"/>
</p:tagLst>
</file>

<file path=ppt/tags/tag62.xml><?xml version="1.0" encoding="utf-8"?>
<p:tagLst xmlns:p="http://schemas.openxmlformats.org/presentationml/2006/main">
  <p:tag name="KSO_WM_UNIT_ISCONTENTSTITLE" val="0"/>
  <p:tag name="KSO_WM_UNIT_PRESET_TEXT" val="添加标题"/>
  <p:tag name="KSO_WM_UNIT_NOCLEAR" val="0"/>
  <p:tag name="KSO_WM_UNIT_VALUE" val="1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LAYERLEVEL" val="1_1_1"/>
  <p:tag name="KSO_WM_TAG_VERSION" val="1.0"/>
  <p:tag name="KSO_WM_BEAUTIFY_FLAG" val="#wm#"/>
  <p:tag name="KSO_WM_TEMPLATE_CATEGORY" val="custom"/>
  <p:tag name="KSO_WM_TEMPLATE_INDEX" val="20204328"/>
  <p:tag name="KSO_WM_UNIT_ID" val="custom20204328_36*n_h_a*1_1_1"/>
  <p:tag name="KSO_WM_UNIT_ISNUMDGMTITLE" val="0"/>
  <p:tag name="KSO_WM_UNIT_FILL_FORE_SCHEMECOLOR_INDEX" val="5"/>
  <p:tag name="KSO_WM_UNIT_FILL_TYPE" val="1"/>
  <p:tag name="KSO_WM_UNIT_TEXT_FILL_FORE_SCHEMECOLOR_INDEX" val="14"/>
  <p:tag name="KSO_WM_UNIT_TEXT_FILL_TYPE" val="1"/>
  <p:tag name="KSO_WM_UNIT_USESOURCEFORMAT_APPLY" val="1"/>
  <p:tag name="KSO_WM_DIAGRAM_VIRTUALLY_FRAME" val="{&quot;height&quot;:347.51259842519687,&quot;left&quot;:63,&quot;top&quot;:90.58740157480315,&quot;width&quot;:702.05}"/>
</p:tagLst>
</file>

<file path=ppt/tags/tag63.xml><?xml version="1.0" encoding="utf-8"?>
<p:tagLst xmlns:p="http://schemas.openxmlformats.org/presentationml/2006/main">
  <p:tag name="KSO_WM_UNIT_ISCONTENTSTITLE" val="0"/>
  <p:tag name="KSO_WM_UNIT_PRESET_TEXT" val="添加标题"/>
  <p:tag name="KSO_WM_UNIT_NOCLEAR" val="0"/>
  <p:tag name="KSO_WM_UNIT_VALUE" val="1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LAYERLEVEL" val="1_1_1"/>
  <p:tag name="KSO_WM_TAG_VERSION" val="1.0"/>
  <p:tag name="KSO_WM_BEAUTIFY_FLAG" val="#wm#"/>
  <p:tag name="KSO_WM_TEMPLATE_CATEGORY" val="custom"/>
  <p:tag name="KSO_WM_TEMPLATE_INDEX" val="20204328"/>
  <p:tag name="KSO_WM_UNIT_ID" val="custom20204328_36*n_h_a*1_1_1"/>
  <p:tag name="KSO_WM_UNIT_ISNUMDGMTITLE" val="0"/>
  <p:tag name="KSO_WM_UNIT_FILL_FORE_SCHEMECOLOR_INDEX" val="5"/>
  <p:tag name="KSO_WM_UNIT_FILL_TYPE" val="1"/>
  <p:tag name="KSO_WM_UNIT_TEXT_FILL_FORE_SCHEMECOLOR_INDEX" val="14"/>
  <p:tag name="KSO_WM_UNIT_TEXT_FILL_TYPE" val="1"/>
  <p:tag name="KSO_WM_UNIT_USESOURCEFORMAT_APPLY" val="1"/>
  <p:tag name="KSO_WM_DIAGRAM_VIRTUALLY_FRAME" val="{&quot;height&quot;:347.51259842519687,&quot;left&quot;:63,&quot;top&quot;:90.58740157480315,&quot;width&quot;:702.05}"/>
</p:tagLst>
</file>

<file path=ppt/tags/tag64.xml><?xml version="1.0" encoding="utf-8"?>
<p:tagLst xmlns:p="http://schemas.openxmlformats.org/presentationml/2006/main">
  <p:tag name="KSO_WM_UNIT_ISCONTENTSTITLE" val="0"/>
  <p:tag name="KSO_WM_UNIT_PRESET_TEXT" val="请添加标题"/>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LAYERLEVEL" val="1_1_1_1"/>
  <p:tag name="KSO_WM_TAG_VERSION" val="1.0"/>
  <p:tag name="KSO_WM_BEAUTIFY_FLAG" val="#wm#"/>
  <p:tag name="KSO_WM_TEMPLATE_CATEGORY" val="custom"/>
  <p:tag name="KSO_WM_TEMPLATE_INDEX" val="20204328"/>
  <p:tag name="KSO_WM_UNIT_ID" val="custom20204328_36*n_h_h_a*1_1_2_1"/>
  <p:tag name="KSO_WM_UNIT_ISNUMDGMTITLE" val="0"/>
  <p:tag name="KSO_WM_UNIT_TEXT_FILL_FORE_SCHEMECOLOR_INDEX" val="6"/>
  <p:tag name="KSO_WM_UNIT_TEXT_FILL_TYPE" val="1"/>
  <p:tag name="KSO_WM_UNIT_USESOURCEFORMAT_APPLY" val="1"/>
  <p:tag name="KSO_WM_DIAGRAM_VIRTUALLY_FRAME" val="{&quot;height&quot;:347.51259842519687,&quot;left&quot;:63,&quot;top&quot;:90.58740157480315,&quot;width&quot;:702.05}"/>
</p:tagLst>
</file>

<file path=ppt/tags/tag65.xml><?xml version="1.0" encoding="utf-8"?>
<p:tagLst xmlns:p="http://schemas.openxmlformats.org/presentationml/2006/main">
  <p:tag name="TABLE_ENDDRAG_ORIGIN_RECT" val="436*172"/>
  <p:tag name="TABLE_ENDDRAG_RECT" val="457*142*436*172"/>
</p:tagLst>
</file>

<file path=ppt/tags/tag66.xml><?xml version="1.0" encoding="utf-8"?>
<p:tagLst xmlns:p="http://schemas.openxmlformats.org/presentationml/2006/main">
  <p:tag name="TABLE_ENDDRAG_ORIGIN_RECT" val="338*237"/>
  <p:tag name="TABLE_ENDDRAG_RECT" val="35*104*338*237"/>
</p:tagLst>
</file>

<file path=ppt/tags/tag67.xml><?xml version="1.0" encoding="utf-8"?>
<p:tagLst xmlns:p="http://schemas.openxmlformats.org/presentationml/2006/main">
  <p:tag name="TABLE_ENDDRAG_ORIGIN_RECT" val="393*237"/>
  <p:tag name="TABLE_ENDDRAG_RECT" val="498*86*393*237"/>
</p:tagLst>
</file>

<file path=ppt/tags/tag68.xml><?xml version="1.0" encoding="utf-8"?>
<p:tagLst xmlns:p="http://schemas.openxmlformats.org/presentationml/2006/main">
  <p:tag name="KSO_WM_UNIT_ISCONTENTSTITLE" val="0"/>
  <p:tag name="KSO_WM_UNIT_PRESET_TEXT" val="请添加标题"/>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LAYERLEVEL" val="1_1_1_1"/>
  <p:tag name="KSO_WM_TAG_VERSION" val="1.0"/>
  <p:tag name="KSO_WM_BEAUTIFY_FLAG" val="#wm#"/>
  <p:tag name="KSO_WM_TEMPLATE_CATEGORY" val="custom"/>
  <p:tag name="KSO_WM_TEMPLATE_INDEX" val="20204328"/>
  <p:tag name="KSO_WM_UNIT_ID" val="custom20204328_36*n_h_h_a*1_1_2_1"/>
  <p:tag name="KSO_WM_UNIT_ISNUMDGMTITLE" val="0"/>
  <p:tag name="KSO_WM_UNIT_TEXT_FILL_FORE_SCHEMECOLOR_INDEX" val="6"/>
  <p:tag name="KSO_WM_UNIT_TEXT_FILL_TYPE" val="1"/>
  <p:tag name="KSO_WM_UNIT_USESOURCEFORMAT_APPLY" val="1"/>
  <p:tag name="KSO_WM_DIAGRAM_VIRTUALLY_FRAME" val="{&quot;height&quot;:347.51259842519687,&quot;left&quot;:63,&quot;top&quot;:90.58740157480315,&quot;width&quot;:715.05}"/>
</p:tagLst>
</file>

<file path=ppt/tags/tag69.xml><?xml version="1.0" encoding="utf-8"?>
<p:tagLst xmlns:p="http://schemas.openxmlformats.org/presentationml/2006/main">
  <p:tag name="KSO_WM_UNIT_ISCONTENTSTITLE" val="0"/>
  <p:tag name="KSO_WM_UNIT_PRESET_TEXT" val="添加标题"/>
  <p:tag name="KSO_WM_UNIT_NOCLEAR" val="0"/>
  <p:tag name="KSO_WM_UNIT_VALUE" val="1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LAYERLEVEL" val="1_1_1"/>
  <p:tag name="KSO_WM_TAG_VERSION" val="1.0"/>
  <p:tag name="KSO_WM_BEAUTIFY_FLAG" val="#wm#"/>
  <p:tag name="KSO_WM_TEMPLATE_CATEGORY" val="custom"/>
  <p:tag name="KSO_WM_TEMPLATE_INDEX" val="20204328"/>
  <p:tag name="KSO_WM_UNIT_ID" val="custom20204328_36*n_h_a*1_1_1"/>
  <p:tag name="KSO_WM_UNIT_ISNUMDGMTITLE" val="0"/>
  <p:tag name="KSO_WM_UNIT_FILL_FORE_SCHEMECOLOR_INDEX" val="5"/>
  <p:tag name="KSO_WM_UNIT_FILL_TYPE" val="1"/>
  <p:tag name="KSO_WM_UNIT_TEXT_FILL_FORE_SCHEMECOLOR_INDEX" val="14"/>
  <p:tag name="KSO_WM_UNIT_TEXT_FILL_TYPE" val="1"/>
  <p:tag name="KSO_WM_UNIT_USESOURCEFORMAT_APPLY" val="1"/>
  <p:tag name="KSO_WM_DIAGRAM_VIRTUALLY_FRAME" val="{&quot;height&quot;:347.51259842519687,&quot;left&quot;:63,&quot;top&quot;:90.58740157480315,&quot;width&quot;:715.05}"/>
</p:tagLst>
</file>

<file path=ppt/tags/tag70.xml><?xml version="1.0" encoding="utf-8"?>
<p:tagLst xmlns:p="http://schemas.openxmlformats.org/presentationml/2006/main">
  <p:tag name="KSO_WM_UNIT_ISCONTENTSTITLE" val="0"/>
  <p:tag name="KSO_WM_UNIT_PRESET_TEXT" val="添加标题"/>
  <p:tag name="KSO_WM_UNIT_NOCLEAR" val="0"/>
  <p:tag name="KSO_WM_UNIT_VALUE" val="1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LAYERLEVEL" val="1_1_1"/>
  <p:tag name="KSO_WM_TAG_VERSION" val="1.0"/>
  <p:tag name="KSO_WM_BEAUTIFY_FLAG" val="#wm#"/>
  <p:tag name="KSO_WM_TEMPLATE_CATEGORY" val="custom"/>
  <p:tag name="KSO_WM_TEMPLATE_INDEX" val="20204328"/>
  <p:tag name="KSO_WM_UNIT_ID" val="custom20204328_36*n_h_a*1_1_1"/>
  <p:tag name="KSO_WM_UNIT_ISNUMDGMTITLE" val="0"/>
  <p:tag name="KSO_WM_UNIT_FILL_FORE_SCHEMECOLOR_INDEX" val="5"/>
  <p:tag name="KSO_WM_UNIT_FILL_TYPE" val="1"/>
  <p:tag name="KSO_WM_UNIT_TEXT_FILL_FORE_SCHEMECOLOR_INDEX" val="14"/>
  <p:tag name="KSO_WM_UNIT_TEXT_FILL_TYPE" val="1"/>
  <p:tag name="KSO_WM_UNIT_USESOURCEFORMAT_APPLY" val="1"/>
  <p:tag name="KSO_WM_DIAGRAM_VIRTUALLY_FRAME" val="{&quot;height&quot;:347.51259842519687,&quot;left&quot;:63,&quot;top&quot;:90.58740157480315,&quot;width&quot;:715.05}"/>
</p:tagLst>
</file>

<file path=ppt/tags/tag71.xml><?xml version="1.0" encoding="utf-8"?>
<p:tagLst xmlns:p="http://schemas.openxmlformats.org/presentationml/2006/main">
  <p:tag name="KSO_WM_UNIT_ISCONTENTSTITLE" val="0"/>
  <p:tag name="KSO_WM_UNIT_PRESET_TEXT" val="请添加标题"/>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LAYERLEVEL" val="1_1_1_1"/>
  <p:tag name="KSO_WM_TAG_VERSION" val="1.0"/>
  <p:tag name="KSO_WM_BEAUTIFY_FLAG" val="#wm#"/>
  <p:tag name="KSO_WM_TEMPLATE_CATEGORY" val="custom"/>
  <p:tag name="KSO_WM_TEMPLATE_INDEX" val="20204328"/>
  <p:tag name="KSO_WM_UNIT_ID" val="custom20204328_36*n_h_h_a*1_1_2_1"/>
  <p:tag name="KSO_WM_UNIT_ISNUMDGMTITLE" val="0"/>
  <p:tag name="KSO_WM_UNIT_TEXT_FILL_FORE_SCHEMECOLOR_INDEX" val="6"/>
  <p:tag name="KSO_WM_UNIT_TEXT_FILL_TYPE" val="1"/>
  <p:tag name="KSO_WM_UNIT_USESOURCEFORMAT_APPLY" val="1"/>
  <p:tag name="KSO_WM_DIAGRAM_VIRTUALLY_FRAME" val="{&quot;height&quot;:347.51259842519687,&quot;left&quot;:63,&quot;top&quot;:90.58740157480315,&quot;width&quot;:715.05}"/>
</p:tagLst>
</file>

<file path=ppt/tags/tag72.xml><?xml version="1.0" encoding="utf-8"?>
<p:tagLst xmlns:p="http://schemas.openxmlformats.org/presentationml/2006/main">
  <p:tag name="KSO_WM_UNIT_ISCONTENTSTITLE" val="0"/>
  <p:tag name="KSO_WM_UNIT_PRESET_TEXT" val="请添加标题"/>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LAYERLEVEL" val="1_1_1_1"/>
  <p:tag name="KSO_WM_TAG_VERSION" val="1.0"/>
  <p:tag name="KSO_WM_BEAUTIFY_FLAG" val="#wm#"/>
  <p:tag name="KSO_WM_TEMPLATE_CATEGORY" val="custom"/>
  <p:tag name="KSO_WM_TEMPLATE_INDEX" val="20204328"/>
  <p:tag name="KSO_WM_UNIT_ID" val="custom20204328_36*n_h_h_a*1_1_2_1"/>
  <p:tag name="KSO_WM_UNIT_ISNUMDGMTITLE" val="0"/>
  <p:tag name="KSO_WM_UNIT_TEXT_FILL_FORE_SCHEMECOLOR_INDEX" val="6"/>
  <p:tag name="KSO_WM_UNIT_TEXT_FILL_TYPE" val="1"/>
  <p:tag name="KSO_WM_UNIT_USESOURCEFORMAT_APPLY" val="1"/>
  <p:tag name="KSO_WM_DIAGRAM_VIRTUALLY_FRAME" val="{&quot;height&quot;:347.51259842519687,&quot;left&quot;:63,&quot;top&quot;:90.58740157480315,&quot;width&quot;:702.05}"/>
</p:tagLst>
</file>

<file path=ppt/tags/tag73.xml><?xml version="1.0" encoding="utf-8"?>
<p:tagLst xmlns:p="http://schemas.openxmlformats.org/presentationml/2006/main">
  <p:tag name="KSO_WM_UNIT_ISCONTENTSTITLE" val="0"/>
  <p:tag name="KSO_WM_UNIT_PRESET_TEXT" val="添加标题"/>
  <p:tag name="KSO_WM_UNIT_NOCLEAR" val="0"/>
  <p:tag name="KSO_WM_UNIT_VALUE" val="1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LAYERLEVEL" val="1_1_1"/>
  <p:tag name="KSO_WM_TAG_VERSION" val="1.0"/>
  <p:tag name="KSO_WM_BEAUTIFY_FLAG" val="#wm#"/>
  <p:tag name="KSO_WM_TEMPLATE_CATEGORY" val="custom"/>
  <p:tag name="KSO_WM_TEMPLATE_INDEX" val="20204328"/>
  <p:tag name="KSO_WM_UNIT_ID" val="custom20204328_36*n_h_a*1_1_1"/>
  <p:tag name="KSO_WM_UNIT_ISNUMDGMTITLE" val="0"/>
  <p:tag name="KSO_WM_UNIT_FILL_FORE_SCHEMECOLOR_INDEX" val="5"/>
  <p:tag name="KSO_WM_UNIT_FILL_TYPE" val="1"/>
  <p:tag name="KSO_WM_UNIT_TEXT_FILL_FORE_SCHEMECOLOR_INDEX" val="14"/>
  <p:tag name="KSO_WM_UNIT_TEXT_FILL_TYPE" val="1"/>
  <p:tag name="KSO_WM_UNIT_USESOURCEFORMAT_APPLY" val="1"/>
  <p:tag name="KSO_WM_DIAGRAM_VIRTUALLY_FRAME" val="{&quot;height&quot;:347.51259842519687,&quot;left&quot;:63,&quot;top&quot;:90.58740157480315,&quot;width&quot;:702.05}"/>
</p:tagLst>
</file>

<file path=ppt/tags/tag74.xml><?xml version="1.0" encoding="utf-8"?>
<p:tagLst xmlns:p="http://schemas.openxmlformats.org/presentationml/2006/main">
  <p:tag name="KSO_WM_UNIT_ISCONTENTSTITLE" val="0"/>
  <p:tag name="KSO_WM_UNIT_PRESET_TEXT" val="添加标题"/>
  <p:tag name="KSO_WM_UNIT_NOCLEAR" val="0"/>
  <p:tag name="KSO_WM_UNIT_VALUE" val="1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LAYERLEVEL" val="1_1_1"/>
  <p:tag name="KSO_WM_TAG_VERSION" val="1.0"/>
  <p:tag name="KSO_WM_BEAUTIFY_FLAG" val="#wm#"/>
  <p:tag name="KSO_WM_TEMPLATE_CATEGORY" val="custom"/>
  <p:tag name="KSO_WM_TEMPLATE_INDEX" val="20204328"/>
  <p:tag name="KSO_WM_UNIT_ID" val="custom20204328_36*n_h_a*1_1_1"/>
  <p:tag name="KSO_WM_UNIT_ISNUMDGMTITLE" val="0"/>
  <p:tag name="KSO_WM_UNIT_FILL_FORE_SCHEMECOLOR_INDEX" val="5"/>
  <p:tag name="KSO_WM_UNIT_FILL_TYPE" val="1"/>
  <p:tag name="KSO_WM_UNIT_TEXT_FILL_FORE_SCHEMECOLOR_INDEX" val="14"/>
  <p:tag name="KSO_WM_UNIT_TEXT_FILL_TYPE" val="1"/>
  <p:tag name="KSO_WM_UNIT_USESOURCEFORMAT_APPLY" val="1"/>
  <p:tag name="KSO_WM_DIAGRAM_VIRTUALLY_FRAME" val="{&quot;height&quot;:347.51259842519687,&quot;left&quot;:63,&quot;top&quot;:90.58740157480315,&quot;width&quot;:702.05}"/>
</p:tagLst>
</file>

<file path=ppt/tags/tag75.xml><?xml version="1.0" encoding="utf-8"?>
<p:tagLst xmlns:p="http://schemas.openxmlformats.org/presentationml/2006/main">
  <p:tag name="KSO_WM_UNIT_ISCONTENTSTITLE" val="0"/>
  <p:tag name="KSO_WM_UNIT_PRESET_TEXT" val="请添加标题"/>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LAYERLEVEL" val="1_1_1_1"/>
  <p:tag name="KSO_WM_TAG_VERSION" val="1.0"/>
  <p:tag name="KSO_WM_BEAUTIFY_FLAG" val="#wm#"/>
  <p:tag name="KSO_WM_TEMPLATE_CATEGORY" val="custom"/>
  <p:tag name="KSO_WM_TEMPLATE_INDEX" val="20204328"/>
  <p:tag name="KSO_WM_UNIT_ID" val="custom20204328_36*n_h_h_a*1_1_2_1"/>
  <p:tag name="KSO_WM_UNIT_ISNUMDGMTITLE" val="0"/>
  <p:tag name="KSO_WM_UNIT_TEXT_FILL_FORE_SCHEMECOLOR_INDEX" val="6"/>
  <p:tag name="KSO_WM_UNIT_TEXT_FILL_TYPE" val="1"/>
  <p:tag name="KSO_WM_UNIT_USESOURCEFORMAT_APPLY" val="1"/>
  <p:tag name="KSO_WM_DIAGRAM_VIRTUALLY_FRAME" val="{&quot;height&quot;:347.51259842519687,&quot;left&quot;:63,&quot;top&quot;:90.58740157480315,&quot;width&quot;:702.05}"/>
</p:tagLst>
</file>

<file path=ppt/tags/tag76.xml><?xml version="1.0" encoding="utf-8"?>
<p:tagLst xmlns:p="http://schemas.openxmlformats.org/presentationml/2006/main">
  <p:tag name="KSO_WM_UNIT_ISCONTENTSTITLE" val="0"/>
  <p:tag name="KSO_WM_UNIT_PRESET_TEXT" val="添加标题"/>
  <p:tag name="KSO_WM_UNIT_NOCLEAR" val="0"/>
  <p:tag name="KSO_WM_UNIT_VALUE" val="1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LAYERLEVEL" val="1_1_1"/>
  <p:tag name="KSO_WM_TAG_VERSION" val="1.0"/>
  <p:tag name="KSO_WM_TEMPLATE_CATEGORY" val="custom"/>
  <p:tag name="KSO_WM_TEMPLATE_INDEX" val="20204328"/>
  <p:tag name="KSO_WM_UNIT_ID" val="custom20204328_36*n_h_a*1_1_1"/>
  <p:tag name="KSO_WM_UNIT_ISNUMDGMTITLE" val="0"/>
  <p:tag name="KSO_WM_UNIT_FILL_FORE_SCHEMECOLOR_INDEX" val="5"/>
  <p:tag name="KSO_WM_UNIT_FILL_TYPE" val="1"/>
  <p:tag name="KSO_WM_UNIT_TEXT_FILL_FORE_SCHEMECOLOR_INDEX" val="14"/>
  <p:tag name="KSO_WM_UNIT_TEXT_FILL_TYPE" val="1"/>
  <p:tag name="KSO_WM_UNIT_USESOURCEFORMAT_APPLY" val="1"/>
  <p:tag name="KSO_WM_DIAGRAM_VIRTUALLY_FRAME" val="{&quot;height&quot;:347.51259842519687,&quot;left&quot;:63,&quot;top&quot;:90.58740157480315,&quot;width&quot;:702.05}"/>
</p:tagLst>
</file>

<file path=ppt/tags/tag77.xml><?xml version="1.0" encoding="utf-8"?>
<p:tagLst xmlns:p="http://schemas.openxmlformats.org/presentationml/2006/main">
  <p:tag name="KSO_WM_UNIT_ISCONTENTSTITLE" val="0"/>
  <p:tag name="KSO_WM_UNIT_PRESET_TEXT" val="添加标题"/>
  <p:tag name="KSO_WM_UNIT_NOCLEAR" val="0"/>
  <p:tag name="KSO_WM_UNIT_VALUE" val="1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LAYERLEVEL" val="1_1_1"/>
  <p:tag name="KSO_WM_TAG_VERSION" val="1.0"/>
  <p:tag name="KSO_WM_TEMPLATE_CATEGORY" val="custom"/>
  <p:tag name="KSO_WM_TEMPLATE_INDEX" val="20204328"/>
  <p:tag name="KSO_WM_UNIT_ID" val="custom20204328_36*n_h_a*1_1_1"/>
  <p:tag name="KSO_WM_UNIT_ISNUMDGMTITLE" val="0"/>
  <p:tag name="KSO_WM_UNIT_FILL_FORE_SCHEMECOLOR_INDEX" val="5"/>
  <p:tag name="KSO_WM_UNIT_FILL_TYPE" val="1"/>
  <p:tag name="KSO_WM_UNIT_TEXT_FILL_FORE_SCHEMECOLOR_INDEX" val="14"/>
  <p:tag name="KSO_WM_UNIT_TEXT_FILL_TYPE" val="1"/>
  <p:tag name="KSO_WM_UNIT_USESOURCEFORMAT_APPLY" val="1"/>
  <p:tag name="KSO_WM_DIAGRAM_VIRTUALLY_FRAME" val="{&quot;height&quot;:347.51259842519687,&quot;left&quot;:63,&quot;top&quot;:90.58740157480315,&quot;width&quot;:702.05}"/>
</p:tagLst>
</file>

<file path=ppt/tags/tag78.xml><?xml version="1.0" encoding="utf-8"?>
<p:tagLst xmlns:p="http://schemas.openxmlformats.org/presentationml/2006/main">
  <p:tag name="COMMONDATA" val="eyJoZGlkIjoiYjVmNWQ4YTZmMjI4MTg4ZmFiODFmYmNhODYxNzA4ZGIifQ=="/>
  <p:tag name="KSO_WPP_MARK_KEY" val="624fd6b1-57c0-4236-9737-ebde3cade67e"/>
</p:tagLst>
</file>

<file path=ppt/theme/theme1.xml><?xml version="1.0" encoding="utf-8"?>
<a:theme xmlns:a="http://schemas.openxmlformats.org/drawingml/2006/main" name="www.docer.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汉仪旗黑-55简"/>
        <a:ea typeface="汉仪旗黑-55简"/>
        <a:cs typeface=""/>
      </a:majorFont>
      <a:minorFont>
        <a:latin typeface="汉仪旗黑-55简"/>
        <a:ea typeface="汉仪旗黑-55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汉仪旗黑-55简"/>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旗黑-55简"/>
        <a:ea typeface=""/>
        <a:cs typeface=""/>
        <a:font script="Jpan" typeface="ＭＳ Ｐゴシック"/>
        <a:font script="Hang" typeface="맑은 고딕"/>
        <a:font script="Hans" typeface="汉仪旗黑-55简"/>
        <a:font script="Hant" typeface="新細明體"/>
        <a:font script="Arab" typeface="汉仪旗黑-55简"/>
        <a:font script="Hebr" typeface="汉仪旗黑-55简"/>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旗黑-55简"/>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汉仪旗黑-55简"/>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旗黑-55简"/>
        <a:ea typeface=""/>
        <a:cs typeface=""/>
        <a:font script="Jpan" typeface="ＭＳ Ｐゴシック"/>
        <a:font script="Hang" typeface="맑은 고딕"/>
        <a:font script="Hans" typeface="汉仪旗黑-55简"/>
        <a:font script="Hant" typeface="新細明體"/>
        <a:font script="Arab" typeface="汉仪旗黑-55简"/>
        <a:font script="Hebr" typeface="汉仪旗黑-55简"/>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旗黑-55简"/>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6541</Words>
  <Application>WPS 演示</Application>
  <PresentationFormat>全屏显示(16:9)</PresentationFormat>
  <Paragraphs>1064</Paragraphs>
  <Slides>25</Slides>
  <Notes>17</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25</vt:i4>
      </vt:variant>
    </vt:vector>
  </HeadingPairs>
  <TitlesOfParts>
    <vt:vector size="37" baseType="lpstr">
      <vt:lpstr>Arial</vt:lpstr>
      <vt:lpstr>宋体</vt:lpstr>
      <vt:lpstr>Wingdings</vt:lpstr>
      <vt:lpstr>汉仪旗黑-55简</vt:lpstr>
      <vt:lpstr>微软雅黑</vt:lpstr>
      <vt:lpstr>Arial</vt:lpstr>
      <vt:lpstr>Times New Roman</vt:lpstr>
      <vt:lpstr>Arial Unicode MS</vt:lpstr>
      <vt:lpstr>Times New Roman</vt:lpstr>
      <vt:lpstr>方正书宋简体</vt:lpstr>
      <vt:lpstr>Mongolian Baiti</vt:lpstr>
      <vt:lpstr>www.docer.com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qzuser;</dc:title>
  <dc:creator>qzuser</dc:creator>
  <cp:keywords>qzuser</cp:keywords>
  <dc:description>qzuser</dc:description>
  <cp:lastModifiedBy>天亮说晚安</cp:lastModifiedBy>
  <cp:revision>203</cp:revision>
  <dcterms:created xsi:type="dcterms:W3CDTF">2016-05-20T12:59:00Z</dcterms:created>
  <dcterms:modified xsi:type="dcterms:W3CDTF">2026-03-18T00:52:24Z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C4FDB6AE73934FBD82823549FD08D027_13</vt:lpwstr>
  </property>
  <property fmtid="{D5CDD505-2E9C-101B-9397-08002B2CF9AE}" pid="4" name="KSOTemplateUUID">
    <vt:lpwstr>v1.0_mb_OrAy9h5Cez7z7VfEuebc7Q==</vt:lpwstr>
  </property>
</Properties>
</file>